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1B3A6B"/>
          </a:solidFill>
          <a:ln w="12700">
            <a:solidFill>
              <a:srgbClr val="1B3A6B"/>
            </a:solidFill>
            <a:prstDash val="solid"/>
          </a:ln>
        </p:spPr>
      </p:sp>
      <p:sp>
        <p:nvSpPr>
          <p:cNvPr id="3" name="Shape 1"/>
          <p:cNvSpPr/>
          <p:nvPr/>
        </p:nvSpPr>
        <p:spPr>
          <a:xfrm>
            <a:off x="0" y="0"/>
            <a:ext cx="4572000" cy="64008"/>
          </a:xfrm>
          <a:prstGeom prst="rect">
            <a:avLst/>
          </a:prstGeom>
          <a:solidFill>
            <a:srgbClr val="B8860B"/>
          </a:solidFill>
          <a:ln w="12700">
            <a:solidFill>
              <a:srgbClr val="B8860B"/>
            </a:solidFill>
            <a:prstDash val="solid"/>
          </a:ln>
        </p:spPr>
      </p:sp>
      <p:sp>
        <p:nvSpPr>
          <p:cNvPr id="4" name="Shape 2"/>
          <p:cNvSpPr/>
          <p:nvPr/>
        </p:nvSpPr>
        <p:spPr>
          <a:xfrm>
            <a:off x="0" y="5079492"/>
            <a:ext cx="4572000" cy="64008"/>
          </a:xfrm>
          <a:prstGeom prst="rect">
            <a:avLst/>
          </a:prstGeom>
          <a:solidFill>
            <a:srgbClr val="0B6E8C"/>
          </a:solidFill>
          <a:ln w="12700">
            <a:solidFill>
              <a:srgbClr val="0B6E8C"/>
            </a:solidFill>
            <a:prstDash val="solid"/>
          </a:ln>
        </p:spPr>
      </p:sp>
      <p:sp>
        <p:nvSpPr>
          <p:cNvPr id="5" name="Shape 3"/>
          <p:cNvSpPr/>
          <p:nvPr/>
        </p:nvSpPr>
        <p:spPr>
          <a:xfrm>
            <a:off x="416052" y="1367028"/>
            <a:ext cx="1920240" cy="38405"/>
          </a:xfrm>
          <a:prstGeom prst="rect">
            <a:avLst/>
          </a:prstGeom>
          <a:solidFill>
            <a:srgbClr val="0A1B35"/>
          </a:solidFill>
          <a:ln w="12700">
            <a:solidFill>
              <a:srgbClr val="0A1B35"/>
            </a:solidFill>
            <a:prstDash val="solid"/>
          </a:ln>
        </p:spPr>
      </p:sp>
      <p:sp>
        <p:nvSpPr>
          <p:cNvPr id="6" name="Shape 4"/>
          <p:cNvSpPr/>
          <p:nvPr/>
        </p:nvSpPr>
        <p:spPr>
          <a:xfrm>
            <a:off x="320040" y="714146"/>
            <a:ext cx="2112264" cy="480060"/>
          </a:xfrm>
          <a:prstGeom prst="rect">
            <a:avLst/>
          </a:prstGeom>
          <a:solidFill>
            <a:srgbClr val="2A5298"/>
          </a:solidFill>
          <a:ln w="12700">
            <a:solidFill>
              <a:srgbClr val="2A5298"/>
            </a:solidFill>
            <a:prstDash val="solid"/>
          </a:ln>
        </p:spPr>
      </p:sp>
      <p:sp>
        <p:nvSpPr>
          <p:cNvPr id="7" name="Shape 5"/>
          <p:cNvSpPr/>
          <p:nvPr/>
        </p:nvSpPr>
        <p:spPr>
          <a:xfrm>
            <a:off x="723290" y="522122"/>
            <a:ext cx="1305763" cy="345643"/>
          </a:xfrm>
          <a:prstGeom prst="rect">
            <a:avLst/>
          </a:prstGeom>
          <a:solidFill>
            <a:srgbClr val="1B3A6B"/>
          </a:solidFill>
          <a:ln w="12700">
            <a:solidFill>
              <a:srgbClr val="1B3A6B"/>
            </a:solidFill>
            <a:prstDash val="solid"/>
          </a:ln>
        </p:spPr>
      </p:sp>
      <p:sp>
        <p:nvSpPr>
          <p:cNvPr id="8" name="Shape 6"/>
          <p:cNvSpPr/>
          <p:nvPr/>
        </p:nvSpPr>
        <p:spPr>
          <a:xfrm>
            <a:off x="723290" y="675742"/>
            <a:ext cx="115214" cy="230429"/>
          </a:xfrm>
          <a:prstGeom prst="rect">
            <a:avLst/>
          </a:prstGeom>
          <a:solidFill>
            <a:srgbClr val="2A5298"/>
          </a:solidFill>
          <a:ln w="12700">
            <a:solidFill>
              <a:srgbClr val="2A5298"/>
            </a:solidFill>
            <a:prstDash val="solid"/>
          </a:ln>
        </p:spPr>
      </p:sp>
      <p:sp>
        <p:nvSpPr>
          <p:cNvPr id="9" name="Shape 7"/>
          <p:cNvSpPr/>
          <p:nvPr/>
        </p:nvSpPr>
        <p:spPr>
          <a:xfrm>
            <a:off x="1913839" y="675742"/>
            <a:ext cx="115214" cy="230429"/>
          </a:xfrm>
          <a:prstGeom prst="rect">
            <a:avLst/>
          </a:prstGeom>
          <a:solidFill>
            <a:srgbClr val="2A5298"/>
          </a:solidFill>
          <a:ln w="12700">
            <a:solidFill>
              <a:srgbClr val="2A5298"/>
            </a:solidFill>
            <a:prstDash val="solid"/>
          </a:ln>
        </p:spPr>
      </p:sp>
      <p:sp>
        <p:nvSpPr>
          <p:cNvPr id="10" name="Shape 8"/>
          <p:cNvSpPr/>
          <p:nvPr/>
        </p:nvSpPr>
        <p:spPr>
          <a:xfrm>
            <a:off x="857707" y="541325"/>
            <a:ext cx="480060" cy="288036"/>
          </a:xfrm>
          <a:prstGeom prst="rect">
            <a:avLst/>
          </a:prstGeom>
          <a:solidFill>
            <a:srgbClr val="5B8DD9"/>
          </a:solidFill>
          <a:ln w="12700">
            <a:solidFill>
              <a:srgbClr val="5B8DD9"/>
            </a:solidFill>
            <a:prstDash val="solid"/>
          </a:ln>
        </p:spPr>
      </p:sp>
      <p:sp>
        <p:nvSpPr>
          <p:cNvPr id="11" name="Shape 9"/>
          <p:cNvSpPr/>
          <p:nvPr/>
        </p:nvSpPr>
        <p:spPr>
          <a:xfrm>
            <a:off x="1356970" y="541325"/>
            <a:ext cx="422453" cy="288036"/>
          </a:xfrm>
          <a:prstGeom prst="rect">
            <a:avLst/>
          </a:prstGeom>
          <a:solidFill>
            <a:srgbClr val="4A7AC8"/>
          </a:solidFill>
          <a:ln w="12700">
            <a:solidFill>
              <a:srgbClr val="4A7AC8"/>
            </a:solidFill>
            <a:prstDash val="solid"/>
          </a:ln>
        </p:spPr>
      </p:sp>
      <p:sp>
        <p:nvSpPr>
          <p:cNvPr id="12" name="Shape 10"/>
          <p:cNvSpPr/>
          <p:nvPr/>
        </p:nvSpPr>
        <p:spPr>
          <a:xfrm>
            <a:off x="320040" y="848563"/>
            <a:ext cx="2112264" cy="52807"/>
          </a:xfrm>
          <a:prstGeom prst="rect">
            <a:avLst/>
          </a:prstGeom>
          <a:solidFill>
            <a:srgbClr val="0B6E8C"/>
          </a:solidFill>
          <a:ln w="12700">
            <a:solidFill>
              <a:srgbClr val="0B6E8C"/>
            </a:solidFill>
            <a:prstDash val="solid"/>
          </a:ln>
        </p:spPr>
      </p:sp>
      <p:sp>
        <p:nvSpPr>
          <p:cNvPr id="13" name="Shape 11"/>
          <p:cNvSpPr/>
          <p:nvPr/>
        </p:nvSpPr>
        <p:spPr>
          <a:xfrm>
            <a:off x="2182673" y="752551"/>
            <a:ext cx="211226" cy="96012"/>
          </a:xfrm>
          <a:prstGeom prst="rect">
            <a:avLst/>
          </a:prstGeom>
          <a:solidFill>
            <a:srgbClr val="00D4E8"/>
          </a:solidFill>
          <a:ln w="12700">
            <a:solidFill>
              <a:srgbClr val="00D4E8"/>
            </a:solidFill>
            <a:prstDash val="solid"/>
          </a:ln>
        </p:spPr>
      </p:sp>
      <p:sp>
        <p:nvSpPr>
          <p:cNvPr id="14" name="Shape 12"/>
          <p:cNvSpPr/>
          <p:nvPr/>
        </p:nvSpPr>
        <p:spPr>
          <a:xfrm>
            <a:off x="2182673" y="867766"/>
            <a:ext cx="211226" cy="38405"/>
          </a:xfrm>
          <a:prstGeom prst="rect">
            <a:avLst/>
          </a:prstGeom>
          <a:solidFill>
            <a:srgbClr val="00A8C0"/>
          </a:solidFill>
          <a:ln w="12700">
            <a:solidFill>
              <a:srgbClr val="00A8C0"/>
            </a:solidFill>
            <a:prstDash val="solid"/>
          </a:ln>
        </p:spPr>
      </p:sp>
      <p:sp>
        <p:nvSpPr>
          <p:cNvPr id="15" name="Shape 13"/>
          <p:cNvSpPr/>
          <p:nvPr/>
        </p:nvSpPr>
        <p:spPr>
          <a:xfrm>
            <a:off x="339242" y="752551"/>
            <a:ext cx="134417" cy="96012"/>
          </a:xfrm>
          <a:prstGeom prst="rect">
            <a:avLst/>
          </a:prstGeom>
          <a:solidFill>
            <a:srgbClr val="B5281C"/>
          </a:solidFill>
          <a:ln w="12700">
            <a:solidFill>
              <a:srgbClr val="B5281C"/>
            </a:solidFill>
            <a:prstDash val="solid"/>
          </a:ln>
        </p:spPr>
      </p:sp>
      <p:sp>
        <p:nvSpPr>
          <p:cNvPr id="16" name="Shape 14"/>
          <p:cNvSpPr/>
          <p:nvPr/>
        </p:nvSpPr>
        <p:spPr>
          <a:xfrm>
            <a:off x="2048256" y="1059790"/>
            <a:ext cx="364846" cy="57607"/>
          </a:xfrm>
          <a:prstGeom prst="rect">
            <a:avLst/>
          </a:prstGeom>
          <a:solidFill>
            <a:srgbClr val="1A2E55"/>
          </a:solidFill>
          <a:ln w="12700">
            <a:solidFill>
              <a:srgbClr val="1A2E55"/>
            </a:solidFill>
            <a:prstDash val="solid"/>
          </a:ln>
        </p:spPr>
      </p:sp>
      <p:sp>
        <p:nvSpPr>
          <p:cNvPr id="17" name="Shape 15"/>
          <p:cNvSpPr/>
          <p:nvPr/>
        </p:nvSpPr>
        <p:spPr>
          <a:xfrm>
            <a:off x="339242" y="1059790"/>
            <a:ext cx="288036" cy="57607"/>
          </a:xfrm>
          <a:prstGeom prst="rect">
            <a:avLst/>
          </a:prstGeom>
          <a:solidFill>
            <a:srgbClr val="1A2E55"/>
          </a:solidFill>
          <a:ln w="12700">
            <a:solidFill>
              <a:srgbClr val="1A2E55"/>
            </a:solidFill>
            <a:prstDash val="solid"/>
          </a:ln>
        </p:spPr>
      </p:sp>
      <p:sp>
        <p:nvSpPr>
          <p:cNvPr id="18" name="Shape 16"/>
          <p:cNvSpPr/>
          <p:nvPr/>
        </p:nvSpPr>
        <p:spPr>
          <a:xfrm>
            <a:off x="550469" y="1098194"/>
            <a:ext cx="288036" cy="288036"/>
          </a:xfrm>
          <a:prstGeom prst="ellipse">
            <a:avLst/>
          </a:prstGeom>
          <a:solidFill>
            <a:srgbClr val="111122"/>
          </a:solidFill>
          <a:ln w="12700">
            <a:solidFill>
              <a:srgbClr val="111122"/>
            </a:solidFill>
            <a:prstDash val="solid"/>
          </a:ln>
        </p:spPr>
      </p:sp>
      <p:sp>
        <p:nvSpPr>
          <p:cNvPr id="19" name="Shape 17"/>
          <p:cNvSpPr/>
          <p:nvPr/>
        </p:nvSpPr>
        <p:spPr>
          <a:xfrm>
            <a:off x="598475" y="1146200"/>
            <a:ext cx="192024" cy="192024"/>
          </a:xfrm>
          <a:prstGeom prst="ellipse">
            <a:avLst/>
          </a:prstGeom>
          <a:solidFill>
            <a:srgbClr val="2E3A5C"/>
          </a:solidFill>
          <a:ln w="12700">
            <a:solidFill>
              <a:srgbClr val="2E3A5C"/>
            </a:solidFill>
            <a:prstDash val="solid"/>
          </a:ln>
        </p:spPr>
      </p:sp>
      <p:sp>
        <p:nvSpPr>
          <p:cNvPr id="20" name="Shape 18"/>
          <p:cNvSpPr/>
          <p:nvPr/>
        </p:nvSpPr>
        <p:spPr>
          <a:xfrm>
            <a:off x="641680" y="1189406"/>
            <a:ext cx="96012" cy="96012"/>
          </a:xfrm>
          <a:prstGeom prst="ellipse">
            <a:avLst/>
          </a:prstGeom>
          <a:solidFill>
            <a:srgbClr val="4A6090"/>
          </a:solidFill>
          <a:ln w="12700">
            <a:solidFill>
              <a:srgbClr val="4A6090"/>
            </a:solidFill>
            <a:prstDash val="solid"/>
          </a:ln>
        </p:spPr>
      </p:sp>
      <p:sp>
        <p:nvSpPr>
          <p:cNvPr id="21" name="Shape 19"/>
          <p:cNvSpPr/>
          <p:nvPr/>
        </p:nvSpPr>
        <p:spPr>
          <a:xfrm>
            <a:off x="1875434" y="1098194"/>
            <a:ext cx="288036" cy="288036"/>
          </a:xfrm>
          <a:prstGeom prst="ellipse">
            <a:avLst/>
          </a:prstGeom>
          <a:solidFill>
            <a:srgbClr val="111122"/>
          </a:solidFill>
          <a:ln w="12700">
            <a:solidFill>
              <a:srgbClr val="111122"/>
            </a:solidFill>
            <a:prstDash val="solid"/>
          </a:ln>
        </p:spPr>
      </p:sp>
      <p:sp>
        <p:nvSpPr>
          <p:cNvPr id="22" name="Shape 20"/>
          <p:cNvSpPr/>
          <p:nvPr/>
        </p:nvSpPr>
        <p:spPr>
          <a:xfrm>
            <a:off x="1923440" y="1146200"/>
            <a:ext cx="192024" cy="192024"/>
          </a:xfrm>
          <a:prstGeom prst="ellipse">
            <a:avLst/>
          </a:prstGeom>
          <a:solidFill>
            <a:srgbClr val="2E3A5C"/>
          </a:solidFill>
          <a:ln w="12700">
            <a:solidFill>
              <a:srgbClr val="2E3A5C"/>
            </a:solidFill>
            <a:prstDash val="solid"/>
          </a:ln>
        </p:spPr>
      </p:sp>
      <p:sp>
        <p:nvSpPr>
          <p:cNvPr id="23" name="Shape 21"/>
          <p:cNvSpPr/>
          <p:nvPr/>
        </p:nvSpPr>
        <p:spPr>
          <a:xfrm>
            <a:off x="1976247" y="1189406"/>
            <a:ext cx="96012" cy="96012"/>
          </a:xfrm>
          <a:prstGeom prst="ellipse">
            <a:avLst/>
          </a:prstGeom>
          <a:solidFill>
            <a:srgbClr val="4A6090"/>
          </a:solidFill>
          <a:ln w="12700">
            <a:solidFill>
              <a:srgbClr val="4A6090"/>
            </a:solidFill>
            <a:prstDash val="solid"/>
          </a:ln>
        </p:spPr>
      </p:sp>
      <p:sp>
        <p:nvSpPr>
          <p:cNvPr id="24" name="Shape 22"/>
          <p:cNvSpPr/>
          <p:nvPr/>
        </p:nvSpPr>
        <p:spPr>
          <a:xfrm>
            <a:off x="-208026" y="790956"/>
            <a:ext cx="432054" cy="38405"/>
          </a:xfrm>
          <a:prstGeom prst="rect">
            <a:avLst/>
          </a:prstGeom>
          <a:solidFill>
            <a:srgbClr val="0B6E8C"/>
          </a:solidFill>
          <a:ln w="12700">
            <a:solidFill>
              <a:srgbClr val="0B6E8C"/>
            </a:solidFill>
            <a:prstDash val="solid"/>
          </a:ln>
        </p:spPr>
      </p:sp>
      <p:sp>
        <p:nvSpPr>
          <p:cNvPr id="25" name="Shape 23"/>
          <p:cNvSpPr/>
          <p:nvPr/>
        </p:nvSpPr>
        <p:spPr>
          <a:xfrm>
            <a:off x="-112014" y="906170"/>
            <a:ext cx="307238" cy="28804"/>
          </a:xfrm>
          <a:prstGeom prst="rect">
            <a:avLst/>
          </a:prstGeom>
          <a:solidFill>
            <a:srgbClr val="5B8DD9"/>
          </a:solidFill>
          <a:ln w="12700">
            <a:solidFill>
              <a:srgbClr val="5B8DD9"/>
            </a:solidFill>
            <a:prstDash val="solid"/>
          </a:ln>
        </p:spPr>
      </p:sp>
      <p:sp>
        <p:nvSpPr>
          <p:cNvPr id="26" name="Shape 24"/>
          <p:cNvSpPr/>
          <p:nvPr/>
        </p:nvSpPr>
        <p:spPr>
          <a:xfrm>
            <a:off x="-44806" y="1002182"/>
            <a:ext cx="211226" cy="19202"/>
          </a:xfrm>
          <a:prstGeom prst="rect">
            <a:avLst/>
          </a:prstGeom>
          <a:solidFill>
            <a:srgbClr val="2A5298"/>
          </a:solidFill>
          <a:ln w="12700">
            <a:solidFill>
              <a:srgbClr val="2A5298"/>
            </a:solidFill>
            <a:prstDash val="solid"/>
          </a:ln>
        </p:spPr>
      </p:sp>
      <p:sp>
        <p:nvSpPr>
          <p:cNvPr id="27" name="Text 25"/>
          <p:cNvSpPr/>
          <p:nvPr/>
        </p:nvSpPr>
        <p:spPr>
          <a:xfrm>
            <a:off x="384048" y="1664208"/>
            <a:ext cx="3931920" cy="658368"/>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AutoVal</a:t>
            </a:r>
            <a:endParaRPr lang="en-US" sz="4600" dirty="0"/>
          </a:p>
        </p:txBody>
      </p:sp>
      <p:sp>
        <p:nvSpPr>
          <p:cNvPr id="28" name="Text 26"/>
          <p:cNvSpPr/>
          <p:nvPr/>
        </p:nvSpPr>
        <p:spPr>
          <a:xfrm>
            <a:off x="2395728" y="1664208"/>
            <a:ext cx="1371600" cy="658368"/>
          </a:xfrm>
          <a:prstGeom prst="rect">
            <a:avLst/>
          </a:prstGeom>
          <a:noFill/>
          <a:ln/>
        </p:spPr>
        <p:txBody>
          <a:bodyPr wrap="square" lIns="0" tIns="0" rIns="0" bIns="0" rtlCol="0" anchor="ctr"/>
          <a:lstStyle/>
          <a:p>
            <a:pPr indent="0" marL="0">
              <a:buNone/>
            </a:pPr>
            <a:r>
              <a:rPr lang="en-US" sz="4600" b="1" dirty="0">
                <a:solidFill>
                  <a:srgbClr val="0B6E8C"/>
                </a:solidFill>
                <a:latin typeface="Cambria" pitchFamily="34" charset="0"/>
                <a:ea typeface="Cambria" pitchFamily="34" charset="-122"/>
                <a:cs typeface="Cambria" pitchFamily="34" charset="-120"/>
              </a:rPr>
              <a:t>AI</a:t>
            </a:r>
            <a:endParaRPr lang="en-US" sz="4600" dirty="0"/>
          </a:p>
        </p:txBody>
      </p:sp>
      <p:sp>
        <p:nvSpPr>
          <p:cNvPr id="29" name="Shape 27"/>
          <p:cNvSpPr/>
          <p:nvPr/>
        </p:nvSpPr>
        <p:spPr>
          <a:xfrm>
            <a:off x="384048" y="2395728"/>
            <a:ext cx="1005840" cy="50292"/>
          </a:xfrm>
          <a:prstGeom prst="rect">
            <a:avLst/>
          </a:prstGeom>
          <a:solidFill>
            <a:srgbClr val="B8860B"/>
          </a:solidFill>
          <a:ln w="12700">
            <a:solidFill>
              <a:srgbClr val="B8860B"/>
            </a:solidFill>
            <a:prstDash val="solid"/>
          </a:ln>
        </p:spPr>
      </p:sp>
      <p:sp>
        <p:nvSpPr>
          <p:cNvPr id="30" name="Text 28"/>
          <p:cNvSpPr/>
          <p:nvPr/>
        </p:nvSpPr>
        <p:spPr>
          <a:xfrm>
            <a:off x="384048" y="2505456"/>
            <a:ext cx="3931920" cy="713232"/>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AI-Powered Car Price</a:t>
            </a:r>
            <a:endParaRPr lang="en-US" sz="1600" dirty="0"/>
          </a:p>
          <a:p>
            <a:pPr indent="0" marL="0">
              <a:buNone/>
            </a:pPr>
            <a:r>
              <a:rPr lang="en-US" sz="1600" dirty="0">
                <a:solidFill>
                  <a:srgbClr val="CADCFC"/>
                </a:solidFill>
                <a:latin typeface="Calibri" pitchFamily="34" charset="0"/>
                <a:ea typeface="Calibri" pitchFamily="34" charset="-122"/>
                <a:cs typeface="Calibri" pitchFamily="34" charset="-120"/>
              </a:rPr>
              <a:t>Prediction System</a:t>
            </a:r>
            <a:endParaRPr lang="en-US" sz="1600" dirty="0"/>
          </a:p>
        </p:txBody>
      </p:sp>
      <p:sp>
        <p:nvSpPr>
          <p:cNvPr id="31" name="Shape 29"/>
          <p:cNvSpPr/>
          <p:nvPr/>
        </p:nvSpPr>
        <p:spPr>
          <a:xfrm>
            <a:off x="384048" y="3310128"/>
            <a:ext cx="3913632" cy="20117"/>
          </a:xfrm>
          <a:prstGeom prst="rect">
            <a:avLst/>
          </a:prstGeom>
          <a:solidFill>
            <a:srgbClr val="2E5A8E"/>
          </a:solidFill>
          <a:ln w="12700">
            <a:solidFill>
              <a:srgbClr val="2E5A8E"/>
            </a:solidFill>
            <a:prstDash val="solid"/>
          </a:ln>
        </p:spPr>
      </p:sp>
      <p:sp>
        <p:nvSpPr>
          <p:cNvPr id="32" name="Text 30"/>
          <p:cNvSpPr/>
          <p:nvPr/>
        </p:nvSpPr>
        <p:spPr>
          <a:xfrm>
            <a:off x="384048" y="3383280"/>
            <a:ext cx="3931920" cy="256032"/>
          </a:xfrm>
          <a:prstGeom prst="rect">
            <a:avLst/>
          </a:prstGeom>
          <a:noFill/>
          <a:ln/>
        </p:spPr>
        <p:txBody>
          <a:bodyPr wrap="square" lIns="0" tIns="0" rIns="0" bIns="0" rtlCol="0" anchor="ctr"/>
          <a:lstStyle/>
          <a:p>
            <a:pPr indent="0" marL="0">
              <a:buNone/>
            </a:pPr>
            <a:r>
              <a:rPr lang="en-US" sz="1100" dirty="0">
                <a:solidFill>
                  <a:srgbClr val="8BAED4"/>
                </a:solidFill>
                <a:latin typeface="Calibri" pitchFamily="34" charset="0"/>
                <a:ea typeface="Calibri" pitchFamily="34" charset="-122"/>
                <a:cs typeface="Calibri" pitchFamily="34" charset="-120"/>
              </a:rPr>
              <a:t>University of Essex</a:t>
            </a:r>
            <a:endParaRPr lang="en-US" sz="1100" dirty="0"/>
          </a:p>
        </p:txBody>
      </p:sp>
      <p:sp>
        <p:nvSpPr>
          <p:cNvPr id="33" name="Text 31"/>
          <p:cNvSpPr/>
          <p:nvPr/>
        </p:nvSpPr>
        <p:spPr>
          <a:xfrm>
            <a:off x="384048" y="3639312"/>
            <a:ext cx="3931920" cy="219456"/>
          </a:xfrm>
          <a:prstGeom prst="rect">
            <a:avLst/>
          </a:prstGeom>
          <a:noFill/>
          <a:ln/>
        </p:spPr>
        <p:txBody>
          <a:bodyPr wrap="square" lIns="0" tIns="0" rIns="0" bIns="0" rtlCol="0" anchor="ctr"/>
          <a:lstStyle/>
          <a:p>
            <a:pPr indent="0" marL="0">
              <a:buNone/>
            </a:pPr>
            <a:r>
              <a:rPr lang="en-US" sz="900" dirty="0">
                <a:solidFill>
                  <a:srgbClr val="6B8FC0"/>
                </a:solidFill>
                <a:latin typeface="Calibri" pitchFamily="34" charset="0"/>
                <a:ea typeface="Calibri" pitchFamily="34" charset="-122"/>
                <a:cs typeface="Calibri" pitchFamily="34" charset="-120"/>
              </a:rPr>
              <a:t>School of Computer Science and Electronic Engineering</a:t>
            </a:r>
            <a:endParaRPr lang="en-US" sz="900" dirty="0"/>
          </a:p>
        </p:txBody>
      </p:sp>
      <p:sp>
        <p:nvSpPr>
          <p:cNvPr id="34" name="Text 32"/>
          <p:cNvSpPr/>
          <p:nvPr/>
        </p:nvSpPr>
        <p:spPr>
          <a:xfrm>
            <a:off x="384048" y="3858768"/>
            <a:ext cx="3931920" cy="219456"/>
          </a:xfrm>
          <a:prstGeom prst="rect">
            <a:avLst/>
          </a:prstGeom>
          <a:noFill/>
          <a:ln/>
        </p:spPr>
        <p:txBody>
          <a:bodyPr wrap="square" lIns="0" tIns="0" rIns="0" bIns="0" rtlCol="0" anchor="ctr"/>
          <a:lstStyle/>
          <a:p>
            <a:pPr indent="0" marL="0">
              <a:buNone/>
            </a:pPr>
            <a:r>
              <a:rPr lang="en-US" sz="950" dirty="0">
                <a:solidFill>
                  <a:srgbClr val="8BAED4"/>
                </a:solidFill>
                <a:latin typeface="Calibri" pitchFamily="34" charset="0"/>
                <a:ea typeface="Calibri" pitchFamily="34" charset="-122"/>
                <a:cs typeface="Calibri" pitchFamily="34" charset="-120"/>
              </a:rPr>
              <a:t>CE101 — Team Project Challenge</a:t>
            </a:r>
            <a:endParaRPr lang="en-US" sz="950" dirty="0"/>
          </a:p>
        </p:txBody>
      </p:sp>
      <p:sp>
        <p:nvSpPr>
          <p:cNvPr id="35" name="Text 33"/>
          <p:cNvSpPr/>
          <p:nvPr/>
        </p:nvSpPr>
        <p:spPr>
          <a:xfrm>
            <a:off x="384048" y="4078224"/>
            <a:ext cx="3931920" cy="219456"/>
          </a:xfrm>
          <a:prstGeom prst="rect">
            <a:avLst/>
          </a:prstGeom>
          <a:noFill/>
          <a:ln/>
        </p:spPr>
        <p:txBody>
          <a:bodyPr wrap="square" lIns="0" tIns="0" rIns="0" bIns="0" rtlCol="0" anchor="ctr"/>
          <a:lstStyle/>
          <a:p>
            <a:pPr indent="0" marL="0">
              <a:buNone/>
            </a:pPr>
            <a:r>
              <a:rPr lang="en-US" sz="900" dirty="0">
                <a:solidFill>
                  <a:srgbClr val="6B8FC0"/>
                </a:solidFill>
                <a:latin typeface="Calibri" pitchFamily="34" charset="0"/>
                <a:ea typeface="Calibri" pitchFamily="34" charset="-122"/>
                <a:cs typeface="Calibri" pitchFamily="34" charset="-120"/>
              </a:rPr>
              <a:t>Supervisor: Sir Sajid Ali  —  Academic Year 2025–2026</a:t>
            </a:r>
            <a:endParaRPr lang="en-US" sz="900" dirty="0"/>
          </a:p>
        </p:txBody>
      </p:sp>
      <p:sp>
        <p:nvSpPr>
          <p:cNvPr id="36" name="Text 34"/>
          <p:cNvSpPr/>
          <p:nvPr/>
        </p:nvSpPr>
        <p:spPr>
          <a:xfrm>
            <a:off x="384048" y="4297680"/>
            <a:ext cx="3931920" cy="201168"/>
          </a:xfrm>
          <a:prstGeom prst="rect">
            <a:avLst/>
          </a:prstGeom>
          <a:noFill/>
          <a:ln/>
        </p:spPr>
        <p:txBody>
          <a:bodyPr wrap="square" lIns="0" tIns="0" rIns="0" bIns="0" rtlCol="0" anchor="ctr"/>
          <a:lstStyle/>
          <a:p>
            <a:pPr indent="0" marL="0">
              <a:buNone/>
            </a:pPr>
            <a:r>
              <a:rPr lang="en-US" sz="900" dirty="0">
                <a:solidFill>
                  <a:srgbClr val="5A80A8"/>
                </a:solidFill>
                <a:latin typeface="Calibri" pitchFamily="34" charset="0"/>
                <a:ea typeface="Calibri" pitchFamily="34" charset="-122"/>
                <a:cs typeface="Calibri" pitchFamily="34" charset="-120"/>
              </a:rPr>
              <a:t>Team A02  —  Project Key: AVA</a:t>
            </a:r>
            <a:endParaRPr lang="en-US" sz="900" dirty="0"/>
          </a:p>
        </p:txBody>
      </p:sp>
      <p:sp>
        <p:nvSpPr>
          <p:cNvPr id="37" name="Text 35"/>
          <p:cNvSpPr/>
          <p:nvPr/>
        </p:nvSpPr>
        <p:spPr>
          <a:xfrm>
            <a:off x="384048" y="4754880"/>
            <a:ext cx="3931920" cy="201168"/>
          </a:xfrm>
          <a:prstGeom prst="rect">
            <a:avLst/>
          </a:prstGeom>
          <a:noFill/>
          <a:ln/>
        </p:spPr>
        <p:txBody>
          <a:bodyPr wrap="square" lIns="0" tIns="0" rIns="0" bIns="0" rtlCol="0" anchor="ctr"/>
          <a:lstStyle/>
          <a:p>
            <a:pPr indent="0" marL="0">
              <a:buNone/>
            </a:pPr>
            <a:r>
              <a:rPr lang="en-US" sz="850" dirty="0">
                <a:solidFill>
                  <a:srgbClr val="4A6E9A"/>
                </a:solidFill>
                <a:latin typeface="Calibri" pitchFamily="34" charset="0"/>
                <a:ea typeface="Calibri" pitchFamily="34" charset="-122"/>
                <a:cs typeface="Calibri" pitchFamily="34" charset="-120"/>
              </a:rPr>
              <a:t>Areesha Aqeel  —  Hasan Ali Khan  —  Arham Salman  —  Jabber Arif Khan</a:t>
            </a:r>
            <a:endParaRPr lang="en-US" sz="850" dirty="0"/>
          </a:p>
        </p:txBody>
      </p:sp>
      <p:sp>
        <p:nvSpPr>
          <p:cNvPr id="38" name="Text 36"/>
          <p:cNvSpPr/>
          <p:nvPr/>
        </p:nvSpPr>
        <p:spPr>
          <a:xfrm>
            <a:off x="4800600" y="411480"/>
            <a:ext cx="4023360" cy="365760"/>
          </a:xfrm>
          <a:prstGeom prst="rect">
            <a:avLst/>
          </a:prstGeom>
          <a:noFill/>
          <a:ln/>
        </p:spPr>
        <p:txBody>
          <a:bodyPr wrap="square" lIns="0" tIns="0" rIns="0" bIns="0" rtlCol="0" anchor="ctr"/>
          <a:lstStyle/>
          <a:p>
            <a:pPr indent="0" marL="0">
              <a:buNone/>
            </a:pPr>
            <a:r>
              <a:rPr lang="en-US" sz="1100" dirty="0">
                <a:solidFill>
                  <a:srgbClr val="6B7C8F"/>
                </a:solidFill>
                <a:latin typeface="Calibri" pitchFamily="34" charset="0"/>
                <a:ea typeface="Calibri" pitchFamily="34" charset="-122"/>
                <a:cs typeface="Calibri" pitchFamily="34" charset="-120"/>
              </a:rPr>
              <a:t>Complete Project Presentation</a:t>
            </a:r>
            <a:endParaRPr lang="en-US" sz="1100" dirty="0"/>
          </a:p>
        </p:txBody>
      </p:sp>
      <p:sp>
        <p:nvSpPr>
          <p:cNvPr id="39" name="Text 37"/>
          <p:cNvSpPr/>
          <p:nvPr/>
        </p:nvSpPr>
        <p:spPr>
          <a:xfrm>
            <a:off x="4800600" y="804672"/>
            <a:ext cx="4023360" cy="502920"/>
          </a:xfrm>
          <a:prstGeom prst="rect">
            <a:avLst/>
          </a:prstGeom>
          <a:noFill/>
          <a:ln/>
        </p:spPr>
        <p:txBody>
          <a:bodyPr wrap="square" lIns="0" tIns="0" rIns="0" bIns="0" rtlCol="0" anchor="ctr"/>
          <a:lstStyle/>
          <a:p>
            <a:pPr indent="0" marL="0">
              <a:buNone/>
            </a:pPr>
            <a:r>
              <a:rPr lang="en-US" sz="2400" b="1" dirty="0">
                <a:solidFill>
                  <a:srgbClr val="1B3A6B"/>
                </a:solidFill>
                <a:latin typeface="Cambria" pitchFamily="34" charset="0"/>
                <a:ea typeface="Cambria" pitchFamily="34" charset="-122"/>
                <a:cs typeface="Cambria" pitchFamily="34" charset="-120"/>
              </a:rPr>
              <a:t>Sep 2025 – Apr 2026</a:t>
            </a:r>
            <a:endParaRPr lang="en-US" sz="2400" dirty="0"/>
          </a:p>
        </p:txBody>
      </p:sp>
      <p:sp>
        <p:nvSpPr>
          <p:cNvPr id="40" name="Shape 38"/>
          <p:cNvSpPr/>
          <p:nvPr/>
        </p:nvSpPr>
        <p:spPr>
          <a:xfrm>
            <a:off x="4800600" y="1389888"/>
            <a:ext cx="4023360" cy="20117"/>
          </a:xfrm>
          <a:prstGeom prst="rect">
            <a:avLst/>
          </a:prstGeom>
          <a:solidFill>
            <a:srgbClr val="E8EDF4"/>
          </a:solidFill>
          <a:ln w="12700">
            <a:solidFill>
              <a:srgbClr val="E8EDF4"/>
            </a:solidFill>
            <a:prstDash val="solid"/>
          </a:ln>
        </p:spPr>
      </p:sp>
      <p:sp>
        <p:nvSpPr>
          <p:cNvPr id="41" name="Shape 39"/>
          <p:cNvSpPr/>
          <p:nvPr/>
        </p:nvSpPr>
        <p:spPr>
          <a:xfrm>
            <a:off x="4800600" y="1508760"/>
            <a:ext cx="1901952" cy="896112"/>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42" name="Shape 40"/>
          <p:cNvSpPr/>
          <p:nvPr/>
        </p:nvSpPr>
        <p:spPr>
          <a:xfrm>
            <a:off x="4800600" y="1508760"/>
            <a:ext cx="1901952" cy="50292"/>
          </a:xfrm>
          <a:prstGeom prst="rect">
            <a:avLst/>
          </a:prstGeom>
          <a:solidFill>
            <a:srgbClr val="1A7A4A"/>
          </a:solidFill>
          <a:ln w="12700">
            <a:solidFill>
              <a:srgbClr val="1A7A4A"/>
            </a:solidFill>
            <a:prstDash val="solid"/>
          </a:ln>
        </p:spPr>
      </p:sp>
      <p:sp>
        <p:nvSpPr>
          <p:cNvPr id="43" name="Text 41"/>
          <p:cNvSpPr/>
          <p:nvPr/>
        </p:nvSpPr>
        <p:spPr>
          <a:xfrm>
            <a:off x="4800600" y="1636776"/>
            <a:ext cx="1901952" cy="438912"/>
          </a:xfrm>
          <a:prstGeom prst="rect">
            <a:avLst/>
          </a:prstGeom>
          <a:noFill/>
          <a:ln/>
        </p:spPr>
        <p:txBody>
          <a:bodyPr wrap="square" lIns="0" tIns="0" rIns="0" bIns="0" rtlCol="0" anchor="ctr"/>
          <a:lstStyle/>
          <a:p>
            <a:pPr algn="ctr" indent="0" marL="0">
              <a:buNone/>
            </a:pPr>
            <a:r>
              <a:rPr lang="en-US" sz="2000" b="1" dirty="0">
                <a:solidFill>
                  <a:srgbClr val="1A7A4A"/>
                </a:solidFill>
                <a:latin typeface="Cambria" pitchFamily="34" charset="0"/>
                <a:ea typeface="Cambria" pitchFamily="34" charset="-122"/>
                <a:cs typeface="Cambria" pitchFamily="34" charset="-120"/>
              </a:rPr>
              <a:t>R² = 0.9504</a:t>
            </a:r>
            <a:endParaRPr lang="en-US" sz="2000" dirty="0"/>
          </a:p>
        </p:txBody>
      </p:sp>
      <p:sp>
        <p:nvSpPr>
          <p:cNvPr id="44" name="Text 42"/>
          <p:cNvSpPr/>
          <p:nvPr/>
        </p:nvSpPr>
        <p:spPr>
          <a:xfrm>
            <a:off x="4800600" y="2093976"/>
            <a:ext cx="1901952" cy="237744"/>
          </a:xfrm>
          <a:prstGeom prst="rect">
            <a:avLst/>
          </a:prstGeom>
          <a:noFill/>
          <a:ln/>
        </p:spPr>
        <p:txBody>
          <a:bodyPr wrap="square" lIns="0" tIns="0" rIns="0" bIns="0" rtlCol="0" anchor="ctr"/>
          <a:lstStyle/>
          <a:p>
            <a:pPr algn="ctr" indent="0" marL="0">
              <a:buNone/>
            </a:pPr>
            <a:r>
              <a:rPr lang="en-US" sz="900" dirty="0">
                <a:solidFill>
                  <a:srgbClr val="6B7C8F"/>
                </a:solidFill>
                <a:latin typeface="Calibri" pitchFamily="34" charset="0"/>
                <a:ea typeface="Calibri" pitchFamily="34" charset="-122"/>
                <a:cs typeface="Calibri" pitchFamily="34" charset="-120"/>
              </a:rPr>
              <a:t>Model Accuracy</a:t>
            </a:r>
            <a:endParaRPr lang="en-US" sz="900" dirty="0"/>
          </a:p>
        </p:txBody>
      </p:sp>
      <p:sp>
        <p:nvSpPr>
          <p:cNvPr id="45" name="Shape 43"/>
          <p:cNvSpPr/>
          <p:nvPr/>
        </p:nvSpPr>
        <p:spPr>
          <a:xfrm>
            <a:off x="6858000" y="1508760"/>
            <a:ext cx="1901952" cy="896112"/>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46" name="Shape 44"/>
          <p:cNvSpPr/>
          <p:nvPr/>
        </p:nvSpPr>
        <p:spPr>
          <a:xfrm>
            <a:off x="6858000" y="1508760"/>
            <a:ext cx="1901952" cy="50292"/>
          </a:xfrm>
          <a:prstGeom prst="rect">
            <a:avLst/>
          </a:prstGeom>
          <a:solidFill>
            <a:srgbClr val="1B3A6B"/>
          </a:solidFill>
          <a:ln w="12700">
            <a:solidFill>
              <a:srgbClr val="1B3A6B"/>
            </a:solidFill>
            <a:prstDash val="solid"/>
          </a:ln>
        </p:spPr>
      </p:sp>
      <p:sp>
        <p:nvSpPr>
          <p:cNvPr id="47" name="Text 45"/>
          <p:cNvSpPr/>
          <p:nvPr/>
        </p:nvSpPr>
        <p:spPr>
          <a:xfrm>
            <a:off x="6858000" y="1636776"/>
            <a:ext cx="1901952" cy="438912"/>
          </a:xfrm>
          <a:prstGeom prst="rect">
            <a:avLst/>
          </a:prstGeom>
          <a:noFill/>
          <a:ln/>
        </p:spPr>
        <p:txBody>
          <a:bodyPr wrap="square" lIns="0" tIns="0" rIns="0" bIns="0" rtlCol="0" anchor="ctr"/>
          <a:lstStyle/>
          <a:p>
            <a:pPr algn="ctr" indent="0" marL="0">
              <a:buNone/>
            </a:pPr>
            <a:r>
              <a:rPr lang="en-US" sz="2000" b="1" dirty="0">
                <a:solidFill>
                  <a:srgbClr val="1B3A6B"/>
                </a:solidFill>
                <a:latin typeface="Cambria" pitchFamily="34" charset="0"/>
                <a:ea typeface="Cambria" pitchFamily="34" charset="-122"/>
                <a:cs typeface="Cambria" pitchFamily="34" charset="-120"/>
              </a:rPr>
              <a:t>49,448</a:t>
            </a:r>
            <a:endParaRPr lang="en-US" sz="2000" dirty="0"/>
          </a:p>
        </p:txBody>
      </p:sp>
      <p:sp>
        <p:nvSpPr>
          <p:cNvPr id="48" name="Text 46"/>
          <p:cNvSpPr/>
          <p:nvPr/>
        </p:nvSpPr>
        <p:spPr>
          <a:xfrm>
            <a:off x="6858000" y="2093976"/>
            <a:ext cx="1901952" cy="237744"/>
          </a:xfrm>
          <a:prstGeom prst="rect">
            <a:avLst/>
          </a:prstGeom>
          <a:noFill/>
          <a:ln/>
        </p:spPr>
        <p:txBody>
          <a:bodyPr wrap="square" lIns="0" tIns="0" rIns="0" bIns="0" rtlCol="0" anchor="ctr"/>
          <a:lstStyle/>
          <a:p>
            <a:pPr algn="ctr" indent="0" marL="0">
              <a:buNone/>
            </a:pPr>
            <a:r>
              <a:rPr lang="en-US" sz="900" dirty="0">
                <a:solidFill>
                  <a:srgbClr val="6B7C8F"/>
                </a:solidFill>
                <a:latin typeface="Calibri" pitchFamily="34" charset="0"/>
                <a:ea typeface="Calibri" pitchFamily="34" charset="-122"/>
                <a:cs typeface="Calibri" pitchFamily="34" charset="-120"/>
              </a:rPr>
              <a:t>Training Records</a:t>
            </a:r>
            <a:endParaRPr lang="en-US" sz="900" dirty="0"/>
          </a:p>
        </p:txBody>
      </p:sp>
      <p:sp>
        <p:nvSpPr>
          <p:cNvPr id="49" name="Shape 47"/>
          <p:cNvSpPr/>
          <p:nvPr/>
        </p:nvSpPr>
        <p:spPr>
          <a:xfrm>
            <a:off x="4800600" y="2532888"/>
            <a:ext cx="1901952" cy="896112"/>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50" name="Shape 48"/>
          <p:cNvSpPr/>
          <p:nvPr/>
        </p:nvSpPr>
        <p:spPr>
          <a:xfrm>
            <a:off x="4800600" y="2532888"/>
            <a:ext cx="1901952" cy="50292"/>
          </a:xfrm>
          <a:prstGeom prst="rect">
            <a:avLst/>
          </a:prstGeom>
          <a:solidFill>
            <a:srgbClr val="0B6E8C"/>
          </a:solidFill>
          <a:ln w="12700">
            <a:solidFill>
              <a:srgbClr val="0B6E8C"/>
            </a:solidFill>
            <a:prstDash val="solid"/>
          </a:ln>
        </p:spPr>
      </p:sp>
      <p:sp>
        <p:nvSpPr>
          <p:cNvPr id="51" name="Text 49"/>
          <p:cNvSpPr/>
          <p:nvPr/>
        </p:nvSpPr>
        <p:spPr>
          <a:xfrm>
            <a:off x="4800600" y="2660904"/>
            <a:ext cx="1901952" cy="438912"/>
          </a:xfrm>
          <a:prstGeom prst="rect">
            <a:avLst/>
          </a:prstGeom>
          <a:noFill/>
          <a:ln/>
        </p:spPr>
        <p:txBody>
          <a:bodyPr wrap="square" lIns="0" tIns="0" rIns="0" bIns="0" rtlCol="0" anchor="ctr"/>
          <a:lstStyle/>
          <a:p>
            <a:pPr algn="ctr" indent="0" marL="0">
              <a:buNone/>
            </a:pPr>
            <a:r>
              <a:rPr lang="en-US" sz="2000" b="1" dirty="0">
                <a:solidFill>
                  <a:srgbClr val="0B6E8C"/>
                </a:solidFill>
                <a:latin typeface="Cambria" pitchFamily="34" charset="0"/>
                <a:ea typeface="Cambria" pitchFamily="34" charset="-122"/>
                <a:cs typeface="Cambria" pitchFamily="34" charset="-120"/>
              </a:rPr>
              <a:t>54 Tasks</a:t>
            </a:r>
            <a:endParaRPr lang="en-US" sz="2000" dirty="0"/>
          </a:p>
        </p:txBody>
      </p:sp>
      <p:sp>
        <p:nvSpPr>
          <p:cNvPr id="52" name="Text 50"/>
          <p:cNvSpPr/>
          <p:nvPr/>
        </p:nvSpPr>
        <p:spPr>
          <a:xfrm>
            <a:off x="4800600" y="3118104"/>
            <a:ext cx="1901952" cy="237744"/>
          </a:xfrm>
          <a:prstGeom prst="rect">
            <a:avLst/>
          </a:prstGeom>
          <a:noFill/>
          <a:ln/>
        </p:spPr>
        <p:txBody>
          <a:bodyPr wrap="square" lIns="0" tIns="0" rIns="0" bIns="0" rtlCol="0" anchor="ctr"/>
          <a:lstStyle/>
          <a:p>
            <a:pPr algn="ctr" indent="0" marL="0">
              <a:buNone/>
            </a:pPr>
            <a:r>
              <a:rPr lang="en-US" sz="900" dirty="0">
                <a:solidFill>
                  <a:srgbClr val="6B7C8F"/>
                </a:solidFill>
                <a:latin typeface="Calibri" pitchFamily="34" charset="0"/>
                <a:ea typeface="Calibri" pitchFamily="34" charset="-122"/>
                <a:cs typeface="Calibri" pitchFamily="34" charset="-120"/>
              </a:rPr>
              <a:t>Jira Completed</a:t>
            </a:r>
            <a:endParaRPr lang="en-US" sz="900" dirty="0"/>
          </a:p>
        </p:txBody>
      </p:sp>
      <p:sp>
        <p:nvSpPr>
          <p:cNvPr id="53" name="Shape 51"/>
          <p:cNvSpPr/>
          <p:nvPr/>
        </p:nvSpPr>
        <p:spPr>
          <a:xfrm>
            <a:off x="6858000" y="2532888"/>
            <a:ext cx="1901952" cy="896112"/>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54" name="Shape 52"/>
          <p:cNvSpPr/>
          <p:nvPr/>
        </p:nvSpPr>
        <p:spPr>
          <a:xfrm>
            <a:off x="6858000" y="2532888"/>
            <a:ext cx="1901952" cy="50292"/>
          </a:xfrm>
          <a:prstGeom prst="rect">
            <a:avLst/>
          </a:prstGeom>
          <a:solidFill>
            <a:srgbClr val="5B2D8E"/>
          </a:solidFill>
          <a:ln w="12700">
            <a:solidFill>
              <a:srgbClr val="5B2D8E"/>
            </a:solidFill>
            <a:prstDash val="solid"/>
          </a:ln>
        </p:spPr>
      </p:sp>
      <p:sp>
        <p:nvSpPr>
          <p:cNvPr id="55" name="Text 53"/>
          <p:cNvSpPr/>
          <p:nvPr/>
        </p:nvSpPr>
        <p:spPr>
          <a:xfrm>
            <a:off x="6858000" y="2660904"/>
            <a:ext cx="1901952" cy="438912"/>
          </a:xfrm>
          <a:prstGeom prst="rect">
            <a:avLst/>
          </a:prstGeom>
          <a:noFill/>
          <a:ln/>
        </p:spPr>
        <p:txBody>
          <a:bodyPr wrap="square" lIns="0" tIns="0" rIns="0" bIns="0" rtlCol="0" anchor="ctr"/>
          <a:lstStyle/>
          <a:p>
            <a:pPr algn="ctr" indent="0" marL="0">
              <a:buNone/>
            </a:pPr>
            <a:r>
              <a:rPr lang="en-US" sz="2000" b="1" dirty="0">
                <a:solidFill>
                  <a:srgbClr val="5B2D8E"/>
                </a:solidFill>
                <a:latin typeface="Cambria" pitchFamily="34" charset="0"/>
                <a:ea typeface="Cambria" pitchFamily="34" charset="-122"/>
                <a:cs typeface="Cambria" pitchFamily="34" charset="-120"/>
              </a:rPr>
              <a:t>173 pts</a:t>
            </a:r>
            <a:endParaRPr lang="en-US" sz="2000" dirty="0"/>
          </a:p>
        </p:txBody>
      </p:sp>
      <p:sp>
        <p:nvSpPr>
          <p:cNvPr id="56" name="Text 54"/>
          <p:cNvSpPr/>
          <p:nvPr/>
        </p:nvSpPr>
        <p:spPr>
          <a:xfrm>
            <a:off x="6858000" y="3118104"/>
            <a:ext cx="1901952" cy="237744"/>
          </a:xfrm>
          <a:prstGeom prst="rect">
            <a:avLst/>
          </a:prstGeom>
          <a:noFill/>
          <a:ln/>
        </p:spPr>
        <p:txBody>
          <a:bodyPr wrap="square" lIns="0" tIns="0" rIns="0" bIns="0" rtlCol="0" anchor="ctr"/>
          <a:lstStyle/>
          <a:p>
            <a:pPr algn="ctr" indent="0" marL="0">
              <a:buNone/>
            </a:pPr>
            <a:r>
              <a:rPr lang="en-US" sz="900" dirty="0">
                <a:solidFill>
                  <a:srgbClr val="6B7C8F"/>
                </a:solidFill>
                <a:latin typeface="Calibri" pitchFamily="34" charset="0"/>
                <a:ea typeface="Calibri" pitchFamily="34" charset="-122"/>
                <a:cs typeface="Calibri" pitchFamily="34" charset="-120"/>
              </a:rPr>
              <a:t>Story Points</a:t>
            </a:r>
            <a:endParaRPr lang="en-US" sz="900" dirty="0"/>
          </a:p>
        </p:txBody>
      </p:sp>
      <p:sp>
        <p:nvSpPr>
          <p:cNvPr id="57" name="Text 55"/>
          <p:cNvSpPr/>
          <p:nvPr/>
        </p:nvSpPr>
        <p:spPr>
          <a:xfrm>
            <a:off x="4800600" y="3639312"/>
            <a:ext cx="4023360" cy="237744"/>
          </a:xfrm>
          <a:prstGeom prst="rect">
            <a:avLst/>
          </a:prstGeom>
          <a:noFill/>
          <a:ln/>
        </p:spPr>
        <p:txBody>
          <a:bodyPr wrap="square" lIns="0" tIns="0" rIns="0" bIns="0" rtlCol="0" anchor="ctr"/>
          <a:lstStyle/>
          <a:p>
            <a:pPr indent="0" marL="0">
              <a:buNone/>
            </a:pPr>
            <a:r>
              <a:rPr lang="en-US" sz="900" dirty="0">
                <a:solidFill>
                  <a:srgbClr val="6B7C8F"/>
                </a:solidFill>
                <a:latin typeface="Calibri" pitchFamily="34" charset="0"/>
                <a:ea typeface="Calibri" pitchFamily="34" charset="-122"/>
                <a:cs typeface="Calibri" pitchFamily="34" charset="-120"/>
              </a:rPr>
              <a:t>8 Sprints  —  4 Team Members  —  Sep 2025 to Apr 2026</a:t>
            </a:r>
            <a:endParaRPr lang="en-US" sz="900" dirty="0"/>
          </a:p>
        </p:txBody>
      </p:sp>
      <p:sp>
        <p:nvSpPr>
          <p:cNvPr id="58" name="Shape 56"/>
          <p:cNvSpPr/>
          <p:nvPr/>
        </p:nvSpPr>
        <p:spPr>
          <a:xfrm>
            <a:off x="4800600" y="4754880"/>
            <a:ext cx="4023360" cy="20117"/>
          </a:xfrm>
          <a:prstGeom prst="rect">
            <a:avLst/>
          </a:prstGeom>
          <a:solidFill>
            <a:srgbClr val="E8EDF4"/>
          </a:solidFill>
          <a:ln w="12700">
            <a:solidFill>
              <a:srgbClr val="E8EDF4"/>
            </a:solidFill>
            <a:prstDash val="solid"/>
          </a:ln>
        </p:spPr>
      </p:sp>
      <p:sp>
        <p:nvSpPr>
          <p:cNvPr id="59" name="Shape 57"/>
          <p:cNvSpPr/>
          <p:nvPr/>
        </p:nvSpPr>
        <p:spPr>
          <a:xfrm>
            <a:off x="4800600" y="4828032"/>
            <a:ext cx="4023360" cy="20117"/>
          </a:xfrm>
          <a:prstGeom prst="rect">
            <a:avLst/>
          </a:prstGeom>
          <a:solidFill>
            <a:srgbClr val="0B6E8C"/>
          </a:solidFill>
          <a:ln w="12700">
            <a:solidFill>
              <a:srgbClr val="0B6E8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8229600" cy="219456"/>
          </a:xfrm>
          <a:prstGeom prst="rect">
            <a:avLst/>
          </a:prstGeom>
          <a:noFill/>
          <a:ln/>
        </p:spPr>
        <p:txBody>
          <a:bodyPr wrap="square" lIns="0" tIns="0" rIns="0" bIns="0" rtlCol="0" anchor="ctr"/>
          <a:lstStyle/>
          <a:p>
            <a:pPr indent="0" marL="0">
              <a:buNone/>
            </a:pPr>
            <a:r>
              <a:rPr lang="en-US" sz="850" b="1" spc="250" kern="0" dirty="0">
                <a:solidFill>
                  <a:srgbClr val="1B3A6B"/>
                </a:solidFill>
                <a:latin typeface="Calibri" pitchFamily="34" charset="0"/>
                <a:ea typeface="Calibri" pitchFamily="34" charset="-122"/>
                <a:cs typeface="Calibri" pitchFamily="34" charset="-120"/>
              </a:rPr>
              <a:t>OVERVIEW</a:t>
            </a:r>
            <a:endParaRPr lang="en-US" sz="85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000" b="1" dirty="0">
                <a:solidFill>
                  <a:srgbClr val="1B3A6B"/>
                </a:solidFill>
                <a:latin typeface="Cambria" pitchFamily="34" charset="0"/>
                <a:ea typeface="Cambria" pitchFamily="34" charset="-122"/>
                <a:cs typeface="Cambria" pitchFamily="34" charset="-120"/>
              </a:rPr>
              <a:t>Presentation Roadmap</a:t>
            </a:r>
            <a:endParaRPr lang="en-US" sz="3000" dirty="0"/>
          </a:p>
        </p:txBody>
      </p:sp>
      <p:sp>
        <p:nvSpPr>
          <p:cNvPr id="4" name="Shape 2"/>
          <p:cNvSpPr/>
          <p:nvPr/>
        </p:nvSpPr>
        <p:spPr>
          <a:xfrm>
            <a:off x="457200" y="1225296"/>
            <a:ext cx="8229600" cy="20117"/>
          </a:xfrm>
          <a:prstGeom prst="rect">
            <a:avLst/>
          </a:prstGeom>
          <a:solidFill>
            <a:srgbClr val="E8EDF4"/>
          </a:solidFill>
          <a:ln w="12700">
            <a:solidFill>
              <a:srgbClr val="E8EDF4"/>
            </a:solidFill>
            <a:prstDash val="solid"/>
          </a:ln>
        </p:spPr>
      </p:sp>
      <p:sp>
        <p:nvSpPr>
          <p:cNvPr id="5" name="Shape 3"/>
          <p:cNvSpPr/>
          <p:nvPr/>
        </p:nvSpPr>
        <p:spPr>
          <a:xfrm>
            <a:off x="457200" y="1408176"/>
            <a:ext cx="347472" cy="256032"/>
          </a:xfrm>
          <a:prstGeom prst="rect">
            <a:avLst/>
          </a:prstGeom>
          <a:solidFill>
            <a:srgbClr val="B5281C"/>
          </a:solidFill>
          <a:ln w="12700">
            <a:solidFill>
              <a:srgbClr val="B5281C"/>
            </a:solidFill>
            <a:prstDash val="solid"/>
          </a:ln>
        </p:spPr>
      </p:sp>
      <p:sp>
        <p:nvSpPr>
          <p:cNvPr id="6" name="Text 4"/>
          <p:cNvSpPr/>
          <p:nvPr/>
        </p:nvSpPr>
        <p:spPr>
          <a:xfrm>
            <a:off x="457200" y="1417320"/>
            <a:ext cx="3474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01</a:t>
            </a:r>
            <a:endParaRPr lang="en-US" sz="900" dirty="0"/>
          </a:p>
        </p:txBody>
      </p:sp>
      <p:sp>
        <p:nvSpPr>
          <p:cNvPr id="7" name="Text 5"/>
          <p:cNvSpPr/>
          <p:nvPr/>
        </p:nvSpPr>
        <p:spPr>
          <a:xfrm>
            <a:off x="896112" y="1426464"/>
            <a:ext cx="3657600" cy="237744"/>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The Problem</a:t>
            </a:r>
            <a:endParaRPr lang="en-US" sz="1100" dirty="0"/>
          </a:p>
        </p:txBody>
      </p:sp>
      <p:sp>
        <p:nvSpPr>
          <p:cNvPr id="8" name="Shape 6"/>
          <p:cNvSpPr/>
          <p:nvPr/>
        </p:nvSpPr>
        <p:spPr>
          <a:xfrm>
            <a:off x="457200" y="1691640"/>
            <a:ext cx="4160520" cy="13716"/>
          </a:xfrm>
          <a:prstGeom prst="rect">
            <a:avLst/>
          </a:prstGeom>
          <a:solidFill>
            <a:srgbClr val="E8EDF4"/>
          </a:solidFill>
          <a:ln w="12700">
            <a:solidFill>
              <a:srgbClr val="E8EDF4"/>
            </a:solidFill>
            <a:prstDash val="solid"/>
          </a:ln>
        </p:spPr>
      </p:sp>
      <p:sp>
        <p:nvSpPr>
          <p:cNvPr id="9" name="Shape 7"/>
          <p:cNvSpPr/>
          <p:nvPr/>
        </p:nvSpPr>
        <p:spPr>
          <a:xfrm>
            <a:off x="457200" y="1801368"/>
            <a:ext cx="347472" cy="256032"/>
          </a:xfrm>
          <a:prstGeom prst="rect">
            <a:avLst/>
          </a:prstGeom>
          <a:solidFill>
            <a:srgbClr val="0B6E8C"/>
          </a:solidFill>
          <a:ln w="12700">
            <a:solidFill>
              <a:srgbClr val="0B6E8C"/>
            </a:solidFill>
            <a:prstDash val="solid"/>
          </a:ln>
        </p:spPr>
      </p:sp>
      <p:sp>
        <p:nvSpPr>
          <p:cNvPr id="10" name="Text 8"/>
          <p:cNvSpPr/>
          <p:nvPr/>
        </p:nvSpPr>
        <p:spPr>
          <a:xfrm>
            <a:off x="457200" y="1810512"/>
            <a:ext cx="3474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02</a:t>
            </a:r>
            <a:endParaRPr lang="en-US" sz="900" dirty="0"/>
          </a:p>
        </p:txBody>
      </p:sp>
      <p:sp>
        <p:nvSpPr>
          <p:cNvPr id="11" name="Text 9"/>
          <p:cNvSpPr/>
          <p:nvPr/>
        </p:nvSpPr>
        <p:spPr>
          <a:xfrm>
            <a:off x="896112" y="1819656"/>
            <a:ext cx="3657600" cy="237744"/>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Our Solution</a:t>
            </a:r>
            <a:endParaRPr lang="en-US" sz="1100" dirty="0"/>
          </a:p>
        </p:txBody>
      </p:sp>
      <p:sp>
        <p:nvSpPr>
          <p:cNvPr id="12" name="Shape 10"/>
          <p:cNvSpPr/>
          <p:nvPr/>
        </p:nvSpPr>
        <p:spPr>
          <a:xfrm>
            <a:off x="457200" y="2084832"/>
            <a:ext cx="4160520" cy="13716"/>
          </a:xfrm>
          <a:prstGeom prst="rect">
            <a:avLst/>
          </a:prstGeom>
          <a:solidFill>
            <a:srgbClr val="E8EDF4"/>
          </a:solidFill>
          <a:ln w="12700">
            <a:solidFill>
              <a:srgbClr val="E8EDF4"/>
            </a:solidFill>
            <a:prstDash val="solid"/>
          </a:ln>
        </p:spPr>
      </p:sp>
      <p:sp>
        <p:nvSpPr>
          <p:cNvPr id="13" name="Shape 11"/>
          <p:cNvSpPr/>
          <p:nvPr/>
        </p:nvSpPr>
        <p:spPr>
          <a:xfrm>
            <a:off x="457200" y="2194560"/>
            <a:ext cx="347472" cy="256032"/>
          </a:xfrm>
          <a:prstGeom prst="rect">
            <a:avLst/>
          </a:prstGeom>
          <a:solidFill>
            <a:srgbClr val="1B3A6B"/>
          </a:solidFill>
          <a:ln w="12700">
            <a:solidFill>
              <a:srgbClr val="1B3A6B"/>
            </a:solidFill>
            <a:prstDash val="solid"/>
          </a:ln>
        </p:spPr>
      </p:sp>
      <p:sp>
        <p:nvSpPr>
          <p:cNvPr id="14" name="Text 12"/>
          <p:cNvSpPr/>
          <p:nvPr/>
        </p:nvSpPr>
        <p:spPr>
          <a:xfrm>
            <a:off x="457200" y="2203704"/>
            <a:ext cx="3474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03</a:t>
            </a:r>
            <a:endParaRPr lang="en-US" sz="900" dirty="0"/>
          </a:p>
        </p:txBody>
      </p:sp>
      <p:sp>
        <p:nvSpPr>
          <p:cNvPr id="15" name="Text 13"/>
          <p:cNvSpPr/>
          <p:nvPr/>
        </p:nvSpPr>
        <p:spPr>
          <a:xfrm>
            <a:off x="896112" y="2212848"/>
            <a:ext cx="3657600" cy="237744"/>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Team and Belbin Roles</a:t>
            </a:r>
            <a:endParaRPr lang="en-US" sz="1100" dirty="0"/>
          </a:p>
        </p:txBody>
      </p:sp>
      <p:sp>
        <p:nvSpPr>
          <p:cNvPr id="16" name="Shape 14"/>
          <p:cNvSpPr/>
          <p:nvPr/>
        </p:nvSpPr>
        <p:spPr>
          <a:xfrm>
            <a:off x="457200" y="2478024"/>
            <a:ext cx="4160520" cy="13716"/>
          </a:xfrm>
          <a:prstGeom prst="rect">
            <a:avLst/>
          </a:prstGeom>
          <a:solidFill>
            <a:srgbClr val="E8EDF4"/>
          </a:solidFill>
          <a:ln w="12700">
            <a:solidFill>
              <a:srgbClr val="E8EDF4"/>
            </a:solidFill>
            <a:prstDash val="solid"/>
          </a:ln>
        </p:spPr>
      </p:sp>
      <p:sp>
        <p:nvSpPr>
          <p:cNvPr id="17" name="Shape 15"/>
          <p:cNvSpPr/>
          <p:nvPr/>
        </p:nvSpPr>
        <p:spPr>
          <a:xfrm>
            <a:off x="457200" y="2587752"/>
            <a:ext cx="347472" cy="256032"/>
          </a:xfrm>
          <a:prstGeom prst="rect">
            <a:avLst/>
          </a:prstGeom>
          <a:solidFill>
            <a:srgbClr val="5B2D8E"/>
          </a:solidFill>
          <a:ln w="12700">
            <a:solidFill>
              <a:srgbClr val="5B2D8E"/>
            </a:solidFill>
            <a:prstDash val="solid"/>
          </a:ln>
        </p:spPr>
      </p:sp>
      <p:sp>
        <p:nvSpPr>
          <p:cNvPr id="18" name="Text 16"/>
          <p:cNvSpPr/>
          <p:nvPr/>
        </p:nvSpPr>
        <p:spPr>
          <a:xfrm>
            <a:off x="457200" y="2596896"/>
            <a:ext cx="3474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04</a:t>
            </a:r>
            <a:endParaRPr lang="en-US" sz="900" dirty="0"/>
          </a:p>
        </p:txBody>
      </p:sp>
      <p:sp>
        <p:nvSpPr>
          <p:cNvPr id="19" name="Text 17"/>
          <p:cNvSpPr/>
          <p:nvPr/>
        </p:nvSpPr>
        <p:spPr>
          <a:xfrm>
            <a:off x="896112" y="2606040"/>
            <a:ext cx="3657600" cy="237744"/>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SDLC and Agile vs Waterfall</a:t>
            </a:r>
            <a:endParaRPr lang="en-US" sz="1100" dirty="0"/>
          </a:p>
        </p:txBody>
      </p:sp>
      <p:sp>
        <p:nvSpPr>
          <p:cNvPr id="20" name="Shape 18"/>
          <p:cNvSpPr/>
          <p:nvPr/>
        </p:nvSpPr>
        <p:spPr>
          <a:xfrm>
            <a:off x="457200" y="2871216"/>
            <a:ext cx="4160520" cy="13716"/>
          </a:xfrm>
          <a:prstGeom prst="rect">
            <a:avLst/>
          </a:prstGeom>
          <a:solidFill>
            <a:srgbClr val="E8EDF4"/>
          </a:solidFill>
          <a:ln w="12700">
            <a:solidFill>
              <a:srgbClr val="E8EDF4"/>
            </a:solidFill>
            <a:prstDash val="solid"/>
          </a:ln>
        </p:spPr>
      </p:sp>
      <p:sp>
        <p:nvSpPr>
          <p:cNvPr id="21" name="Shape 19"/>
          <p:cNvSpPr/>
          <p:nvPr/>
        </p:nvSpPr>
        <p:spPr>
          <a:xfrm>
            <a:off x="457200" y="2980944"/>
            <a:ext cx="347472" cy="256032"/>
          </a:xfrm>
          <a:prstGeom prst="rect">
            <a:avLst/>
          </a:prstGeom>
          <a:solidFill>
            <a:srgbClr val="0B6E8C"/>
          </a:solidFill>
          <a:ln w="12700">
            <a:solidFill>
              <a:srgbClr val="0B6E8C"/>
            </a:solidFill>
            <a:prstDash val="solid"/>
          </a:ln>
        </p:spPr>
      </p:sp>
      <p:sp>
        <p:nvSpPr>
          <p:cNvPr id="22" name="Text 20"/>
          <p:cNvSpPr/>
          <p:nvPr/>
        </p:nvSpPr>
        <p:spPr>
          <a:xfrm>
            <a:off x="457200" y="2990088"/>
            <a:ext cx="3474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05</a:t>
            </a:r>
            <a:endParaRPr lang="en-US" sz="900" dirty="0"/>
          </a:p>
        </p:txBody>
      </p:sp>
      <p:sp>
        <p:nvSpPr>
          <p:cNvPr id="23" name="Text 21"/>
          <p:cNvSpPr/>
          <p:nvPr/>
        </p:nvSpPr>
        <p:spPr>
          <a:xfrm>
            <a:off x="896112" y="2999232"/>
            <a:ext cx="3657600" cy="237744"/>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Tuckman's Five Stages</a:t>
            </a:r>
            <a:endParaRPr lang="en-US" sz="1100" dirty="0"/>
          </a:p>
        </p:txBody>
      </p:sp>
      <p:sp>
        <p:nvSpPr>
          <p:cNvPr id="24" name="Shape 22"/>
          <p:cNvSpPr/>
          <p:nvPr/>
        </p:nvSpPr>
        <p:spPr>
          <a:xfrm>
            <a:off x="457200" y="3264408"/>
            <a:ext cx="4160520" cy="13716"/>
          </a:xfrm>
          <a:prstGeom prst="rect">
            <a:avLst/>
          </a:prstGeom>
          <a:solidFill>
            <a:srgbClr val="E8EDF4"/>
          </a:solidFill>
          <a:ln w="12700">
            <a:solidFill>
              <a:srgbClr val="E8EDF4"/>
            </a:solidFill>
            <a:prstDash val="solid"/>
          </a:ln>
        </p:spPr>
      </p:sp>
      <p:sp>
        <p:nvSpPr>
          <p:cNvPr id="25" name="Shape 23"/>
          <p:cNvSpPr/>
          <p:nvPr/>
        </p:nvSpPr>
        <p:spPr>
          <a:xfrm>
            <a:off x="457200" y="3374136"/>
            <a:ext cx="347472" cy="256032"/>
          </a:xfrm>
          <a:prstGeom prst="rect">
            <a:avLst/>
          </a:prstGeom>
          <a:solidFill>
            <a:srgbClr val="B8860B"/>
          </a:solidFill>
          <a:ln w="12700">
            <a:solidFill>
              <a:srgbClr val="B8860B"/>
            </a:solidFill>
            <a:prstDash val="solid"/>
          </a:ln>
        </p:spPr>
      </p:sp>
      <p:sp>
        <p:nvSpPr>
          <p:cNvPr id="26" name="Text 24"/>
          <p:cNvSpPr/>
          <p:nvPr/>
        </p:nvSpPr>
        <p:spPr>
          <a:xfrm>
            <a:off x="457200" y="3383280"/>
            <a:ext cx="3474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06</a:t>
            </a:r>
            <a:endParaRPr lang="en-US" sz="900" dirty="0"/>
          </a:p>
        </p:txBody>
      </p:sp>
      <p:sp>
        <p:nvSpPr>
          <p:cNvPr id="27" name="Text 25"/>
          <p:cNvSpPr/>
          <p:nvPr/>
        </p:nvSpPr>
        <p:spPr>
          <a:xfrm>
            <a:off x="896112" y="3392424"/>
            <a:ext cx="3657600" cy="237744"/>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Data Engineering and EDA</a:t>
            </a:r>
            <a:endParaRPr lang="en-US" sz="1100" dirty="0"/>
          </a:p>
        </p:txBody>
      </p:sp>
      <p:sp>
        <p:nvSpPr>
          <p:cNvPr id="28" name="Shape 26"/>
          <p:cNvSpPr/>
          <p:nvPr/>
        </p:nvSpPr>
        <p:spPr>
          <a:xfrm>
            <a:off x="457200" y="3657600"/>
            <a:ext cx="4160520" cy="13716"/>
          </a:xfrm>
          <a:prstGeom prst="rect">
            <a:avLst/>
          </a:prstGeom>
          <a:solidFill>
            <a:srgbClr val="E8EDF4"/>
          </a:solidFill>
          <a:ln w="12700">
            <a:solidFill>
              <a:srgbClr val="E8EDF4"/>
            </a:solidFill>
            <a:prstDash val="solid"/>
          </a:ln>
        </p:spPr>
      </p:sp>
      <p:sp>
        <p:nvSpPr>
          <p:cNvPr id="29" name="Shape 27"/>
          <p:cNvSpPr/>
          <p:nvPr/>
        </p:nvSpPr>
        <p:spPr>
          <a:xfrm>
            <a:off x="457200" y="3767328"/>
            <a:ext cx="347472" cy="256032"/>
          </a:xfrm>
          <a:prstGeom prst="rect">
            <a:avLst/>
          </a:prstGeom>
          <a:solidFill>
            <a:srgbClr val="1A7A4A"/>
          </a:solidFill>
          <a:ln w="12700">
            <a:solidFill>
              <a:srgbClr val="1A7A4A"/>
            </a:solidFill>
            <a:prstDash val="solid"/>
          </a:ln>
        </p:spPr>
      </p:sp>
      <p:sp>
        <p:nvSpPr>
          <p:cNvPr id="30" name="Text 28"/>
          <p:cNvSpPr/>
          <p:nvPr/>
        </p:nvSpPr>
        <p:spPr>
          <a:xfrm>
            <a:off x="457200" y="3776472"/>
            <a:ext cx="3474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07</a:t>
            </a:r>
            <a:endParaRPr lang="en-US" sz="900" dirty="0"/>
          </a:p>
        </p:txBody>
      </p:sp>
      <p:sp>
        <p:nvSpPr>
          <p:cNvPr id="31" name="Text 29"/>
          <p:cNvSpPr/>
          <p:nvPr/>
        </p:nvSpPr>
        <p:spPr>
          <a:xfrm>
            <a:off x="896112" y="3785616"/>
            <a:ext cx="3657600" cy="237744"/>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ML Models and Results</a:t>
            </a:r>
            <a:endParaRPr lang="en-US" sz="1100" dirty="0"/>
          </a:p>
        </p:txBody>
      </p:sp>
      <p:sp>
        <p:nvSpPr>
          <p:cNvPr id="32" name="Shape 30"/>
          <p:cNvSpPr/>
          <p:nvPr/>
        </p:nvSpPr>
        <p:spPr>
          <a:xfrm>
            <a:off x="457200" y="4050792"/>
            <a:ext cx="4160520" cy="13716"/>
          </a:xfrm>
          <a:prstGeom prst="rect">
            <a:avLst/>
          </a:prstGeom>
          <a:solidFill>
            <a:srgbClr val="E8EDF4"/>
          </a:solidFill>
          <a:ln w="12700">
            <a:solidFill>
              <a:srgbClr val="E8EDF4"/>
            </a:solidFill>
            <a:prstDash val="solid"/>
          </a:ln>
        </p:spPr>
      </p:sp>
      <p:sp>
        <p:nvSpPr>
          <p:cNvPr id="33" name="Shape 31"/>
          <p:cNvSpPr/>
          <p:nvPr/>
        </p:nvSpPr>
        <p:spPr>
          <a:xfrm>
            <a:off x="457200" y="4160520"/>
            <a:ext cx="347472" cy="256032"/>
          </a:xfrm>
          <a:prstGeom prst="rect">
            <a:avLst/>
          </a:prstGeom>
          <a:solidFill>
            <a:srgbClr val="1B3A6B"/>
          </a:solidFill>
          <a:ln w="12700">
            <a:solidFill>
              <a:srgbClr val="1B3A6B"/>
            </a:solidFill>
            <a:prstDash val="solid"/>
          </a:ln>
        </p:spPr>
      </p:sp>
      <p:sp>
        <p:nvSpPr>
          <p:cNvPr id="34" name="Text 32"/>
          <p:cNvSpPr/>
          <p:nvPr/>
        </p:nvSpPr>
        <p:spPr>
          <a:xfrm>
            <a:off x="457200" y="4169664"/>
            <a:ext cx="3474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08</a:t>
            </a:r>
            <a:endParaRPr lang="en-US" sz="900" dirty="0"/>
          </a:p>
        </p:txBody>
      </p:sp>
      <p:sp>
        <p:nvSpPr>
          <p:cNvPr id="35" name="Text 33"/>
          <p:cNvSpPr/>
          <p:nvPr/>
        </p:nvSpPr>
        <p:spPr>
          <a:xfrm>
            <a:off x="896112" y="4178808"/>
            <a:ext cx="3657600" cy="237744"/>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System Architecture</a:t>
            </a:r>
            <a:endParaRPr lang="en-US" sz="1100" dirty="0"/>
          </a:p>
        </p:txBody>
      </p:sp>
      <p:sp>
        <p:nvSpPr>
          <p:cNvPr id="36" name="Shape 34"/>
          <p:cNvSpPr/>
          <p:nvPr/>
        </p:nvSpPr>
        <p:spPr>
          <a:xfrm>
            <a:off x="457200" y="4443984"/>
            <a:ext cx="4160520" cy="13716"/>
          </a:xfrm>
          <a:prstGeom prst="rect">
            <a:avLst/>
          </a:prstGeom>
          <a:solidFill>
            <a:srgbClr val="E8EDF4"/>
          </a:solidFill>
          <a:ln w="12700">
            <a:solidFill>
              <a:srgbClr val="E8EDF4"/>
            </a:solidFill>
            <a:prstDash val="solid"/>
          </a:ln>
        </p:spPr>
      </p:sp>
      <p:sp>
        <p:nvSpPr>
          <p:cNvPr id="37" name="Shape 35"/>
          <p:cNvSpPr/>
          <p:nvPr/>
        </p:nvSpPr>
        <p:spPr>
          <a:xfrm>
            <a:off x="457200" y="4553712"/>
            <a:ext cx="347472" cy="256032"/>
          </a:xfrm>
          <a:prstGeom prst="rect">
            <a:avLst/>
          </a:prstGeom>
          <a:solidFill>
            <a:srgbClr val="0B6E8C"/>
          </a:solidFill>
          <a:ln w="12700">
            <a:solidFill>
              <a:srgbClr val="0B6E8C"/>
            </a:solidFill>
            <a:prstDash val="solid"/>
          </a:ln>
        </p:spPr>
      </p:sp>
      <p:sp>
        <p:nvSpPr>
          <p:cNvPr id="38" name="Text 36"/>
          <p:cNvSpPr/>
          <p:nvPr/>
        </p:nvSpPr>
        <p:spPr>
          <a:xfrm>
            <a:off x="457200" y="4562856"/>
            <a:ext cx="3474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09</a:t>
            </a:r>
            <a:endParaRPr lang="en-US" sz="900" dirty="0"/>
          </a:p>
        </p:txBody>
      </p:sp>
      <p:sp>
        <p:nvSpPr>
          <p:cNvPr id="39" name="Text 37"/>
          <p:cNvSpPr/>
          <p:nvPr/>
        </p:nvSpPr>
        <p:spPr>
          <a:xfrm>
            <a:off x="896112" y="4572000"/>
            <a:ext cx="3657600" cy="237744"/>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Web Interface and UCD</a:t>
            </a:r>
            <a:endParaRPr lang="en-US" sz="1100" dirty="0"/>
          </a:p>
        </p:txBody>
      </p:sp>
      <p:sp>
        <p:nvSpPr>
          <p:cNvPr id="40" name="Shape 38"/>
          <p:cNvSpPr/>
          <p:nvPr/>
        </p:nvSpPr>
        <p:spPr>
          <a:xfrm>
            <a:off x="457200" y="4837176"/>
            <a:ext cx="4160520" cy="13716"/>
          </a:xfrm>
          <a:prstGeom prst="rect">
            <a:avLst/>
          </a:prstGeom>
          <a:solidFill>
            <a:srgbClr val="E8EDF4"/>
          </a:solidFill>
          <a:ln w="12700">
            <a:solidFill>
              <a:srgbClr val="E8EDF4"/>
            </a:solidFill>
            <a:prstDash val="solid"/>
          </a:ln>
        </p:spPr>
      </p:sp>
      <p:sp>
        <p:nvSpPr>
          <p:cNvPr id="41" name="Shape 39"/>
          <p:cNvSpPr/>
          <p:nvPr/>
        </p:nvSpPr>
        <p:spPr>
          <a:xfrm>
            <a:off x="4773168" y="1408176"/>
            <a:ext cx="347472" cy="256032"/>
          </a:xfrm>
          <a:prstGeom prst="rect">
            <a:avLst/>
          </a:prstGeom>
          <a:solidFill>
            <a:srgbClr val="B5281C"/>
          </a:solidFill>
          <a:ln w="12700">
            <a:solidFill>
              <a:srgbClr val="B5281C"/>
            </a:solidFill>
            <a:prstDash val="solid"/>
          </a:ln>
        </p:spPr>
      </p:sp>
      <p:sp>
        <p:nvSpPr>
          <p:cNvPr id="42" name="Text 40"/>
          <p:cNvSpPr/>
          <p:nvPr/>
        </p:nvSpPr>
        <p:spPr>
          <a:xfrm>
            <a:off x="4773168" y="1417320"/>
            <a:ext cx="3474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10</a:t>
            </a:r>
            <a:endParaRPr lang="en-US" sz="900" dirty="0"/>
          </a:p>
        </p:txBody>
      </p:sp>
      <p:sp>
        <p:nvSpPr>
          <p:cNvPr id="43" name="Text 41"/>
          <p:cNvSpPr/>
          <p:nvPr/>
        </p:nvSpPr>
        <p:spPr>
          <a:xfrm>
            <a:off x="5212080" y="1426464"/>
            <a:ext cx="3657600" cy="237744"/>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Testing and Challenges</a:t>
            </a:r>
            <a:endParaRPr lang="en-US" sz="1100" dirty="0"/>
          </a:p>
        </p:txBody>
      </p:sp>
      <p:sp>
        <p:nvSpPr>
          <p:cNvPr id="44" name="Shape 42"/>
          <p:cNvSpPr/>
          <p:nvPr/>
        </p:nvSpPr>
        <p:spPr>
          <a:xfrm>
            <a:off x="4773168" y="1691640"/>
            <a:ext cx="4160520" cy="13716"/>
          </a:xfrm>
          <a:prstGeom prst="rect">
            <a:avLst/>
          </a:prstGeom>
          <a:solidFill>
            <a:srgbClr val="E8EDF4"/>
          </a:solidFill>
          <a:ln w="12700">
            <a:solidFill>
              <a:srgbClr val="E8EDF4"/>
            </a:solidFill>
            <a:prstDash val="solid"/>
          </a:ln>
        </p:spPr>
      </p:sp>
      <p:sp>
        <p:nvSpPr>
          <p:cNvPr id="45" name="Shape 43"/>
          <p:cNvSpPr/>
          <p:nvPr/>
        </p:nvSpPr>
        <p:spPr>
          <a:xfrm>
            <a:off x="4773168" y="1801368"/>
            <a:ext cx="347472" cy="256032"/>
          </a:xfrm>
          <a:prstGeom prst="rect">
            <a:avLst/>
          </a:prstGeom>
          <a:solidFill>
            <a:srgbClr val="5B2D8E"/>
          </a:solidFill>
          <a:ln w="12700">
            <a:solidFill>
              <a:srgbClr val="5B2D8E"/>
            </a:solidFill>
            <a:prstDash val="solid"/>
          </a:ln>
        </p:spPr>
      </p:sp>
      <p:sp>
        <p:nvSpPr>
          <p:cNvPr id="46" name="Text 44"/>
          <p:cNvSpPr/>
          <p:nvPr/>
        </p:nvSpPr>
        <p:spPr>
          <a:xfrm>
            <a:off x="4773168" y="1810512"/>
            <a:ext cx="3474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11</a:t>
            </a:r>
            <a:endParaRPr lang="en-US" sz="900" dirty="0"/>
          </a:p>
        </p:txBody>
      </p:sp>
      <p:sp>
        <p:nvSpPr>
          <p:cNvPr id="47" name="Text 45"/>
          <p:cNvSpPr/>
          <p:nvPr/>
        </p:nvSpPr>
        <p:spPr>
          <a:xfrm>
            <a:off x="5212080" y="1819656"/>
            <a:ext cx="3657600" cy="237744"/>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Jira and Sprint Report</a:t>
            </a:r>
            <a:endParaRPr lang="en-US" sz="1100" dirty="0"/>
          </a:p>
        </p:txBody>
      </p:sp>
      <p:sp>
        <p:nvSpPr>
          <p:cNvPr id="48" name="Shape 46"/>
          <p:cNvSpPr/>
          <p:nvPr/>
        </p:nvSpPr>
        <p:spPr>
          <a:xfrm>
            <a:off x="4773168" y="2084832"/>
            <a:ext cx="4160520" cy="13716"/>
          </a:xfrm>
          <a:prstGeom prst="rect">
            <a:avLst/>
          </a:prstGeom>
          <a:solidFill>
            <a:srgbClr val="E8EDF4"/>
          </a:solidFill>
          <a:ln w="12700">
            <a:solidFill>
              <a:srgbClr val="E8EDF4"/>
            </a:solidFill>
            <a:prstDash val="solid"/>
          </a:ln>
        </p:spPr>
      </p:sp>
      <p:sp>
        <p:nvSpPr>
          <p:cNvPr id="49" name="Shape 47"/>
          <p:cNvSpPr/>
          <p:nvPr/>
        </p:nvSpPr>
        <p:spPr>
          <a:xfrm>
            <a:off x="4773168" y="2194560"/>
            <a:ext cx="347472" cy="256032"/>
          </a:xfrm>
          <a:prstGeom prst="rect">
            <a:avLst/>
          </a:prstGeom>
          <a:solidFill>
            <a:srgbClr val="B8860B"/>
          </a:solidFill>
          <a:ln w="12700">
            <a:solidFill>
              <a:srgbClr val="B8860B"/>
            </a:solidFill>
            <a:prstDash val="solid"/>
          </a:ln>
        </p:spPr>
      </p:sp>
      <p:sp>
        <p:nvSpPr>
          <p:cNvPr id="50" name="Text 48"/>
          <p:cNvSpPr/>
          <p:nvPr/>
        </p:nvSpPr>
        <p:spPr>
          <a:xfrm>
            <a:off x="4773168" y="2203704"/>
            <a:ext cx="3474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12</a:t>
            </a:r>
            <a:endParaRPr lang="en-US" sz="900" dirty="0"/>
          </a:p>
        </p:txBody>
      </p:sp>
      <p:sp>
        <p:nvSpPr>
          <p:cNvPr id="51" name="Text 49"/>
          <p:cNvSpPr/>
          <p:nvPr/>
        </p:nvSpPr>
        <p:spPr>
          <a:xfrm>
            <a:off x="5212080" y="2212848"/>
            <a:ext cx="3657600" cy="237744"/>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Product Lifecycle and Lessons</a:t>
            </a:r>
            <a:endParaRPr lang="en-US" sz="1100" dirty="0"/>
          </a:p>
        </p:txBody>
      </p:sp>
      <p:sp>
        <p:nvSpPr>
          <p:cNvPr id="52" name="Shape 50"/>
          <p:cNvSpPr/>
          <p:nvPr/>
        </p:nvSpPr>
        <p:spPr>
          <a:xfrm>
            <a:off x="4773168" y="2478024"/>
            <a:ext cx="4160520" cy="13716"/>
          </a:xfrm>
          <a:prstGeom prst="rect">
            <a:avLst/>
          </a:prstGeom>
          <a:solidFill>
            <a:srgbClr val="E8EDF4"/>
          </a:solidFill>
          <a:ln w="12700">
            <a:solidFill>
              <a:srgbClr val="E8EDF4"/>
            </a:solidFill>
            <a:prstDash val="solid"/>
          </a:ln>
        </p:spPr>
      </p:sp>
      <p:sp>
        <p:nvSpPr>
          <p:cNvPr id="53" name="Shape 51"/>
          <p:cNvSpPr/>
          <p:nvPr/>
        </p:nvSpPr>
        <p:spPr>
          <a:xfrm>
            <a:off x="4773168" y="2587752"/>
            <a:ext cx="347472" cy="256032"/>
          </a:xfrm>
          <a:prstGeom prst="rect">
            <a:avLst/>
          </a:prstGeom>
          <a:solidFill>
            <a:srgbClr val="2C3E50"/>
          </a:solidFill>
          <a:ln w="12700">
            <a:solidFill>
              <a:srgbClr val="2C3E50"/>
            </a:solidFill>
            <a:prstDash val="solid"/>
          </a:ln>
        </p:spPr>
      </p:sp>
      <p:sp>
        <p:nvSpPr>
          <p:cNvPr id="54" name="Text 52"/>
          <p:cNvSpPr/>
          <p:nvPr/>
        </p:nvSpPr>
        <p:spPr>
          <a:xfrm>
            <a:off x="4773168" y="2596896"/>
            <a:ext cx="3474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13</a:t>
            </a:r>
            <a:endParaRPr lang="en-US" sz="900" dirty="0"/>
          </a:p>
        </p:txBody>
      </p:sp>
      <p:sp>
        <p:nvSpPr>
          <p:cNvPr id="55" name="Text 53"/>
          <p:cNvSpPr/>
          <p:nvPr/>
        </p:nvSpPr>
        <p:spPr>
          <a:xfrm>
            <a:off x="5212080" y="2606040"/>
            <a:ext cx="3657600" cy="237744"/>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Ethics, Legal and BCS</a:t>
            </a:r>
            <a:endParaRPr lang="en-US" sz="1100" dirty="0"/>
          </a:p>
        </p:txBody>
      </p:sp>
      <p:sp>
        <p:nvSpPr>
          <p:cNvPr id="56" name="Shape 54"/>
          <p:cNvSpPr/>
          <p:nvPr/>
        </p:nvSpPr>
        <p:spPr>
          <a:xfrm>
            <a:off x="4773168" y="2871216"/>
            <a:ext cx="4160520" cy="13716"/>
          </a:xfrm>
          <a:prstGeom prst="rect">
            <a:avLst/>
          </a:prstGeom>
          <a:solidFill>
            <a:srgbClr val="E8EDF4"/>
          </a:solidFill>
          <a:ln w="12700">
            <a:solidFill>
              <a:srgbClr val="E8EDF4"/>
            </a:solidFill>
            <a:prstDash val="solid"/>
          </a:ln>
        </p:spPr>
      </p:sp>
      <p:sp>
        <p:nvSpPr>
          <p:cNvPr id="57" name="Shape 55"/>
          <p:cNvSpPr/>
          <p:nvPr/>
        </p:nvSpPr>
        <p:spPr>
          <a:xfrm>
            <a:off x="4773168" y="2980944"/>
            <a:ext cx="347472" cy="256032"/>
          </a:xfrm>
          <a:prstGeom prst="rect">
            <a:avLst/>
          </a:prstGeom>
          <a:solidFill>
            <a:srgbClr val="1A7A4A"/>
          </a:solidFill>
          <a:ln w="12700">
            <a:solidFill>
              <a:srgbClr val="1A7A4A"/>
            </a:solidFill>
            <a:prstDash val="solid"/>
          </a:ln>
        </p:spPr>
      </p:sp>
      <p:sp>
        <p:nvSpPr>
          <p:cNvPr id="58" name="Text 56"/>
          <p:cNvSpPr/>
          <p:nvPr/>
        </p:nvSpPr>
        <p:spPr>
          <a:xfrm>
            <a:off x="4773168" y="2990088"/>
            <a:ext cx="3474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14</a:t>
            </a:r>
            <a:endParaRPr lang="en-US" sz="900" dirty="0"/>
          </a:p>
        </p:txBody>
      </p:sp>
      <p:sp>
        <p:nvSpPr>
          <p:cNvPr id="59" name="Text 57"/>
          <p:cNvSpPr/>
          <p:nvPr/>
        </p:nvSpPr>
        <p:spPr>
          <a:xfrm>
            <a:off x="5212080" y="2999232"/>
            <a:ext cx="3657600" cy="237744"/>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Key Results</a:t>
            </a:r>
            <a:endParaRPr lang="en-US" sz="1100" dirty="0"/>
          </a:p>
        </p:txBody>
      </p:sp>
      <p:sp>
        <p:nvSpPr>
          <p:cNvPr id="60" name="Shape 58"/>
          <p:cNvSpPr/>
          <p:nvPr/>
        </p:nvSpPr>
        <p:spPr>
          <a:xfrm>
            <a:off x="4773168" y="3264408"/>
            <a:ext cx="4160520" cy="13716"/>
          </a:xfrm>
          <a:prstGeom prst="rect">
            <a:avLst/>
          </a:prstGeom>
          <a:solidFill>
            <a:srgbClr val="E8EDF4"/>
          </a:solidFill>
          <a:ln w="12700">
            <a:solidFill>
              <a:srgbClr val="E8EDF4"/>
            </a:solidFill>
            <a:prstDash val="solid"/>
          </a:ln>
        </p:spPr>
      </p:sp>
      <p:sp>
        <p:nvSpPr>
          <p:cNvPr id="61" name="Shape 59"/>
          <p:cNvSpPr/>
          <p:nvPr/>
        </p:nvSpPr>
        <p:spPr>
          <a:xfrm>
            <a:off x="4773168" y="3374136"/>
            <a:ext cx="347472" cy="256032"/>
          </a:xfrm>
          <a:prstGeom prst="rect">
            <a:avLst/>
          </a:prstGeom>
          <a:solidFill>
            <a:srgbClr val="0B6E8C"/>
          </a:solidFill>
          <a:ln w="12700">
            <a:solidFill>
              <a:srgbClr val="0B6E8C"/>
            </a:solidFill>
            <a:prstDash val="solid"/>
          </a:ln>
        </p:spPr>
      </p:sp>
      <p:sp>
        <p:nvSpPr>
          <p:cNvPr id="62" name="Text 60"/>
          <p:cNvSpPr/>
          <p:nvPr/>
        </p:nvSpPr>
        <p:spPr>
          <a:xfrm>
            <a:off x="4773168" y="3383280"/>
            <a:ext cx="3474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15</a:t>
            </a:r>
            <a:endParaRPr lang="en-US" sz="900" dirty="0"/>
          </a:p>
        </p:txBody>
      </p:sp>
      <p:sp>
        <p:nvSpPr>
          <p:cNvPr id="63" name="Text 61"/>
          <p:cNvSpPr/>
          <p:nvPr/>
        </p:nvSpPr>
        <p:spPr>
          <a:xfrm>
            <a:off x="5212080" y="3392424"/>
            <a:ext cx="3657600" cy="237744"/>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Limitations and Future Work</a:t>
            </a:r>
            <a:endParaRPr lang="en-US" sz="1100" dirty="0"/>
          </a:p>
        </p:txBody>
      </p:sp>
      <p:sp>
        <p:nvSpPr>
          <p:cNvPr id="64" name="Shape 62"/>
          <p:cNvSpPr/>
          <p:nvPr/>
        </p:nvSpPr>
        <p:spPr>
          <a:xfrm>
            <a:off x="4773168" y="3657600"/>
            <a:ext cx="4160520" cy="13716"/>
          </a:xfrm>
          <a:prstGeom prst="rect">
            <a:avLst/>
          </a:prstGeom>
          <a:solidFill>
            <a:srgbClr val="E8EDF4"/>
          </a:solidFill>
          <a:ln w="12700">
            <a:solidFill>
              <a:srgbClr val="E8EDF4"/>
            </a:solidFill>
            <a:prstDash val="solid"/>
          </a:ln>
        </p:spPr>
      </p:sp>
      <p:sp>
        <p:nvSpPr>
          <p:cNvPr id="65" name="Shape 63"/>
          <p:cNvSpPr/>
          <p:nvPr/>
        </p:nvSpPr>
        <p:spPr>
          <a:xfrm>
            <a:off x="4773168" y="3767328"/>
            <a:ext cx="347472" cy="256032"/>
          </a:xfrm>
          <a:prstGeom prst="rect">
            <a:avLst/>
          </a:prstGeom>
          <a:solidFill>
            <a:srgbClr val="6B7C8F"/>
          </a:solidFill>
          <a:ln w="12700">
            <a:solidFill>
              <a:srgbClr val="6B7C8F"/>
            </a:solidFill>
            <a:prstDash val="solid"/>
          </a:ln>
        </p:spPr>
      </p:sp>
      <p:sp>
        <p:nvSpPr>
          <p:cNvPr id="66" name="Text 64"/>
          <p:cNvSpPr/>
          <p:nvPr/>
        </p:nvSpPr>
        <p:spPr>
          <a:xfrm>
            <a:off x="4773168" y="3776472"/>
            <a:ext cx="3474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16</a:t>
            </a:r>
            <a:endParaRPr lang="en-US" sz="900" dirty="0"/>
          </a:p>
        </p:txBody>
      </p:sp>
      <p:sp>
        <p:nvSpPr>
          <p:cNvPr id="67" name="Text 65"/>
          <p:cNvSpPr/>
          <p:nvPr/>
        </p:nvSpPr>
        <p:spPr>
          <a:xfrm>
            <a:off x="5212080" y="3785616"/>
            <a:ext cx="3657600" cy="237744"/>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References</a:t>
            </a:r>
            <a:endParaRPr lang="en-US" sz="1100" dirty="0"/>
          </a:p>
        </p:txBody>
      </p:sp>
      <p:sp>
        <p:nvSpPr>
          <p:cNvPr id="68" name="Shape 66"/>
          <p:cNvSpPr/>
          <p:nvPr/>
        </p:nvSpPr>
        <p:spPr>
          <a:xfrm>
            <a:off x="4773168" y="4050792"/>
            <a:ext cx="4160520" cy="13716"/>
          </a:xfrm>
          <a:prstGeom prst="rect">
            <a:avLst/>
          </a:prstGeom>
          <a:solidFill>
            <a:srgbClr val="E8EDF4"/>
          </a:solidFill>
          <a:ln w="12700">
            <a:solidFill>
              <a:srgbClr val="E8EDF4"/>
            </a:solidFill>
            <a:prstDash val="solid"/>
          </a:ln>
        </p:spPr>
      </p:sp>
      <p:sp>
        <p:nvSpPr>
          <p:cNvPr id="69" name="Shape 67"/>
          <p:cNvSpPr/>
          <p:nvPr/>
        </p:nvSpPr>
        <p:spPr>
          <a:xfrm>
            <a:off x="4773168" y="4160520"/>
            <a:ext cx="347472" cy="256032"/>
          </a:xfrm>
          <a:prstGeom prst="rect">
            <a:avLst/>
          </a:prstGeom>
          <a:solidFill>
            <a:srgbClr val="1B3A6B"/>
          </a:solidFill>
          <a:ln w="12700">
            <a:solidFill>
              <a:srgbClr val="1B3A6B"/>
            </a:solidFill>
            <a:prstDash val="solid"/>
          </a:ln>
        </p:spPr>
      </p:sp>
      <p:sp>
        <p:nvSpPr>
          <p:cNvPr id="70" name="Text 68"/>
          <p:cNvSpPr/>
          <p:nvPr/>
        </p:nvSpPr>
        <p:spPr>
          <a:xfrm>
            <a:off x="4773168" y="4169664"/>
            <a:ext cx="34747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17</a:t>
            </a:r>
            <a:endParaRPr lang="en-US" sz="900" dirty="0"/>
          </a:p>
        </p:txBody>
      </p:sp>
      <p:sp>
        <p:nvSpPr>
          <p:cNvPr id="71" name="Text 69"/>
          <p:cNvSpPr/>
          <p:nvPr/>
        </p:nvSpPr>
        <p:spPr>
          <a:xfrm>
            <a:off x="5212080" y="4178808"/>
            <a:ext cx="3657600" cy="237744"/>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Conclusion</a:t>
            </a:r>
            <a:endParaRPr lang="en-US" sz="1100" dirty="0"/>
          </a:p>
        </p:txBody>
      </p:sp>
      <p:sp>
        <p:nvSpPr>
          <p:cNvPr id="72" name="Shape 70"/>
          <p:cNvSpPr/>
          <p:nvPr/>
        </p:nvSpPr>
        <p:spPr>
          <a:xfrm>
            <a:off x="4773168" y="4443984"/>
            <a:ext cx="4160520" cy="13716"/>
          </a:xfrm>
          <a:prstGeom prst="rect">
            <a:avLst/>
          </a:prstGeom>
          <a:solidFill>
            <a:srgbClr val="E8EDF4"/>
          </a:solidFill>
          <a:ln w="12700">
            <a:solidFill>
              <a:srgbClr val="E8EDF4"/>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8229600" cy="219456"/>
          </a:xfrm>
          <a:prstGeom prst="rect">
            <a:avLst/>
          </a:prstGeom>
          <a:noFill/>
          <a:ln/>
        </p:spPr>
        <p:txBody>
          <a:bodyPr wrap="square" lIns="0" tIns="0" rIns="0" bIns="0" rtlCol="0" anchor="ctr"/>
          <a:lstStyle/>
          <a:p>
            <a:pPr indent="0" marL="0">
              <a:buNone/>
            </a:pPr>
            <a:r>
              <a:rPr lang="en-US" sz="850" b="1" spc="250" kern="0" dirty="0">
                <a:solidFill>
                  <a:srgbClr val="B5281C"/>
                </a:solidFill>
                <a:latin typeface="Calibri" pitchFamily="34" charset="0"/>
                <a:ea typeface="Calibri" pitchFamily="34" charset="-122"/>
                <a:cs typeface="Calibri" pitchFamily="34" charset="-120"/>
              </a:rPr>
              <a:t>CHAPTER 1 — THE PROBLEM</a:t>
            </a:r>
            <a:endParaRPr lang="en-US" sz="85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000" b="1" dirty="0">
                <a:solidFill>
                  <a:srgbClr val="1B3A6B"/>
                </a:solidFill>
                <a:latin typeface="Cambria" pitchFamily="34" charset="0"/>
                <a:ea typeface="Cambria" pitchFamily="34" charset="-122"/>
                <a:cs typeface="Cambria" pitchFamily="34" charset="-120"/>
              </a:rPr>
              <a:t>Pakistan's Used Car Market Has No Fair Price Reference</a:t>
            </a:r>
            <a:endParaRPr lang="en-US" sz="3000" dirty="0"/>
          </a:p>
        </p:txBody>
      </p:sp>
      <p:sp>
        <p:nvSpPr>
          <p:cNvPr id="4" name="Shape 2"/>
          <p:cNvSpPr/>
          <p:nvPr/>
        </p:nvSpPr>
        <p:spPr>
          <a:xfrm>
            <a:off x="457200" y="1225296"/>
            <a:ext cx="8229600" cy="20117"/>
          </a:xfrm>
          <a:prstGeom prst="rect">
            <a:avLst/>
          </a:prstGeom>
          <a:solidFill>
            <a:srgbClr val="E8EDF4"/>
          </a:solidFill>
          <a:ln w="12700">
            <a:solidFill>
              <a:srgbClr val="E8EDF4"/>
            </a:solidFill>
            <a:prstDash val="solid"/>
          </a:ln>
        </p:spPr>
      </p:sp>
      <p:sp>
        <p:nvSpPr>
          <p:cNvPr id="5" name="Shape 3"/>
          <p:cNvSpPr/>
          <p:nvPr/>
        </p:nvSpPr>
        <p:spPr>
          <a:xfrm>
            <a:off x="457200" y="1389888"/>
            <a:ext cx="4160520" cy="1408176"/>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6" name="Shape 4"/>
          <p:cNvSpPr/>
          <p:nvPr/>
        </p:nvSpPr>
        <p:spPr>
          <a:xfrm>
            <a:off x="457200" y="1389888"/>
            <a:ext cx="4160520" cy="50292"/>
          </a:xfrm>
          <a:prstGeom prst="rect">
            <a:avLst/>
          </a:prstGeom>
          <a:solidFill>
            <a:srgbClr val="B5281C"/>
          </a:solidFill>
          <a:ln w="12700">
            <a:solidFill>
              <a:srgbClr val="B5281C"/>
            </a:solidFill>
            <a:prstDash val="solid"/>
          </a:ln>
        </p:spPr>
      </p:sp>
      <p:sp>
        <p:nvSpPr>
          <p:cNvPr id="7" name="Shape 5"/>
          <p:cNvSpPr/>
          <p:nvPr/>
        </p:nvSpPr>
        <p:spPr>
          <a:xfrm>
            <a:off x="457200" y="1389888"/>
            <a:ext cx="50292" cy="1408176"/>
          </a:xfrm>
          <a:prstGeom prst="rect">
            <a:avLst/>
          </a:prstGeom>
          <a:solidFill>
            <a:srgbClr val="B5281C"/>
          </a:solidFill>
          <a:ln w="12700">
            <a:solidFill>
              <a:srgbClr val="B5281C"/>
            </a:solidFill>
            <a:prstDash val="solid"/>
          </a:ln>
        </p:spPr>
      </p:sp>
      <p:sp>
        <p:nvSpPr>
          <p:cNvPr id="8" name="Text 6"/>
          <p:cNvSpPr/>
          <p:nvPr/>
        </p:nvSpPr>
        <p:spPr>
          <a:xfrm>
            <a:off x="640080" y="1499616"/>
            <a:ext cx="438912" cy="329184"/>
          </a:xfrm>
          <a:prstGeom prst="rect">
            <a:avLst/>
          </a:prstGeom>
          <a:noFill/>
          <a:ln/>
        </p:spPr>
        <p:txBody>
          <a:bodyPr wrap="square" lIns="0" tIns="0" rIns="0" bIns="0" rtlCol="0" anchor="ctr"/>
          <a:lstStyle/>
          <a:p>
            <a:pPr indent="0" marL="0">
              <a:buNone/>
            </a:pPr>
            <a:r>
              <a:rPr lang="en-US" sz="1400" b="1" dirty="0">
                <a:solidFill>
                  <a:srgbClr val="B5281C"/>
                </a:solidFill>
                <a:latin typeface="Cambria" pitchFamily="34" charset="0"/>
                <a:ea typeface="Cambria" pitchFamily="34" charset="-122"/>
                <a:cs typeface="Cambria" pitchFamily="34" charset="-120"/>
              </a:rPr>
              <a:t>01</a:t>
            </a:r>
            <a:endParaRPr lang="en-US" sz="1400" dirty="0"/>
          </a:p>
        </p:txBody>
      </p:sp>
      <p:sp>
        <p:nvSpPr>
          <p:cNvPr id="9" name="Text 7"/>
          <p:cNvSpPr/>
          <p:nvPr/>
        </p:nvSpPr>
        <p:spPr>
          <a:xfrm>
            <a:off x="1133856" y="1499616"/>
            <a:ext cx="3337560" cy="329184"/>
          </a:xfrm>
          <a:prstGeom prst="rect">
            <a:avLst/>
          </a:prstGeom>
          <a:noFill/>
          <a:ln/>
        </p:spPr>
        <p:txBody>
          <a:bodyPr wrap="square" lIns="0" tIns="0" rIns="0" bIns="0" rtlCol="0" anchor="ctr"/>
          <a:lstStyle/>
          <a:p>
            <a:pPr indent="0" marL="0">
              <a:buNone/>
            </a:pPr>
            <a:r>
              <a:rPr lang="en-US" sz="1200" b="1" dirty="0">
                <a:solidFill>
                  <a:srgbClr val="1B3A6B"/>
                </a:solidFill>
                <a:latin typeface="Calibri" pitchFamily="34" charset="0"/>
                <a:ea typeface="Calibri" pitchFamily="34" charset="-122"/>
                <a:cs typeface="Calibri" pitchFamily="34" charset="-120"/>
              </a:rPr>
              <a:t>No Reliable Pricing Tool</a:t>
            </a:r>
            <a:endParaRPr lang="en-US" sz="1200" dirty="0"/>
          </a:p>
        </p:txBody>
      </p:sp>
      <p:sp>
        <p:nvSpPr>
          <p:cNvPr id="10" name="Text 8"/>
          <p:cNvSpPr/>
          <p:nvPr/>
        </p:nvSpPr>
        <p:spPr>
          <a:xfrm>
            <a:off x="640080" y="1901952"/>
            <a:ext cx="3858768" cy="786384"/>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Buyers and sellers in Pakistan depend entirely on guesswork and negotiation. There is no data-driven reference point. Sellers name a price and buyers have no way to verify it.</a:t>
            </a:r>
            <a:endParaRPr lang="en-US" sz="950" dirty="0"/>
          </a:p>
        </p:txBody>
      </p:sp>
      <p:sp>
        <p:nvSpPr>
          <p:cNvPr id="11" name="Shape 9"/>
          <p:cNvSpPr/>
          <p:nvPr/>
        </p:nvSpPr>
        <p:spPr>
          <a:xfrm>
            <a:off x="4773168" y="1389888"/>
            <a:ext cx="4160520" cy="1408176"/>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12" name="Shape 10"/>
          <p:cNvSpPr/>
          <p:nvPr/>
        </p:nvSpPr>
        <p:spPr>
          <a:xfrm>
            <a:off x="4773168" y="1389888"/>
            <a:ext cx="4160520" cy="50292"/>
          </a:xfrm>
          <a:prstGeom prst="rect">
            <a:avLst/>
          </a:prstGeom>
          <a:solidFill>
            <a:srgbClr val="B8860B"/>
          </a:solidFill>
          <a:ln w="12700">
            <a:solidFill>
              <a:srgbClr val="B8860B"/>
            </a:solidFill>
            <a:prstDash val="solid"/>
          </a:ln>
        </p:spPr>
      </p:sp>
      <p:sp>
        <p:nvSpPr>
          <p:cNvPr id="13" name="Shape 11"/>
          <p:cNvSpPr/>
          <p:nvPr/>
        </p:nvSpPr>
        <p:spPr>
          <a:xfrm>
            <a:off x="4773168" y="1389888"/>
            <a:ext cx="50292" cy="1408176"/>
          </a:xfrm>
          <a:prstGeom prst="rect">
            <a:avLst/>
          </a:prstGeom>
          <a:solidFill>
            <a:srgbClr val="B8860B"/>
          </a:solidFill>
          <a:ln w="12700">
            <a:solidFill>
              <a:srgbClr val="B8860B"/>
            </a:solidFill>
            <a:prstDash val="solid"/>
          </a:ln>
        </p:spPr>
      </p:sp>
      <p:sp>
        <p:nvSpPr>
          <p:cNvPr id="14" name="Text 12"/>
          <p:cNvSpPr/>
          <p:nvPr/>
        </p:nvSpPr>
        <p:spPr>
          <a:xfrm>
            <a:off x="4956048" y="1499616"/>
            <a:ext cx="438912" cy="329184"/>
          </a:xfrm>
          <a:prstGeom prst="rect">
            <a:avLst/>
          </a:prstGeom>
          <a:noFill/>
          <a:ln/>
        </p:spPr>
        <p:txBody>
          <a:bodyPr wrap="square" lIns="0" tIns="0" rIns="0" bIns="0" rtlCol="0" anchor="ctr"/>
          <a:lstStyle/>
          <a:p>
            <a:pPr indent="0" marL="0">
              <a:buNone/>
            </a:pPr>
            <a:r>
              <a:rPr lang="en-US" sz="1400" b="1" dirty="0">
                <a:solidFill>
                  <a:srgbClr val="B8860B"/>
                </a:solidFill>
                <a:latin typeface="Cambria" pitchFamily="34" charset="0"/>
                <a:ea typeface="Cambria" pitchFamily="34" charset="-122"/>
                <a:cs typeface="Cambria" pitchFamily="34" charset="-120"/>
              </a:rPr>
              <a:t>02</a:t>
            </a:r>
            <a:endParaRPr lang="en-US" sz="1400" dirty="0"/>
          </a:p>
        </p:txBody>
      </p:sp>
      <p:sp>
        <p:nvSpPr>
          <p:cNvPr id="15" name="Text 13"/>
          <p:cNvSpPr/>
          <p:nvPr/>
        </p:nvSpPr>
        <p:spPr>
          <a:xfrm>
            <a:off x="5449824" y="1499616"/>
            <a:ext cx="3337560" cy="329184"/>
          </a:xfrm>
          <a:prstGeom prst="rect">
            <a:avLst/>
          </a:prstGeom>
          <a:noFill/>
          <a:ln/>
        </p:spPr>
        <p:txBody>
          <a:bodyPr wrap="square" lIns="0" tIns="0" rIns="0" bIns="0" rtlCol="0" anchor="ctr"/>
          <a:lstStyle/>
          <a:p>
            <a:pPr indent="0" marL="0">
              <a:buNone/>
            </a:pPr>
            <a:r>
              <a:rPr lang="en-US" sz="1200" b="1" dirty="0">
                <a:solidFill>
                  <a:srgbClr val="1B3A6B"/>
                </a:solidFill>
                <a:latin typeface="Calibri" pitchFamily="34" charset="0"/>
                <a:ea typeface="Calibri" pitchFamily="34" charset="-122"/>
                <a:cs typeface="Calibri" pitchFamily="34" charset="-120"/>
              </a:rPr>
              <a:t>Sellers Overprice by 30 to 50 Percent</a:t>
            </a:r>
            <a:endParaRPr lang="en-US" sz="1200" dirty="0"/>
          </a:p>
        </p:txBody>
      </p:sp>
      <p:sp>
        <p:nvSpPr>
          <p:cNvPr id="16" name="Text 14"/>
          <p:cNvSpPr/>
          <p:nvPr/>
        </p:nvSpPr>
        <p:spPr>
          <a:xfrm>
            <a:off x="4956048" y="1901952"/>
            <a:ext cx="3858768" cy="786384"/>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With no objective benchmark available, sellers inflate prices freely. Without any data reference, buyers cannot identify when they are being overcharged.</a:t>
            </a:r>
            <a:endParaRPr lang="en-US" sz="950" dirty="0"/>
          </a:p>
        </p:txBody>
      </p:sp>
      <p:sp>
        <p:nvSpPr>
          <p:cNvPr id="17" name="Shape 15"/>
          <p:cNvSpPr/>
          <p:nvPr/>
        </p:nvSpPr>
        <p:spPr>
          <a:xfrm>
            <a:off x="457200" y="2944368"/>
            <a:ext cx="4160520" cy="1408176"/>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18" name="Shape 16"/>
          <p:cNvSpPr/>
          <p:nvPr/>
        </p:nvSpPr>
        <p:spPr>
          <a:xfrm>
            <a:off x="457200" y="2944368"/>
            <a:ext cx="4160520" cy="50292"/>
          </a:xfrm>
          <a:prstGeom prst="rect">
            <a:avLst/>
          </a:prstGeom>
          <a:solidFill>
            <a:srgbClr val="5B2D8E"/>
          </a:solidFill>
          <a:ln w="12700">
            <a:solidFill>
              <a:srgbClr val="5B2D8E"/>
            </a:solidFill>
            <a:prstDash val="solid"/>
          </a:ln>
        </p:spPr>
      </p:sp>
      <p:sp>
        <p:nvSpPr>
          <p:cNvPr id="19" name="Shape 17"/>
          <p:cNvSpPr/>
          <p:nvPr/>
        </p:nvSpPr>
        <p:spPr>
          <a:xfrm>
            <a:off x="457200" y="2944368"/>
            <a:ext cx="50292" cy="1408176"/>
          </a:xfrm>
          <a:prstGeom prst="rect">
            <a:avLst/>
          </a:prstGeom>
          <a:solidFill>
            <a:srgbClr val="5B2D8E"/>
          </a:solidFill>
          <a:ln w="12700">
            <a:solidFill>
              <a:srgbClr val="5B2D8E"/>
            </a:solidFill>
            <a:prstDash val="solid"/>
          </a:ln>
        </p:spPr>
      </p:sp>
      <p:sp>
        <p:nvSpPr>
          <p:cNvPr id="20" name="Text 18"/>
          <p:cNvSpPr/>
          <p:nvPr/>
        </p:nvSpPr>
        <p:spPr>
          <a:xfrm>
            <a:off x="640080" y="3054096"/>
            <a:ext cx="438912" cy="329184"/>
          </a:xfrm>
          <a:prstGeom prst="rect">
            <a:avLst/>
          </a:prstGeom>
          <a:noFill/>
          <a:ln/>
        </p:spPr>
        <p:txBody>
          <a:bodyPr wrap="square" lIns="0" tIns="0" rIns="0" bIns="0" rtlCol="0" anchor="ctr"/>
          <a:lstStyle/>
          <a:p>
            <a:pPr indent="0" marL="0">
              <a:buNone/>
            </a:pPr>
            <a:r>
              <a:rPr lang="en-US" sz="1400" b="1" dirty="0">
                <a:solidFill>
                  <a:srgbClr val="5B2D8E"/>
                </a:solidFill>
                <a:latin typeface="Cambria" pitchFamily="34" charset="0"/>
                <a:ea typeface="Cambria" pitchFamily="34" charset="-122"/>
                <a:cs typeface="Cambria" pitchFamily="34" charset="-120"/>
              </a:rPr>
              <a:t>03</a:t>
            </a:r>
            <a:endParaRPr lang="en-US" sz="1400" dirty="0"/>
          </a:p>
        </p:txBody>
      </p:sp>
      <p:sp>
        <p:nvSpPr>
          <p:cNvPr id="21" name="Text 19"/>
          <p:cNvSpPr/>
          <p:nvPr/>
        </p:nvSpPr>
        <p:spPr>
          <a:xfrm>
            <a:off x="1133856" y="3054096"/>
            <a:ext cx="3337560" cy="329184"/>
          </a:xfrm>
          <a:prstGeom prst="rect">
            <a:avLst/>
          </a:prstGeom>
          <a:noFill/>
          <a:ln/>
        </p:spPr>
        <p:txBody>
          <a:bodyPr wrap="square" lIns="0" tIns="0" rIns="0" bIns="0" rtlCol="0" anchor="ctr"/>
          <a:lstStyle/>
          <a:p>
            <a:pPr indent="0" marL="0">
              <a:buNone/>
            </a:pPr>
            <a:r>
              <a:rPr lang="en-US" sz="1200" b="1" dirty="0">
                <a:solidFill>
                  <a:srgbClr val="1B3A6B"/>
                </a:solidFill>
                <a:latin typeface="Calibri" pitchFamily="34" charset="0"/>
                <a:ea typeface="Calibri" pitchFamily="34" charset="-122"/>
                <a:cs typeface="Calibri" pitchFamily="34" charset="-120"/>
              </a:rPr>
              <a:t>Buyers Get Cheated Regularly</a:t>
            </a:r>
            <a:endParaRPr lang="en-US" sz="1200" dirty="0"/>
          </a:p>
        </p:txBody>
      </p:sp>
      <p:sp>
        <p:nvSpPr>
          <p:cNvPr id="22" name="Text 20"/>
          <p:cNvSpPr/>
          <p:nvPr/>
        </p:nvSpPr>
        <p:spPr>
          <a:xfrm>
            <a:off x="640080" y="3456432"/>
            <a:ext cx="3858768" cy="786384"/>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Unfair deals are common, especially for first-time buyers with no experience or market knowledge. The entire process favours sellers who know the market better.</a:t>
            </a:r>
            <a:endParaRPr lang="en-US" sz="950" dirty="0"/>
          </a:p>
        </p:txBody>
      </p:sp>
      <p:sp>
        <p:nvSpPr>
          <p:cNvPr id="23" name="Shape 21"/>
          <p:cNvSpPr/>
          <p:nvPr/>
        </p:nvSpPr>
        <p:spPr>
          <a:xfrm>
            <a:off x="4773168" y="2944368"/>
            <a:ext cx="4160520" cy="1408176"/>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24" name="Shape 22"/>
          <p:cNvSpPr/>
          <p:nvPr/>
        </p:nvSpPr>
        <p:spPr>
          <a:xfrm>
            <a:off x="4773168" y="2944368"/>
            <a:ext cx="4160520" cy="50292"/>
          </a:xfrm>
          <a:prstGeom prst="rect">
            <a:avLst/>
          </a:prstGeom>
          <a:solidFill>
            <a:srgbClr val="0B6E8C"/>
          </a:solidFill>
          <a:ln w="12700">
            <a:solidFill>
              <a:srgbClr val="0B6E8C"/>
            </a:solidFill>
            <a:prstDash val="solid"/>
          </a:ln>
        </p:spPr>
      </p:sp>
      <p:sp>
        <p:nvSpPr>
          <p:cNvPr id="25" name="Shape 23"/>
          <p:cNvSpPr/>
          <p:nvPr/>
        </p:nvSpPr>
        <p:spPr>
          <a:xfrm>
            <a:off x="4773168" y="2944368"/>
            <a:ext cx="50292" cy="1408176"/>
          </a:xfrm>
          <a:prstGeom prst="rect">
            <a:avLst/>
          </a:prstGeom>
          <a:solidFill>
            <a:srgbClr val="0B6E8C"/>
          </a:solidFill>
          <a:ln w="12700">
            <a:solidFill>
              <a:srgbClr val="0B6E8C"/>
            </a:solidFill>
            <a:prstDash val="solid"/>
          </a:ln>
        </p:spPr>
      </p:sp>
      <p:sp>
        <p:nvSpPr>
          <p:cNvPr id="26" name="Text 24"/>
          <p:cNvSpPr/>
          <p:nvPr/>
        </p:nvSpPr>
        <p:spPr>
          <a:xfrm>
            <a:off x="4956048" y="3054096"/>
            <a:ext cx="438912" cy="329184"/>
          </a:xfrm>
          <a:prstGeom prst="rect">
            <a:avLst/>
          </a:prstGeom>
          <a:noFill/>
          <a:ln/>
        </p:spPr>
        <p:txBody>
          <a:bodyPr wrap="square" lIns="0" tIns="0" rIns="0" bIns="0" rtlCol="0" anchor="ctr"/>
          <a:lstStyle/>
          <a:p>
            <a:pPr indent="0" marL="0">
              <a:buNone/>
            </a:pPr>
            <a:r>
              <a:rPr lang="en-US" sz="1400" b="1" dirty="0">
                <a:solidFill>
                  <a:srgbClr val="0B6E8C"/>
                </a:solidFill>
                <a:latin typeface="Cambria" pitchFamily="34" charset="0"/>
                <a:ea typeface="Cambria" pitchFamily="34" charset="-122"/>
                <a:cs typeface="Cambria" pitchFamily="34" charset="-120"/>
              </a:rPr>
              <a:t>04</a:t>
            </a:r>
            <a:endParaRPr lang="en-US" sz="1400" dirty="0"/>
          </a:p>
        </p:txBody>
      </p:sp>
      <p:sp>
        <p:nvSpPr>
          <p:cNvPr id="27" name="Text 25"/>
          <p:cNvSpPr/>
          <p:nvPr/>
        </p:nvSpPr>
        <p:spPr>
          <a:xfrm>
            <a:off x="5449824" y="3054096"/>
            <a:ext cx="3337560" cy="329184"/>
          </a:xfrm>
          <a:prstGeom prst="rect">
            <a:avLst/>
          </a:prstGeom>
          <a:noFill/>
          <a:ln/>
        </p:spPr>
        <p:txBody>
          <a:bodyPr wrap="square" lIns="0" tIns="0" rIns="0" bIns="0" rtlCol="0" anchor="ctr"/>
          <a:lstStyle/>
          <a:p>
            <a:pPr indent="0" marL="0">
              <a:buNone/>
            </a:pPr>
            <a:r>
              <a:rPr lang="en-US" sz="1200" b="1" dirty="0">
                <a:solidFill>
                  <a:srgbClr val="1B3A6B"/>
                </a:solidFill>
                <a:latin typeface="Calibri" pitchFamily="34" charset="0"/>
                <a:ea typeface="Calibri" pitchFamily="34" charset="-122"/>
                <a:cs typeface="Calibri" pitchFamily="34" charset="-120"/>
              </a:rPr>
              <a:t>City and Brand Bias Makes Comparison Impossible</a:t>
            </a:r>
            <a:endParaRPr lang="en-US" sz="1200" dirty="0"/>
          </a:p>
        </p:txBody>
      </p:sp>
      <p:sp>
        <p:nvSpPr>
          <p:cNvPr id="28" name="Text 26"/>
          <p:cNvSpPr/>
          <p:nvPr/>
        </p:nvSpPr>
        <p:spPr>
          <a:xfrm>
            <a:off x="4956048" y="3456432"/>
            <a:ext cx="3858768" cy="786384"/>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Prices vary significantly by city, assembly type (local versus imported), brand and condition. Making a fair comparison between two listings is extremely difficult.</a:t>
            </a:r>
            <a:endParaRPr lang="en-US" sz="950" dirty="0"/>
          </a:p>
        </p:txBody>
      </p:sp>
      <p:sp>
        <p:nvSpPr>
          <p:cNvPr id="29" name="Text 27"/>
          <p:cNvSpPr/>
          <p:nvPr/>
        </p:nvSpPr>
        <p:spPr>
          <a:xfrm>
            <a:off x="457200" y="4901184"/>
            <a:ext cx="8229600" cy="182880"/>
          </a:xfrm>
          <a:prstGeom prst="rect">
            <a:avLst/>
          </a:prstGeom>
          <a:noFill/>
          <a:ln/>
        </p:spPr>
        <p:txBody>
          <a:bodyPr wrap="square" lIns="0" tIns="0" rIns="0" bIns="0" rtlCol="0" anchor="ctr"/>
          <a:lstStyle/>
          <a:p>
            <a:pPr indent="0" marL="0">
              <a:buNone/>
            </a:pPr>
            <a:r>
              <a:rPr lang="en-US" sz="800" i="1" dirty="0">
                <a:solidFill>
                  <a:srgbClr val="6B7C8F"/>
                </a:solidFill>
                <a:latin typeface="Calibri" pitchFamily="34" charset="0"/>
                <a:ea typeface="Calibri" pitchFamily="34" charset="-122"/>
                <a:cs typeface="Calibri" pitchFamily="34" charset="-120"/>
              </a:rPr>
              <a:t>AutoVal-AI addresses all four of these problems using 49,448 real OLX Pakistan listings and a Gradient Boosting model with R squared of 0.9504.</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8229600" cy="219456"/>
          </a:xfrm>
          <a:prstGeom prst="rect">
            <a:avLst/>
          </a:prstGeom>
          <a:noFill/>
          <a:ln/>
        </p:spPr>
        <p:txBody>
          <a:bodyPr wrap="square" lIns="0" tIns="0" rIns="0" bIns="0" rtlCol="0" anchor="ctr"/>
          <a:lstStyle/>
          <a:p>
            <a:pPr indent="0" marL="0">
              <a:buNone/>
            </a:pPr>
            <a:r>
              <a:rPr lang="en-US" sz="850" b="1" spc="250" kern="0" dirty="0">
                <a:solidFill>
                  <a:srgbClr val="1B3A6B"/>
                </a:solidFill>
                <a:latin typeface="Calibri" pitchFamily="34" charset="0"/>
                <a:ea typeface="Calibri" pitchFamily="34" charset="-122"/>
                <a:cs typeface="Calibri" pitchFamily="34" charset="-120"/>
              </a:rPr>
              <a:t>CHAPTER 1 — OUR SOLUTION</a:t>
            </a:r>
            <a:endParaRPr lang="en-US" sz="85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000" b="1" dirty="0">
                <a:solidFill>
                  <a:srgbClr val="1B3A6B"/>
                </a:solidFill>
                <a:latin typeface="Cambria" pitchFamily="34" charset="0"/>
                <a:ea typeface="Cambria" pitchFamily="34" charset="-122"/>
                <a:cs typeface="Cambria" pitchFamily="34" charset="-120"/>
              </a:rPr>
              <a:t>AutoVal-AI — What It Does</a:t>
            </a:r>
            <a:endParaRPr lang="en-US" sz="3000" dirty="0"/>
          </a:p>
        </p:txBody>
      </p:sp>
      <p:sp>
        <p:nvSpPr>
          <p:cNvPr id="4" name="Shape 2"/>
          <p:cNvSpPr/>
          <p:nvPr/>
        </p:nvSpPr>
        <p:spPr>
          <a:xfrm>
            <a:off x="457200" y="1225296"/>
            <a:ext cx="8229600" cy="20117"/>
          </a:xfrm>
          <a:prstGeom prst="rect">
            <a:avLst/>
          </a:prstGeom>
          <a:solidFill>
            <a:srgbClr val="E8EDF4"/>
          </a:solidFill>
          <a:ln w="12700">
            <a:solidFill>
              <a:srgbClr val="E8EDF4"/>
            </a:solidFill>
            <a:prstDash val="solid"/>
          </a:ln>
        </p:spPr>
      </p:sp>
      <p:sp>
        <p:nvSpPr>
          <p:cNvPr id="5" name="Shape 3"/>
          <p:cNvSpPr/>
          <p:nvPr/>
        </p:nvSpPr>
        <p:spPr>
          <a:xfrm>
            <a:off x="457200" y="1371600"/>
            <a:ext cx="8229600" cy="749808"/>
          </a:xfrm>
          <a:prstGeom prst="rect">
            <a:avLst/>
          </a:prstGeom>
          <a:solidFill>
            <a:srgbClr val="E6F4F8"/>
          </a:solidFill>
          <a:ln w="10160">
            <a:solidFill>
              <a:srgbClr val="0B6E8C"/>
            </a:solidFill>
            <a:prstDash val="solid"/>
          </a:ln>
          <a:effectLst>
            <a:outerShdw sx="100000" sy="100000" kx="0" ky="0" algn="bl" rotWithShape="0" blurRad="101600" dist="25400" dir="8100000">
              <a:srgbClr val="000000">
                <a:alpha val="7000"/>
              </a:srgbClr>
            </a:outerShdw>
          </a:effectLst>
        </p:spPr>
      </p:sp>
      <p:sp>
        <p:nvSpPr>
          <p:cNvPr id="6" name="Text 4"/>
          <p:cNvSpPr/>
          <p:nvPr/>
        </p:nvSpPr>
        <p:spPr>
          <a:xfrm>
            <a:off x="640080" y="1463040"/>
            <a:ext cx="1737360" cy="548640"/>
          </a:xfrm>
          <a:prstGeom prst="rect">
            <a:avLst/>
          </a:prstGeom>
          <a:noFill/>
          <a:ln/>
        </p:spPr>
        <p:txBody>
          <a:bodyPr wrap="square" lIns="0" tIns="0" rIns="0" bIns="0" rtlCol="0" anchor="ctr"/>
          <a:lstStyle/>
          <a:p>
            <a:pPr algn="ctr" indent="0" marL="0">
              <a:buNone/>
            </a:pPr>
            <a:r>
              <a:rPr lang="en-US" sz="950" dirty="0">
                <a:solidFill>
                  <a:srgbClr val="0B6E8C"/>
                </a:solidFill>
                <a:latin typeface="Calibri" pitchFamily="34" charset="0"/>
                <a:ea typeface="Calibri" pitchFamily="34" charset="-122"/>
                <a:cs typeface="Calibri" pitchFamily="34" charset="-120"/>
              </a:rPr>
              <a:t>User enters car details</a:t>
            </a:r>
            <a:endParaRPr lang="en-US" sz="950" dirty="0"/>
          </a:p>
        </p:txBody>
      </p:sp>
      <p:sp>
        <p:nvSpPr>
          <p:cNvPr id="7" name="Shape 5"/>
          <p:cNvSpPr/>
          <p:nvPr/>
        </p:nvSpPr>
        <p:spPr>
          <a:xfrm>
            <a:off x="2395728" y="1700784"/>
            <a:ext cx="320040" cy="20117"/>
          </a:xfrm>
          <a:prstGeom prst="rect">
            <a:avLst/>
          </a:prstGeom>
          <a:solidFill>
            <a:srgbClr val="0B6E8C"/>
          </a:solidFill>
          <a:ln w="12700">
            <a:solidFill>
              <a:srgbClr val="0B6E8C"/>
            </a:solidFill>
            <a:prstDash val="solid"/>
          </a:ln>
        </p:spPr>
      </p:sp>
      <p:sp>
        <p:nvSpPr>
          <p:cNvPr id="8" name="Text 6"/>
          <p:cNvSpPr/>
          <p:nvPr/>
        </p:nvSpPr>
        <p:spPr>
          <a:xfrm>
            <a:off x="2724912" y="1463040"/>
            <a:ext cx="1920240" cy="548640"/>
          </a:xfrm>
          <a:prstGeom prst="rect">
            <a:avLst/>
          </a:prstGeom>
          <a:noFill/>
          <a:ln/>
        </p:spPr>
        <p:txBody>
          <a:bodyPr wrap="square" lIns="0" tIns="0" rIns="0" bIns="0" rtlCol="0" anchor="ctr"/>
          <a:lstStyle/>
          <a:p>
            <a:pPr algn="ctr" indent="0" marL="0">
              <a:buNone/>
            </a:pPr>
            <a:r>
              <a:rPr lang="en-US" sz="950" dirty="0">
                <a:solidFill>
                  <a:srgbClr val="0B6E8C"/>
                </a:solidFill>
                <a:latin typeface="Calibri" pitchFamily="34" charset="0"/>
                <a:ea typeface="Calibri" pitchFamily="34" charset="-122"/>
                <a:cs typeface="Calibri" pitchFamily="34" charset="-120"/>
              </a:rPr>
              <a:t>JavaScript sends POST to Flask</a:t>
            </a:r>
            <a:endParaRPr lang="en-US" sz="950" dirty="0"/>
          </a:p>
        </p:txBody>
      </p:sp>
      <p:sp>
        <p:nvSpPr>
          <p:cNvPr id="9" name="Shape 7"/>
          <p:cNvSpPr/>
          <p:nvPr/>
        </p:nvSpPr>
        <p:spPr>
          <a:xfrm>
            <a:off x="4663440" y="1700784"/>
            <a:ext cx="320040" cy="20117"/>
          </a:xfrm>
          <a:prstGeom prst="rect">
            <a:avLst/>
          </a:prstGeom>
          <a:solidFill>
            <a:srgbClr val="0B6E8C"/>
          </a:solidFill>
          <a:ln w="12700">
            <a:solidFill>
              <a:srgbClr val="0B6E8C"/>
            </a:solidFill>
            <a:prstDash val="solid"/>
          </a:ln>
        </p:spPr>
      </p:sp>
      <p:sp>
        <p:nvSpPr>
          <p:cNvPr id="10" name="Text 8"/>
          <p:cNvSpPr/>
          <p:nvPr/>
        </p:nvSpPr>
        <p:spPr>
          <a:xfrm>
            <a:off x="4992624" y="1463040"/>
            <a:ext cx="1737360" cy="548640"/>
          </a:xfrm>
          <a:prstGeom prst="rect">
            <a:avLst/>
          </a:prstGeom>
          <a:noFill/>
          <a:ln/>
        </p:spPr>
        <p:txBody>
          <a:bodyPr wrap="square" lIns="0" tIns="0" rIns="0" bIns="0" rtlCol="0" anchor="ctr"/>
          <a:lstStyle/>
          <a:p>
            <a:pPr algn="ctr" indent="0" marL="0">
              <a:buNone/>
            </a:pPr>
            <a:r>
              <a:rPr lang="en-US" sz="950" dirty="0">
                <a:solidFill>
                  <a:srgbClr val="0B6E8C"/>
                </a:solidFill>
                <a:latin typeface="Calibri" pitchFamily="34" charset="0"/>
                <a:ea typeface="Calibri" pitchFamily="34" charset="-122"/>
                <a:cs typeface="Calibri" pitchFamily="34" charset="-120"/>
              </a:rPr>
              <a:t>Gradient Boosting model runs</a:t>
            </a:r>
            <a:endParaRPr lang="en-US" sz="950" dirty="0"/>
          </a:p>
        </p:txBody>
      </p:sp>
      <p:sp>
        <p:nvSpPr>
          <p:cNvPr id="11" name="Shape 9"/>
          <p:cNvSpPr/>
          <p:nvPr/>
        </p:nvSpPr>
        <p:spPr>
          <a:xfrm>
            <a:off x="6748272" y="1700784"/>
            <a:ext cx="320040" cy="20117"/>
          </a:xfrm>
          <a:prstGeom prst="rect">
            <a:avLst/>
          </a:prstGeom>
          <a:solidFill>
            <a:srgbClr val="0B6E8C"/>
          </a:solidFill>
          <a:ln w="12700">
            <a:solidFill>
              <a:srgbClr val="0B6E8C"/>
            </a:solidFill>
            <a:prstDash val="solid"/>
          </a:ln>
        </p:spPr>
      </p:sp>
      <p:sp>
        <p:nvSpPr>
          <p:cNvPr id="12" name="Text 10"/>
          <p:cNvSpPr/>
          <p:nvPr/>
        </p:nvSpPr>
        <p:spPr>
          <a:xfrm>
            <a:off x="7077456" y="1463040"/>
            <a:ext cx="1463040" cy="548640"/>
          </a:xfrm>
          <a:prstGeom prst="rect">
            <a:avLst/>
          </a:prstGeom>
          <a:noFill/>
          <a:ln/>
        </p:spPr>
        <p:txBody>
          <a:bodyPr wrap="square" lIns="0" tIns="0" rIns="0" bIns="0" rtlCol="0" anchor="ctr"/>
          <a:lstStyle/>
          <a:p>
            <a:pPr algn="ctr" indent="0" marL="0">
              <a:buNone/>
            </a:pPr>
            <a:r>
              <a:rPr lang="en-US" sz="950" dirty="0">
                <a:solidFill>
                  <a:srgbClr val="0B6E8C"/>
                </a:solidFill>
                <a:latin typeface="Calibri" pitchFamily="34" charset="0"/>
                <a:ea typeface="Calibri" pitchFamily="34" charset="-122"/>
                <a:cs typeface="Calibri" pitchFamily="34" charset="-120"/>
              </a:rPr>
              <a:t>Price returned with confidence and range</a:t>
            </a:r>
            <a:endParaRPr lang="en-US" sz="950" dirty="0"/>
          </a:p>
        </p:txBody>
      </p:sp>
      <p:sp>
        <p:nvSpPr>
          <p:cNvPr id="13" name="Shape 11"/>
          <p:cNvSpPr/>
          <p:nvPr/>
        </p:nvSpPr>
        <p:spPr>
          <a:xfrm>
            <a:off x="457200" y="2286000"/>
            <a:ext cx="2633472" cy="1152144"/>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14" name="Shape 12"/>
          <p:cNvSpPr/>
          <p:nvPr/>
        </p:nvSpPr>
        <p:spPr>
          <a:xfrm>
            <a:off x="457200" y="2286000"/>
            <a:ext cx="2633472" cy="50292"/>
          </a:xfrm>
          <a:prstGeom prst="rect">
            <a:avLst/>
          </a:prstGeom>
          <a:solidFill>
            <a:srgbClr val="1A7A4A"/>
          </a:solidFill>
          <a:ln w="12700">
            <a:solidFill>
              <a:srgbClr val="1A7A4A"/>
            </a:solidFill>
            <a:prstDash val="solid"/>
          </a:ln>
        </p:spPr>
      </p:sp>
      <p:sp>
        <p:nvSpPr>
          <p:cNvPr id="15" name="Text 13"/>
          <p:cNvSpPr/>
          <p:nvPr/>
        </p:nvSpPr>
        <p:spPr>
          <a:xfrm>
            <a:off x="621792" y="2414016"/>
            <a:ext cx="411480" cy="256032"/>
          </a:xfrm>
          <a:prstGeom prst="rect">
            <a:avLst/>
          </a:prstGeom>
          <a:noFill/>
          <a:ln/>
        </p:spPr>
        <p:txBody>
          <a:bodyPr wrap="square" lIns="0" tIns="0" rIns="0" bIns="0" rtlCol="0" anchor="ctr"/>
          <a:lstStyle/>
          <a:p>
            <a:pPr indent="0" marL="0">
              <a:buNone/>
            </a:pPr>
            <a:r>
              <a:rPr lang="en-US" sz="1000" b="1" dirty="0">
                <a:solidFill>
                  <a:srgbClr val="1A7A4A"/>
                </a:solidFill>
                <a:latin typeface="Cambria" pitchFamily="34" charset="0"/>
                <a:ea typeface="Cambria" pitchFamily="34" charset="-122"/>
                <a:cs typeface="Cambria" pitchFamily="34" charset="-120"/>
              </a:rPr>
              <a:t>01</a:t>
            </a:r>
            <a:endParaRPr lang="en-US" sz="1000" dirty="0"/>
          </a:p>
        </p:txBody>
      </p:sp>
      <p:sp>
        <p:nvSpPr>
          <p:cNvPr id="16" name="Text 14"/>
          <p:cNvSpPr/>
          <p:nvPr/>
        </p:nvSpPr>
        <p:spPr>
          <a:xfrm>
            <a:off x="621792" y="2688336"/>
            <a:ext cx="2331720" cy="292608"/>
          </a:xfrm>
          <a:prstGeom prst="rect">
            <a:avLst/>
          </a:prstGeom>
          <a:noFill/>
          <a:ln/>
        </p:spPr>
        <p:txBody>
          <a:bodyPr wrap="square" lIns="0" tIns="0" rIns="0" bIns="0" rtlCol="0" anchor="ctr"/>
          <a:lstStyle/>
          <a:p>
            <a:pPr indent="0" marL="0">
              <a:buNone/>
            </a:pPr>
            <a:r>
              <a:rPr lang="en-US" sz="1100" b="1" dirty="0">
                <a:solidFill>
                  <a:srgbClr val="1B3A6B"/>
                </a:solidFill>
                <a:latin typeface="Calibri" pitchFamily="34" charset="0"/>
                <a:ea typeface="Calibri" pitchFamily="34" charset="-122"/>
                <a:cs typeface="Calibri" pitchFamily="34" charset="-120"/>
              </a:rPr>
              <a:t>Gradient Boosting Model</a:t>
            </a:r>
            <a:endParaRPr lang="en-US" sz="1100" dirty="0"/>
          </a:p>
        </p:txBody>
      </p:sp>
      <p:sp>
        <p:nvSpPr>
          <p:cNvPr id="17" name="Text 15"/>
          <p:cNvSpPr/>
          <p:nvPr/>
        </p:nvSpPr>
        <p:spPr>
          <a:xfrm>
            <a:off x="621792" y="2999232"/>
            <a:ext cx="2331720" cy="384048"/>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R squared of 0.9504 — explains 95 percent of all car price variation in the Pakistani used car market</a:t>
            </a:r>
            <a:endParaRPr lang="en-US" sz="880" dirty="0"/>
          </a:p>
        </p:txBody>
      </p:sp>
      <p:sp>
        <p:nvSpPr>
          <p:cNvPr id="18" name="Shape 16"/>
          <p:cNvSpPr/>
          <p:nvPr/>
        </p:nvSpPr>
        <p:spPr>
          <a:xfrm>
            <a:off x="3246120" y="2286000"/>
            <a:ext cx="2633472" cy="1152144"/>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19" name="Shape 17"/>
          <p:cNvSpPr/>
          <p:nvPr/>
        </p:nvSpPr>
        <p:spPr>
          <a:xfrm>
            <a:off x="3246120" y="2286000"/>
            <a:ext cx="2633472" cy="50292"/>
          </a:xfrm>
          <a:prstGeom prst="rect">
            <a:avLst/>
          </a:prstGeom>
          <a:solidFill>
            <a:srgbClr val="1B3A6B"/>
          </a:solidFill>
          <a:ln w="12700">
            <a:solidFill>
              <a:srgbClr val="1B3A6B"/>
            </a:solidFill>
            <a:prstDash val="solid"/>
          </a:ln>
        </p:spPr>
      </p:sp>
      <p:sp>
        <p:nvSpPr>
          <p:cNvPr id="20" name="Text 18"/>
          <p:cNvSpPr/>
          <p:nvPr/>
        </p:nvSpPr>
        <p:spPr>
          <a:xfrm>
            <a:off x="3410712" y="2414016"/>
            <a:ext cx="411480" cy="256032"/>
          </a:xfrm>
          <a:prstGeom prst="rect">
            <a:avLst/>
          </a:prstGeom>
          <a:noFill/>
          <a:ln/>
        </p:spPr>
        <p:txBody>
          <a:bodyPr wrap="square" lIns="0" tIns="0" rIns="0" bIns="0" rtlCol="0" anchor="ctr"/>
          <a:lstStyle/>
          <a:p>
            <a:pPr indent="0" marL="0">
              <a:buNone/>
            </a:pPr>
            <a:r>
              <a:rPr lang="en-US" sz="1000" b="1" dirty="0">
                <a:solidFill>
                  <a:srgbClr val="1B3A6B"/>
                </a:solidFill>
                <a:latin typeface="Cambria" pitchFamily="34" charset="0"/>
                <a:ea typeface="Cambria" pitchFamily="34" charset="-122"/>
                <a:cs typeface="Cambria" pitchFamily="34" charset="-120"/>
              </a:rPr>
              <a:t>02</a:t>
            </a:r>
            <a:endParaRPr lang="en-US" sz="1000" dirty="0"/>
          </a:p>
        </p:txBody>
      </p:sp>
      <p:sp>
        <p:nvSpPr>
          <p:cNvPr id="21" name="Text 19"/>
          <p:cNvSpPr/>
          <p:nvPr/>
        </p:nvSpPr>
        <p:spPr>
          <a:xfrm>
            <a:off x="3410712" y="2688336"/>
            <a:ext cx="2331720" cy="292608"/>
          </a:xfrm>
          <a:prstGeom prst="rect">
            <a:avLst/>
          </a:prstGeom>
          <a:noFill/>
          <a:ln/>
        </p:spPr>
        <p:txBody>
          <a:bodyPr wrap="square" lIns="0" tIns="0" rIns="0" bIns="0" rtlCol="0" anchor="ctr"/>
          <a:lstStyle/>
          <a:p>
            <a:pPr indent="0" marL="0">
              <a:buNone/>
            </a:pPr>
            <a:r>
              <a:rPr lang="en-US" sz="1100" b="1" dirty="0">
                <a:solidFill>
                  <a:srgbClr val="1B3A6B"/>
                </a:solidFill>
                <a:latin typeface="Calibri" pitchFamily="34" charset="0"/>
                <a:ea typeface="Calibri" pitchFamily="34" charset="-122"/>
                <a:cs typeface="Calibri" pitchFamily="34" charset="-120"/>
              </a:rPr>
              <a:t>49,448 OLX Listings</a:t>
            </a:r>
            <a:endParaRPr lang="en-US" sz="1100" dirty="0"/>
          </a:p>
        </p:txBody>
      </p:sp>
      <p:sp>
        <p:nvSpPr>
          <p:cNvPr id="22" name="Text 20"/>
          <p:cNvSpPr/>
          <p:nvPr/>
        </p:nvSpPr>
        <p:spPr>
          <a:xfrm>
            <a:off x="3410712" y="2999232"/>
            <a:ext cx="2331720" cy="384048"/>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Trained on publicly available Kaggle dataset of real Pakistani used car listings scraped from OLX</a:t>
            </a:r>
            <a:endParaRPr lang="en-US" sz="880" dirty="0"/>
          </a:p>
        </p:txBody>
      </p:sp>
      <p:sp>
        <p:nvSpPr>
          <p:cNvPr id="23" name="Shape 21"/>
          <p:cNvSpPr/>
          <p:nvPr/>
        </p:nvSpPr>
        <p:spPr>
          <a:xfrm>
            <a:off x="6035040" y="2286000"/>
            <a:ext cx="2633472" cy="1152144"/>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24" name="Shape 22"/>
          <p:cNvSpPr/>
          <p:nvPr/>
        </p:nvSpPr>
        <p:spPr>
          <a:xfrm>
            <a:off x="6035040" y="2286000"/>
            <a:ext cx="2633472" cy="50292"/>
          </a:xfrm>
          <a:prstGeom prst="rect">
            <a:avLst/>
          </a:prstGeom>
          <a:solidFill>
            <a:srgbClr val="0B6E8C"/>
          </a:solidFill>
          <a:ln w="12700">
            <a:solidFill>
              <a:srgbClr val="0B6E8C"/>
            </a:solidFill>
            <a:prstDash val="solid"/>
          </a:ln>
        </p:spPr>
      </p:sp>
      <p:sp>
        <p:nvSpPr>
          <p:cNvPr id="25" name="Text 23"/>
          <p:cNvSpPr/>
          <p:nvPr/>
        </p:nvSpPr>
        <p:spPr>
          <a:xfrm>
            <a:off x="6199632" y="2414016"/>
            <a:ext cx="411480" cy="256032"/>
          </a:xfrm>
          <a:prstGeom prst="rect">
            <a:avLst/>
          </a:prstGeom>
          <a:noFill/>
          <a:ln/>
        </p:spPr>
        <p:txBody>
          <a:bodyPr wrap="square" lIns="0" tIns="0" rIns="0" bIns="0" rtlCol="0" anchor="ctr"/>
          <a:lstStyle/>
          <a:p>
            <a:pPr indent="0" marL="0">
              <a:buNone/>
            </a:pPr>
            <a:r>
              <a:rPr lang="en-US" sz="1000" b="1" dirty="0">
                <a:solidFill>
                  <a:srgbClr val="0B6E8C"/>
                </a:solidFill>
                <a:latin typeface="Cambria" pitchFamily="34" charset="0"/>
                <a:ea typeface="Cambria" pitchFamily="34" charset="-122"/>
                <a:cs typeface="Cambria" pitchFamily="34" charset="-120"/>
              </a:rPr>
              <a:t>03</a:t>
            </a:r>
            <a:endParaRPr lang="en-US" sz="1000" dirty="0"/>
          </a:p>
        </p:txBody>
      </p:sp>
      <p:sp>
        <p:nvSpPr>
          <p:cNvPr id="26" name="Text 24"/>
          <p:cNvSpPr/>
          <p:nvPr/>
        </p:nvSpPr>
        <p:spPr>
          <a:xfrm>
            <a:off x="6199632" y="2688336"/>
            <a:ext cx="2331720" cy="292608"/>
          </a:xfrm>
          <a:prstGeom prst="rect">
            <a:avLst/>
          </a:prstGeom>
          <a:noFill/>
          <a:ln/>
        </p:spPr>
        <p:txBody>
          <a:bodyPr wrap="square" lIns="0" tIns="0" rIns="0" bIns="0" rtlCol="0" anchor="ctr"/>
          <a:lstStyle/>
          <a:p>
            <a:pPr indent="0" marL="0">
              <a:buNone/>
            </a:pPr>
            <a:r>
              <a:rPr lang="en-US" sz="1100" b="1" dirty="0">
                <a:solidFill>
                  <a:srgbClr val="1B3A6B"/>
                </a:solidFill>
                <a:latin typeface="Calibri" pitchFamily="34" charset="0"/>
                <a:ea typeface="Calibri" pitchFamily="34" charset="-122"/>
                <a:cs typeface="Calibri" pitchFamily="34" charset="-120"/>
              </a:rPr>
              <a:t>PKR Price Prediction</a:t>
            </a:r>
            <a:endParaRPr lang="en-US" sz="1100" dirty="0"/>
          </a:p>
        </p:txBody>
      </p:sp>
      <p:sp>
        <p:nvSpPr>
          <p:cNvPr id="27" name="Text 25"/>
          <p:cNvSpPr/>
          <p:nvPr/>
        </p:nvSpPr>
        <p:spPr>
          <a:xfrm>
            <a:off x="6199632" y="2999232"/>
            <a:ext cx="2331720" cy="384048"/>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Returns predicted price, confidence percentage and price range — not just a single number</a:t>
            </a:r>
            <a:endParaRPr lang="en-US" sz="880" dirty="0"/>
          </a:p>
        </p:txBody>
      </p:sp>
      <p:sp>
        <p:nvSpPr>
          <p:cNvPr id="28" name="Shape 26"/>
          <p:cNvSpPr/>
          <p:nvPr/>
        </p:nvSpPr>
        <p:spPr>
          <a:xfrm>
            <a:off x="457200" y="3584448"/>
            <a:ext cx="2633472" cy="1152144"/>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29" name="Shape 27"/>
          <p:cNvSpPr/>
          <p:nvPr/>
        </p:nvSpPr>
        <p:spPr>
          <a:xfrm>
            <a:off x="457200" y="3584448"/>
            <a:ext cx="2633472" cy="50292"/>
          </a:xfrm>
          <a:prstGeom prst="rect">
            <a:avLst/>
          </a:prstGeom>
          <a:solidFill>
            <a:srgbClr val="B8860B"/>
          </a:solidFill>
          <a:ln w="12700">
            <a:solidFill>
              <a:srgbClr val="B8860B"/>
            </a:solidFill>
            <a:prstDash val="solid"/>
          </a:ln>
        </p:spPr>
      </p:sp>
      <p:sp>
        <p:nvSpPr>
          <p:cNvPr id="30" name="Text 28"/>
          <p:cNvSpPr/>
          <p:nvPr/>
        </p:nvSpPr>
        <p:spPr>
          <a:xfrm>
            <a:off x="621792" y="3712464"/>
            <a:ext cx="411480" cy="256032"/>
          </a:xfrm>
          <a:prstGeom prst="rect">
            <a:avLst/>
          </a:prstGeom>
          <a:noFill/>
          <a:ln/>
        </p:spPr>
        <p:txBody>
          <a:bodyPr wrap="square" lIns="0" tIns="0" rIns="0" bIns="0" rtlCol="0" anchor="ctr"/>
          <a:lstStyle/>
          <a:p>
            <a:pPr indent="0" marL="0">
              <a:buNone/>
            </a:pPr>
            <a:r>
              <a:rPr lang="en-US" sz="1000" b="1" dirty="0">
                <a:solidFill>
                  <a:srgbClr val="B8860B"/>
                </a:solidFill>
                <a:latin typeface="Cambria" pitchFamily="34" charset="0"/>
                <a:ea typeface="Cambria" pitchFamily="34" charset="-122"/>
                <a:cs typeface="Cambria" pitchFamily="34" charset="-120"/>
              </a:rPr>
              <a:t>04</a:t>
            </a:r>
            <a:endParaRPr lang="en-US" sz="1000" dirty="0"/>
          </a:p>
        </p:txBody>
      </p:sp>
      <p:sp>
        <p:nvSpPr>
          <p:cNvPr id="31" name="Text 29"/>
          <p:cNvSpPr/>
          <p:nvPr/>
        </p:nvSpPr>
        <p:spPr>
          <a:xfrm>
            <a:off x="621792" y="3986784"/>
            <a:ext cx="2331720" cy="292608"/>
          </a:xfrm>
          <a:prstGeom prst="rect">
            <a:avLst/>
          </a:prstGeom>
          <a:noFill/>
          <a:ln/>
        </p:spPr>
        <p:txBody>
          <a:bodyPr wrap="square" lIns="0" tIns="0" rIns="0" bIns="0" rtlCol="0" anchor="ctr"/>
          <a:lstStyle/>
          <a:p>
            <a:pPr indent="0" marL="0">
              <a:buNone/>
            </a:pPr>
            <a:r>
              <a:rPr lang="en-US" sz="1100" b="1" dirty="0">
                <a:solidFill>
                  <a:srgbClr val="1B3A6B"/>
                </a:solidFill>
                <a:latin typeface="Calibri" pitchFamily="34" charset="0"/>
                <a:ea typeface="Calibri" pitchFamily="34" charset="-122"/>
                <a:cs typeface="Calibri" pitchFamily="34" charset="-120"/>
              </a:rPr>
              <a:t>Flask Backend API</a:t>
            </a:r>
            <a:endParaRPr lang="en-US" sz="1100" dirty="0"/>
          </a:p>
        </p:txBody>
      </p:sp>
      <p:sp>
        <p:nvSpPr>
          <p:cNvPr id="32" name="Text 30"/>
          <p:cNvSpPr/>
          <p:nvPr/>
        </p:nvSpPr>
        <p:spPr>
          <a:xfrm>
            <a:off x="621792" y="4297680"/>
            <a:ext cx="2331720" cy="384048"/>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Single /predict endpoint receives JSON input, runs the trained model and returns the result in real time</a:t>
            </a:r>
            <a:endParaRPr lang="en-US" sz="880" dirty="0"/>
          </a:p>
        </p:txBody>
      </p:sp>
      <p:sp>
        <p:nvSpPr>
          <p:cNvPr id="33" name="Shape 31"/>
          <p:cNvSpPr/>
          <p:nvPr/>
        </p:nvSpPr>
        <p:spPr>
          <a:xfrm>
            <a:off x="3246120" y="3584448"/>
            <a:ext cx="2633472" cy="1152144"/>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34" name="Shape 32"/>
          <p:cNvSpPr/>
          <p:nvPr/>
        </p:nvSpPr>
        <p:spPr>
          <a:xfrm>
            <a:off x="3246120" y="3584448"/>
            <a:ext cx="2633472" cy="50292"/>
          </a:xfrm>
          <a:prstGeom prst="rect">
            <a:avLst/>
          </a:prstGeom>
          <a:solidFill>
            <a:srgbClr val="5B2D8E"/>
          </a:solidFill>
          <a:ln w="12700">
            <a:solidFill>
              <a:srgbClr val="5B2D8E"/>
            </a:solidFill>
            <a:prstDash val="solid"/>
          </a:ln>
        </p:spPr>
      </p:sp>
      <p:sp>
        <p:nvSpPr>
          <p:cNvPr id="35" name="Text 33"/>
          <p:cNvSpPr/>
          <p:nvPr/>
        </p:nvSpPr>
        <p:spPr>
          <a:xfrm>
            <a:off x="3410712" y="3712464"/>
            <a:ext cx="411480" cy="256032"/>
          </a:xfrm>
          <a:prstGeom prst="rect">
            <a:avLst/>
          </a:prstGeom>
          <a:noFill/>
          <a:ln/>
        </p:spPr>
        <p:txBody>
          <a:bodyPr wrap="square" lIns="0" tIns="0" rIns="0" bIns="0" rtlCol="0" anchor="ctr"/>
          <a:lstStyle/>
          <a:p>
            <a:pPr indent="0" marL="0">
              <a:buNone/>
            </a:pPr>
            <a:r>
              <a:rPr lang="en-US" sz="1000" b="1" dirty="0">
                <a:solidFill>
                  <a:srgbClr val="5B2D8E"/>
                </a:solidFill>
                <a:latin typeface="Cambria" pitchFamily="34" charset="0"/>
                <a:ea typeface="Cambria" pitchFamily="34" charset="-122"/>
                <a:cs typeface="Cambria" pitchFamily="34" charset="-120"/>
              </a:rPr>
              <a:t>05</a:t>
            </a:r>
            <a:endParaRPr lang="en-US" sz="1000" dirty="0"/>
          </a:p>
        </p:txBody>
      </p:sp>
      <p:sp>
        <p:nvSpPr>
          <p:cNvPr id="36" name="Text 34"/>
          <p:cNvSpPr/>
          <p:nvPr/>
        </p:nvSpPr>
        <p:spPr>
          <a:xfrm>
            <a:off x="3410712" y="3986784"/>
            <a:ext cx="2331720" cy="292608"/>
          </a:xfrm>
          <a:prstGeom prst="rect">
            <a:avLst/>
          </a:prstGeom>
          <a:noFill/>
          <a:ln/>
        </p:spPr>
        <p:txBody>
          <a:bodyPr wrap="square" lIns="0" tIns="0" rIns="0" bIns="0" rtlCol="0" anchor="ctr"/>
          <a:lstStyle/>
          <a:p>
            <a:pPr indent="0" marL="0">
              <a:buNone/>
            </a:pPr>
            <a:r>
              <a:rPr lang="en-US" sz="1100" b="1" dirty="0">
                <a:solidFill>
                  <a:srgbClr val="1B3A6B"/>
                </a:solidFill>
                <a:latin typeface="Calibri" pitchFamily="34" charset="0"/>
                <a:ea typeface="Calibri" pitchFamily="34" charset="-122"/>
                <a:cs typeface="Calibri" pitchFamily="34" charset="-120"/>
              </a:rPr>
              <a:t>Responsive Web Interface</a:t>
            </a:r>
            <a:endParaRPr lang="en-US" sz="1100" dirty="0"/>
          </a:p>
        </p:txBody>
      </p:sp>
      <p:sp>
        <p:nvSpPr>
          <p:cNvPr id="37" name="Text 35"/>
          <p:cNvSpPr/>
          <p:nvPr/>
        </p:nvSpPr>
        <p:spPr>
          <a:xfrm>
            <a:off x="3410712" y="4297680"/>
            <a:ext cx="2331720" cy="384048"/>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HTML5, CSS3 and JavaScript frontend tested from 320px mobile phones to 1440px desktop monitors</a:t>
            </a:r>
            <a:endParaRPr lang="en-US" sz="880" dirty="0"/>
          </a:p>
        </p:txBody>
      </p:sp>
      <p:sp>
        <p:nvSpPr>
          <p:cNvPr id="38" name="Shape 36"/>
          <p:cNvSpPr/>
          <p:nvPr/>
        </p:nvSpPr>
        <p:spPr>
          <a:xfrm>
            <a:off x="6035040" y="3584448"/>
            <a:ext cx="2633472" cy="1152144"/>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39" name="Shape 37"/>
          <p:cNvSpPr/>
          <p:nvPr/>
        </p:nvSpPr>
        <p:spPr>
          <a:xfrm>
            <a:off x="6035040" y="3584448"/>
            <a:ext cx="2633472" cy="50292"/>
          </a:xfrm>
          <a:prstGeom prst="rect">
            <a:avLst/>
          </a:prstGeom>
          <a:solidFill>
            <a:srgbClr val="B5281C"/>
          </a:solidFill>
          <a:ln w="12700">
            <a:solidFill>
              <a:srgbClr val="B5281C"/>
            </a:solidFill>
            <a:prstDash val="solid"/>
          </a:ln>
        </p:spPr>
      </p:sp>
      <p:sp>
        <p:nvSpPr>
          <p:cNvPr id="40" name="Text 38"/>
          <p:cNvSpPr/>
          <p:nvPr/>
        </p:nvSpPr>
        <p:spPr>
          <a:xfrm>
            <a:off x="6199632" y="3712464"/>
            <a:ext cx="411480" cy="256032"/>
          </a:xfrm>
          <a:prstGeom prst="rect">
            <a:avLst/>
          </a:prstGeom>
          <a:noFill/>
          <a:ln/>
        </p:spPr>
        <p:txBody>
          <a:bodyPr wrap="square" lIns="0" tIns="0" rIns="0" bIns="0" rtlCol="0" anchor="ctr"/>
          <a:lstStyle/>
          <a:p>
            <a:pPr indent="0" marL="0">
              <a:buNone/>
            </a:pPr>
            <a:r>
              <a:rPr lang="en-US" sz="1000" b="1" dirty="0">
                <a:solidFill>
                  <a:srgbClr val="B5281C"/>
                </a:solidFill>
                <a:latin typeface="Cambria" pitchFamily="34" charset="0"/>
                <a:ea typeface="Cambria" pitchFamily="34" charset="-122"/>
                <a:cs typeface="Cambria" pitchFamily="34" charset="-120"/>
              </a:rPr>
              <a:t>06</a:t>
            </a:r>
            <a:endParaRPr lang="en-US" sz="1000" dirty="0"/>
          </a:p>
        </p:txBody>
      </p:sp>
      <p:sp>
        <p:nvSpPr>
          <p:cNvPr id="41" name="Text 39"/>
          <p:cNvSpPr/>
          <p:nvPr/>
        </p:nvSpPr>
        <p:spPr>
          <a:xfrm>
            <a:off x="6199632" y="3986784"/>
            <a:ext cx="2331720" cy="292608"/>
          </a:xfrm>
          <a:prstGeom prst="rect">
            <a:avLst/>
          </a:prstGeom>
          <a:noFill/>
          <a:ln/>
        </p:spPr>
        <p:txBody>
          <a:bodyPr wrap="square" lIns="0" tIns="0" rIns="0" bIns="0" rtlCol="0" anchor="ctr"/>
          <a:lstStyle/>
          <a:p>
            <a:pPr indent="0" marL="0">
              <a:buNone/>
            </a:pPr>
            <a:r>
              <a:rPr lang="en-US" sz="1100" b="1" dirty="0">
                <a:solidFill>
                  <a:srgbClr val="1B3A6B"/>
                </a:solidFill>
                <a:latin typeface="Calibri" pitchFamily="34" charset="0"/>
                <a:ea typeface="Calibri" pitchFamily="34" charset="-122"/>
                <a:cs typeface="Calibri" pitchFamily="34" charset="-120"/>
              </a:rPr>
              <a:t>Privacy by Design</a:t>
            </a:r>
            <a:endParaRPr lang="en-US" sz="1100" dirty="0"/>
          </a:p>
        </p:txBody>
      </p:sp>
      <p:sp>
        <p:nvSpPr>
          <p:cNvPr id="42" name="Text 40"/>
          <p:cNvSpPr/>
          <p:nvPr/>
        </p:nvSpPr>
        <p:spPr>
          <a:xfrm>
            <a:off x="6199632" y="4297680"/>
            <a:ext cx="2331720" cy="384048"/>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No user data is collected, stored or logged at any point. Prediction input is processed and immediately discarded</a:t>
            </a:r>
            <a:endParaRPr lang="en-US" sz="8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8229600" cy="219456"/>
          </a:xfrm>
          <a:prstGeom prst="rect">
            <a:avLst/>
          </a:prstGeom>
          <a:noFill/>
          <a:ln/>
        </p:spPr>
        <p:txBody>
          <a:bodyPr wrap="square" lIns="0" tIns="0" rIns="0" bIns="0" rtlCol="0" anchor="ctr"/>
          <a:lstStyle/>
          <a:p>
            <a:pPr indent="0" marL="0">
              <a:buNone/>
            </a:pPr>
            <a:r>
              <a:rPr lang="en-US" sz="850" b="1" spc="250" kern="0" dirty="0">
                <a:solidFill>
                  <a:srgbClr val="1B3A6B"/>
                </a:solidFill>
                <a:latin typeface="Calibri" pitchFamily="34" charset="0"/>
                <a:ea typeface="Calibri" pitchFamily="34" charset="-122"/>
                <a:cs typeface="Calibri" pitchFamily="34" charset="-120"/>
              </a:rPr>
              <a:t>CHAPTER 2 — TEAM WORKING</a:t>
            </a:r>
            <a:endParaRPr lang="en-US" sz="85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000" b="1" dirty="0">
                <a:solidFill>
                  <a:srgbClr val="1B3A6B"/>
                </a:solidFill>
                <a:latin typeface="Cambria" pitchFamily="34" charset="0"/>
                <a:ea typeface="Cambria" pitchFamily="34" charset="-122"/>
                <a:cs typeface="Cambria" pitchFamily="34" charset="-120"/>
              </a:rPr>
              <a:t>Team A02 — Roles and Belbin Framework</a:t>
            </a:r>
            <a:endParaRPr lang="en-US" sz="3000" dirty="0"/>
          </a:p>
        </p:txBody>
      </p:sp>
      <p:sp>
        <p:nvSpPr>
          <p:cNvPr id="4" name="Shape 2"/>
          <p:cNvSpPr/>
          <p:nvPr/>
        </p:nvSpPr>
        <p:spPr>
          <a:xfrm>
            <a:off x="457200" y="1225296"/>
            <a:ext cx="8229600" cy="20117"/>
          </a:xfrm>
          <a:prstGeom prst="rect">
            <a:avLst/>
          </a:prstGeom>
          <a:solidFill>
            <a:srgbClr val="E8EDF4"/>
          </a:solidFill>
          <a:ln w="12700">
            <a:solidFill>
              <a:srgbClr val="E8EDF4"/>
            </a:solidFill>
            <a:prstDash val="solid"/>
          </a:ln>
        </p:spPr>
      </p:sp>
      <p:sp>
        <p:nvSpPr>
          <p:cNvPr id="5" name="Shape 3"/>
          <p:cNvSpPr/>
          <p:nvPr/>
        </p:nvSpPr>
        <p:spPr>
          <a:xfrm>
            <a:off x="457200" y="1371600"/>
            <a:ext cx="1965960" cy="3639312"/>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6" name="Shape 4"/>
          <p:cNvSpPr/>
          <p:nvPr/>
        </p:nvSpPr>
        <p:spPr>
          <a:xfrm>
            <a:off x="457200" y="1371600"/>
            <a:ext cx="1965960" cy="50292"/>
          </a:xfrm>
          <a:prstGeom prst="rect">
            <a:avLst/>
          </a:prstGeom>
          <a:solidFill>
            <a:srgbClr val="1B3A6B"/>
          </a:solidFill>
          <a:ln w="12700">
            <a:solidFill>
              <a:srgbClr val="1B3A6B"/>
            </a:solidFill>
            <a:prstDash val="solid"/>
          </a:ln>
        </p:spPr>
      </p:sp>
      <p:sp>
        <p:nvSpPr>
          <p:cNvPr id="7" name="Shape 5"/>
          <p:cNvSpPr/>
          <p:nvPr/>
        </p:nvSpPr>
        <p:spPr>
          <a:xfrm>
            <a:off x="457200" y="1421892"/>
            <a:ext cx="1965960" cy="658368"/>
          </a:xfrm>
          <a:prstGeom prst="rect">
            <a:avLst/>
          </a:prstGeom>
          <a:solidFill>
            <a:srgbClr val="1B3A6B"/>
          </a:solidFill>
          <a:ln w="12700">
            <a:solidFill>
              <a:srgbClr val="1B3A6B"/>
            </a:solidFill>
            <a:prstDash val="solid"/>
          </a:ln>
        </p:spPr>
      </p:sp>
      <p:sp>
        <p:nvSpPr>
          <p:cNvPr id="8" name="Shape 6"/>
          <p:cNvSpPr/>
          <p:nvPr/>
        </p:nvSpPr>
        <p:spPr>
          <a:xfrm>
            <a:off x="1115568" y="1481328"/>
            <a:ext cx="640080" cy="640080"/>
          </a:xfrm>
          <a:prstGeom prst="ellipse">
            <a:avLst/>
          </a:prstGeom>
          <a:solidFill>
            <a:srgbClr val="FFFFFF"/>
          </a:solidFill>
          <a:ln w="12700">
            <a:solidFill>
              <a:srgbClr val="FFFFFF"/>
            </a:solidFill>
            <a:prstDash val="solid"/>
          </a:ln>
        </p:spPr>
      </p:sp>
      <p:sp>
        <p:nvSpPr>
          <p:cNvPr id="9" name="Text 7"/>
          <p:cNvSpPr/>
          <p:nvPr/>
        </p:nvSpPr>
        <p:spPr>
          <a:xfrm>
            <a:off x="1115568" y="1536192"/>
            <a:ext cx="64008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a:t>
            </a:r>
            <a:endParaRPr lang="en-US" sz="1600" dirty="0"/>
          </a:p>
        </p:txBody>
      </p:sp>
      <p:sp>
        <p:nvSpPr>
          <p:cNvPr id="10" name="Text 8"/>
          <p:cNvSpPr/>
          <p:nvPr/>
        </p:nvSpPr>
        <p:spPr>
          <a:xfrm>
            <a:off x="1115568" y="1517904"/>
            <a:ext cx="640080" cy="512064"/>
          </a:xfrm>
          <a:prstGeom prst="rect">
            <a:avLst/>
          </a:prstGeom>
          <a:noFill/>
          <a:ln/>
        </p:spPr>
        <p:txBody>
          <a:bodyPr wrap="square" lIns="0" tIns="0" rIns="0" bIns="0" rtlCol="0" anchor="ctr"/>
          <a:lstStyle/>
          <a:p>
            <a:pPr algn="ctr" indent="0" marL="0">
              <a:buNone/>
            </a:pPr>
            <a:r>
              <a:rPr lang="en-US" sz="1500" b="1" dirty="0">
                <a:solidFill>
                  <a:srgbClr val="1B3A6B"/>
                </a:solidFill>
                <a:latin typeface="Cambria" pitchFamily="34" charset="0"/>
                <a:ea typeface="Cambria" pitchFamily="34" charset="-122"/>
                <a:cs typeface="Cambria" pitchFamily="34" charset="-120"/>
              </a:rPr>
              <a:t>AA</a:t>
            </a:r>
            <a:endParaRPr lang="en-US" sz="1500" dirty="0"/>
          </a:p>
        </p:txBody>
      </p:sp>
      <p:sp>
        <p:nvSpPr>
          <p:cNvPr id="11" name="Text 9"/>
          <p:cNvSpPr/>
          <p:nvPr/>
        </p:nvSpPr>
        <p:spPr>
          <a:xfrm>
            <a:off x="548640" y="2121408"/>
            <a:ext cx="1783080" cy="310896"/>
          </a:xfrm>
          <a:prstGeom prst="rect">
            <a:avLst/>
          </a:prstGeom>
          <a:noFill/>
          <a:ln/>
        </p:spPr>
        <p:txBody>
          <a:bodyPr wrap="square" lIns="0" tIns="0" rIns="0" bIns="0" rtlCol="0" anchor="ctr"/>
          <a:lstStyle/>
          <a:p>
            <a:pPr indent="0" marL="0">
              <a:buNone/>
            </a:pPr>
            <a:r>
              <a:rPr lang="en-US" sz="1050" b="1" dirty="0">
                <a:solidFill>
                  <a:srgbClr val="1B3A6B"/>
                </a:solidFill>
                <a:latin typeface="Calibri" pitchFamily="34" charset="0"/>
                <a:ea typeface="Calibri" pitchFamily="34" charset="-122"/>
                <a:cs typeface="Calibri" pitchFamily="34" charset="-120"/>
              </a:rPr>
              <a:t>Areesha Aqeel</a:t>
            </a:r>
            <a:endParaRPr lang="en-US" sz="1050" dirty="0"/>
          </a:p>
        </p:txBody>
      </p:sp>
      <p:sp>
        <p:nvSpPr>
          <p:cNvPr id="12" name="Text 10"/>
          <p:cNvSpPr/>
          <p:nvPr/>
        </p:nvSpPr>
        <p:spPr>
          <a:xfrm>
            <a:off x="548640" y="2432304"/>
            <a:ext cx="1783080" cy="347472"/>
          </a:xfrm>
          <a:prstGeom prst="rect">
            <a:avLst/>
          </a:prstGeom>
          <a:noFill/>
          <a:ln/>
        </p:spPr>
        <p:txBody>
          <a:bodyPr wrap="square" lIns="0" tIns="0" rIns="0" bIns="0" rtlCol="0" anchor="ctr"/>
          <a:lstStyle/>
          <a:p>
            <a:pPr indent="0" marL="0">
              <a:buNone/>
            </a:pPr>
            <a:r>
              <a:rPr lang="en-US" sz="900" b="1" dirty="0">
                <a:solidFill>
                  <a:srgbClr val="1B3A6B"/>
                </a:solidFill>
                <a:latin typeface="Calibri" pitchFamily="34" charset="0"/>
                <a:ea typeface="Calibri" pitchFamily="34" charset="-122"/>
                <a:cs typeface="Calibri" pitchFamily="34" charset="-120"/>
              </a:rPr>
              <a:t>Scrum Master</a:t>
            </a:r>
            <a:endParaRPr lang="en-US" sz="900" dirty="0"/>
          </a:p>
          <a:p>
            <a:pPr indent="0" marL="0">
              <a:buNone/>
            </a:pPr>
            <a:r>
              <a:rPr lang="en-US" sz="900" b="1" dirty="0">
                <a:solidFill>
                  <a:srgbClr val="1B3A6B"/>
                </a:solidFill>
                <a:latin typeface="Calibri" pitchFamily="34" charset="0"/>
                <a:ea typeface="Calibri" pitchFamily="34" charset="-122"/>
                <a:cs typeface="Calibri" pitchFamily="34" charset="-120"/>
              </a:rPr>
              <a:t>Project Lead</a:t>
            </a:r>
            <a:endParaRPr lang="en-US" sz="900" dirty="0"/>
          </a:p>
        </p:txBody>
      </p:sp>
      <p:sp>
        <p:nvSpPr>
          <p:cNvPr id="13" name="Shape 11"/>
          <p:cNvSpPr/>
          <p:nvPr/>
        </p:nvSpPr>
        <p:spPr>
          <a:xfrm>
            <a:off x="548640" y="2834640"/>
            <a:ext cx="1783080" cy="237744"/>
          </a:xfrm>
          <a:prstGeom prst="rect">
            <a:avLst/>
          </a:prstGeom>
          <a:solidFill>
            <a:srgbClr val="F4F6F9"/>
          </a:solidFill>
          <a:ln w="12700">
            <a:solidFill>
              <a:srgbClr val="F4F6F9"/>
            </a:solidFill>
            <a:prstDash val="solid"/>
          </a:ln>
        </p:spPr>
      </p:sp>
      <p:sp>
        <p:nvSpPr>
          <p:cNvPr id="14" name="Text 12"/>
          <p:cNvSpPr/>
          <p:nvPr/>
        </p:nvSpPr>
        <p:spPr>
          <a:xfrm>
            <a:off x="585216" y="2834640"/>
            <a:ext cx="1737360" cy="237744"/>
          </a:xfrm>
          <a:prstGeom prst="rect">
            <a:avLst/>
          </a:prstGeom>
          <a:noFill/>
          <a:ln/>
        </p:spPr>
        <p:txBody>
          <a:bodyPr wrap="square" lIns="0" tIns="0" rIns="0" bIns="0" rtlCol="0" anchor="ctr"/>
          <a:lstStyle/>
          <a:p>
            <a:pPr indent="0" marL="0">
              <a:buNone/>
            </a:pPr>
            <a:r>
              <a:rPr lang="en-US" sz="750" b="1" dirty="0">
                <a:solidFill>
                  <a:srgbClr val="1B3A6B"/>
                </a:solidFill>
                <a:latin typeface="Calibri" pitchFamily="34" charset="0"/>
                <a:ea typeface="Calibri" pitchFamily="34" charset="-122"/>
                <a:cs typeface="Calibri" pitchFamily="34" charset="-120"/>
              </a:rPr>
              <a:t>Coordinator and Shaper</a:t>
            </a:r>
            <a:endParaRPr lang="en-US" sz="750" dirty="0"/>
          </a:p>
        </p:txBody>
      </p:sp>
      <p:sp>
        <p:nvSpPr>
          <p:cNvPr id="15" name="Text 13"/>
          <p:cNvSpPr/>
          <p:nvPr/>
        </p:nvSpPr>
        <p:spPr>
          <a:xfrm>
            <a:off x="548640" y="3145536"/>
            <a:ext cx="1783080" cy="658368"/>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Kept team focused, drove deadlines, ran all sprint planning, reviews and retrospectives. When momentum was lost, Areesha got things moving again.</a:t>
            </a:r>
            <a:endParaRPr lang="en-US" sz="800" dirty="0"/>
          </a:p>
        </p:txBody>
      </p:sp>
      <p:sp>
        <p:nvSpPr>
          <p:cNvPr id="16" name="Shape 14"/>
          <p:cNvSpPr/>
          <p:nvPr/>
        </p:nvSpPr>
        <p:spPr>
          <a:xfrm>
            <a:off x="548640" y="3822192"/>
            <a:ext cx="1783080" cy="16459"/>
          </a:xfrm>
          <a:prstGeom prst="rect">
            <a:avLst/>
          </a:prstGeom>
          <a:solidFill>
            <a:srgbClr val="E8EDF4"/>
          </a:solidFill>
          <a:ln w="12700">
            <a:solidFill>
              <a:srgbClr val="E8EDF4"/>
            </a:solidFill>
            <a:prstDash val="solid"/>
          </a:ln>
        </p:spPr>
      </p:sp>
      <p:sp>
        <p:nvSpPr>
          <p:cNvPr id="17" name="Text 15"/>
          <p:cNvSpPr/>
          <p:nvPr/>
        </p:nvSpPr>
        <p:spPr>
          <a:xfrm>
            <a:off x="548640" y="3858768"/>
            <a:ext cx="1783080" cy="804672"/>
          </a:xfrm>
          <a:prstGeom prst="rect">
            <a:avLst/>
          </a:prstGeom>
          <a:noFill/>
          <a:ln/>
        </p:spPr>
        <p:txBody>
          <a:bodyPr wrap="square" lIns="0" tIns="0" rIns="0" bIns="0" rtlCol="0" anchor="ctr"/>
          <a:lstStyle/>
          <a:p>
            <a:pPr indent="0" marL="0">
              <a:buNone/>
            </a:pPr>
            <a:r>
              <a:rPr lang="en-US" sz="750" dirty="0">
                <a:solidFill>
                  <a:srgbClr val="6B7C8F"/>
                </a:solidFill>
                <a:latin typeface="Calibri" pitchFamily="34" charset="0"/>
                <a:ea typeface="Calibri" pitchFamily="34" charset="-122"/>
                <a:cs typeface="Calibri" pitchFamily="34" charset="-120"/>
              </a:rPr>
              <a:t>Sprint ceremonies, Jira management (all 54 tasks), project proposal, README, Introduction chapter, compiled full team report.</a:t>
            </a:r>
            <a:endParaRPr lang="en-US" sz="750" dirty="0"/>
          </a:p>
        </p:txBody>
      </p:sp>
      <p:sp>
        <p:nvSpPr>
          <p:cNvPr id="18" name="Shape 16"/>
          <p:cNvSpPr/>
          <p:nvPr/>
        </p:nvSpPr>
        <p:spPr>
          <a:xfrm>
            <a:off x="2560320" y="1371600"/>
            <a:ext cx="1965960" cy="3639312"/>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19" name="Shape 17"/>
          <p:cNvSpPr/>
          <p:nvPr/>
        </p:nvSpPr>
        <p:spPr>
          <a:xfrm>
            <a:off x="2560320" y="1371600"/>
            <a:ext cx="1965960" cy="50292"/>
          </a:xfrm>
          <a:prstGeom prst="rect">
            <a:avLst/>
          </a:prstGeom>
          <a:solidFill>
            <a:srgbClr val="0B6E8C"/>
          </a:solidFill>
          <a:ln w="12700">
            <a:solidFill>
              <a:srgbClr val="0B6E8C"/>
            </a:solidFill>
            <a:prstDash val="solid"/>
          </a:ln>
        </p:spPr>
      </p:sp>
      <p:sp>
        <p:nvSpPr>
          <p:cNvPr id="20" name="Shape 18"/>
          <p:cNvSpPr/>
          <p:nvPr/>
        </p:nvSpPr>
        <p:spPr>
          <a:xfrm>
            <a:off x="2560320" y="1421892"/>
            <a:ext cx="1965960" cy="658368"/>
          </a:xfrm>
          <a:prstGeom prst="rect">
            <a:avLst/>
          </a:prstGeom>
          <a:solidFill>
            <a:srgbClr val="0B6E8C"/>
          </a:solidFill>
          <a:ln w="12700">
            <a:solidFill>
              <a:srgbClr val="0B6E8C"/>
            </a:solidFill>
            <a:prstDash val="solid"/>
          </a:ln>
        </p:spPr>
      </p:sp>
      <p:sp>
        <p:nvSpPr>
          <p:cNvPr id="21" name="Shape 19"/>
          <p:cNvSpPr/>
          <p:nvPr/>
        </p:nvSpPr>
        <p:spPr>
          <a:xfrm>
            <a:off x="3218688" y="1481328"/>
            <a:ext cx="640080" cy="640080"/>
          </a:xfrm>
          <a:prstGeom prst="ellipse">
            <a:avLst/>
          </a:prstGeom>
          <a:solidFill>
            <a:srgbClr val="FFFFFF"/>
          </a:solidFill>
          <a:ln w="12700">
            <a:solidFill>
              <a:srgbClr val="FFFFFF"/>
            </a:solidFill>
            <a:prstDash val="solid"/>
          </a:ln>
        </p:spPr>
      </p:sp>
      <p:sp>
        <p:nvSpPr>
          <p:cNvPr id="22" name="Text 20"/>
          <p:cNvSpPr/>
          <p:nvPr/>
        </p:nvSpPr>
        <p:spPr>
          <a:xfrm>
            <a:off x="3218688" y="1536192"/>
            <a:ext cx="64008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HA</a:t>
            </a:r>
            <a:endParaRPr lang="en-US" sz="1600" dirty="0"/>
          </a:p>
        </p:txBody>
      </p:sp>
      <p:sp>
        <p:nvSpPr>
          <p:cNvPr id="23" name="Text 21"/>
          <p:cNvSpPr/>
          <p:nvPr/>
        </p:nvSpPr>
        <p:spPr>
          <a:xfrm>
            <a:off x="3218688" y="1517904"/>
            <a:ext cx="640080" cy="512064"/>
          </a:xfrm>
          <a:prstGeom prst="rect">
            <a:avLst/>
          </a:prstGeom>
          <a:noFill/>
          <a:ln/>
        </p:spPr>
        <p:txBody>
          <a:bodyPr wrap="square" lIns="0" tIns="0" rIns="0" bIns="0" rtlCol="0" anchor="ctr"/>
          <a:lstStyle/>
          <a:p>
            <a:pPr algn="ctr" indent="0" marL="0">
              <a:buNone/>
            </a:pPr>
            <a:r>
              <a:rPr lang="en-US" sz="1500" b="1" dirty="0">
                <a:solidFill>
                  <a:srgbClr val="0B6E8C"/>
                </a:solidFill>
                <a:latin typeface="Cambria" pitchFamily="34" charset="0"/>
                <a:ea typeface="Cambria" pitchFamily="34" charset="-122"/>
                <a:cs typeface="Cambria" pitchFamily="34" charset="-120"/>
              </a:rPr>
              <a:t>HA</a:t>
            </a:r>
            <a:endParaRPr lang="en-US" sz="1500" dirty="0"/>
          </a:p>
        </p:txBody>
      </p:sp>
      <p:sp>
        <p:nvSpPr>
          <p:cNvPr id="24" name="Text 22"/>
          <p:cNvSpPr/>
          <p:nvPr/>
        </p:nvSpPr>
        <p:spPr>
          <a:xfrm>
            <a:off x="2651760" y="2121408"/>
            <a:ext cx="1783080" cy="310896"/>
          </a:xfrm>
          <a:prstGeom prst="rect">
            <a:avLst/>
          </a:prstGeom>
          <a:noFill/>
          <a:ln/>
        </p:spPr>
        <p:txBody>
          <a:bodyPr wrap="square" lIns="0" tIns="0" rIns="0" bIns="0" rtlCol="0" anchor="ctr"/>
          <a:lstStyle/>
          <a:p>
            <a:pPr indent="0" marL="0">
              <a:buNone/>
            </a:pPr>
            <a:r>
              <a:rPr lang="en-US" sz="1050" b="1" dirty="0">
                <a:solidFill>
                  <a:srgbClr val="1B3A6B"/>
                </a:solidFill>
                <a:latin typeface="Calibri" pitchFamily="34" charset="0"/>
                <a:ea typeface="Calibri" pitchFamily="34" charset="-122"/>
                <a:cs typeface="Calibri" pitchFamily="34" charset="-120"/>
              </a:rPr>
              <a:t>Hasan Ali Khan</a:t>
            </a:r>
            <a:endParaRPr lang="en-US" sz="1050" dirty="0"/>
          </a:p>
        </p:txBody>
      </p:sp>
      <p:sp>
        <p:nvSpPr>
          <p:cNvPr id="25" name="Text 23"/>
          <p:cNvSpPr/>
          <p:nvPr/>
        </p:nvSpPr>
        <p:spPr>
          <a:xfrm>
            <a:off x="2651760" y="2432304"/>
            <a:ext cx="1783080" cy="347472"/>
          </a:xfrm>
          <a:prstGeom prst="rect">
            <a:avLst/>
          </a:prstGeom>
          <a:noFill/>
          <a:ln/>
        </p:spPr>
        <p:txBody>
          <a:bodyPr wrap="square" lIns="0" tIns="0" rIns="0" bIns="0" rtlCol="0" anchor="ctr"/>
          <a:lstStyle/>
          <a:p>
            <a:pPr indent="0" marL="0">
              <a:buNone/>
            </a:pPr>
            <a:r>
              <a:rPr lang="en-US" sz="900" b="1" dirty="0">
                <a:solidFill>
                  <a:srgbClr val="0B6E8C"/>
                </a:solidFill>
                <a:latin typeface="Calibri" pitchFamily="34" charset="0"/>
                <a:ea typeface="Calibri" pitchFamily="34" charset="-122"/>
                <a:cs typeface="Calibri" pitchFamily="34" charset="-120"/>
              </a:rPr>
              <a:t>ML and AI Engineer</a:t>
            </a:r>
            <a:endParaRPr lang="en-US" sz="900" dirty="0"/>
          </a:p>
        </p:txBody>
      </p:sp>
      <p:sp>
        <p:nvSpPr>
          <p:cNvPr id="26" name="Shape 24"/>
          <p:cNvSpPr/>
          <p:nvPr/>
        </p:nvSpPr>
        <p:spPr>
          <a:xfrm>
            <a:off x="2651760" y="2834640"/>
            <a:ext cx="1783080" cy="237744"/>
          </a:xfrm>
          <a:prstGeom prst="rect">
            <a:avLst/>
          </a:prstGeom>
          <a:solidFill>
            <a:srgbClr val="F4F6F9"/>
          </a:solidFill>
          <a:ln w="12700">
            <a:solidFill>
              <a:srgbClr val="F4F6F9"/>
            </a:solidFill>
            <a:prstDash val="solid"/>
          </a:ln>
        </p:spPr>
      </p:sp>
      <p:sp>
        <p:nvSpPr>
          <p:cNvPr id="27" name="Text 25"/>
          <p:cNvSpPr/>
          <p:nvPr/>
        </p:nvSpPr>
        <p:spPr>
          <a:xfrm>
            <a:off x="2688336" y="2834640"/>
            <a:ext cx="1737360" cy="237744"/>
          </a:xfrm>
          <a:prstGeom prst="rect">
            <a:avLst/>
          </a:prstGeom>
          <a:noFill/>
          <a:ln/>
        </p:spPr>
        <p:txBody>
          <a:bodyPr wrap="square" lIns="0" tIns="0" rIns="0" bIns="0" rtlCol="0" anchor="ctr"/>
          <a:lstStyle/>
          <a:p>
            <a:pPr indent="0" marL="0">
              <a:buNone/>
            </a:pPr>
            <a:r>
              <a:rPr lang="en-US" sz="750" b="1" dirty="0">
                <a:solidFill>
                  <a:srgbClr val="0B6E8C"/>
                </a:solidFill>
                <a:latin typeface="Calibri" pitchFamily="34" charset="0"/>
                <a:ea typeface="Calibri" pitchFamily="34" charset="-122"/>
                <a:cs typeface="Calibri" pitchFamily="34" charset="-120"/>
              </a:rPr>
              <a:t>Specialist and Implementer</a:t>
            </a:r>
            <a:endParaRPr lang="en-US" sz="750" dirty="0"/>
          </a:p>
        </p:txBody>
      </p:sp>
      <p:sp>
        <p:nvSpPr>
          <p:cNvPr id="28" name="Text 26"/>
          <p:cNvSpPr/>
          <p:nvPr/>
        </p:nvSpPr>
        <p:spPr>
          <a:xfrm>
            <a:off x="2651760" y="3145536"/>
            <a:ext cx="1783080" cy="658368"/>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Brought machine learning expertise the rest of the team did not have. Consistently reliable — when Hasan committed to a sprint deadline, it was met.</a:t>
            </a:r>
            <a:endParaRPr lang="en-US" sz="800" dirty="0"/>
          </a:p>
        </p:txBody>
      </p:sp>
      <p:sp>
        <p:nvSpPr>
          <p:cNvPr id="29" name="Shape 27"/>
          <p:cNvSpPr/>
          <p:nvPr/>
        </p:nvSpPr>
        <p:spPr>
          <a:xfrm>
            <a:off x="2651760" y="3822192"/>
            <a:ext cx="1783080" cy="16459"/>
          </a:xfrm>
          <a:prstGeom prst="rect">
            <a:avLst/>
          </a:prstGeom>
          <a:solidFill>
            <a:srgbClr val="E8EDF4"/>
          </a:solidFill>
          <a:ln w="12700">
            <a:solidFill>
              <a:srgbClr val="E8EDF4"/>
            </a:solidFill>
            <a:prstDash val="solid"/>
          </a:ln>
        </p:spPr>
      </p:sp>
      <p:sp>
        <p:nvSpPr>
          <p:cNvPr id="30" name="Text 28"/>
          <p:cNvSpPr/>
          <p:nvPr/>
        </p:nvSpPr>
        <p:spPr>
          <a:xfrm>
            <a:off x="2651760" y="3858768"/>
            <a:ext cx="1783080" cy="804672"/>
          </a:xfrm>
          <a:prstGeom prst="rect">
            <a:avLst/>
          </a:prstGeom>
          <a:noFill/>
          <a:ln/>
        </p:spPr>
        <p:txBody>
          <a:bodyPr wrap="square" lIns="0" tIns="0" rIns="0" bIns="0" rtlCol="0" anchor="ctr"/>
          <a:lstStyle/>
          <a:p>
            <a:pPr indent="0" marL="0">
              <a:buNone/>
            </a:pPr>
            <a:r>
              <a:rPr lang="en-US" sz="750" dirty="0">
                <a:solidFill>
                  <a:srgbClr val="6B7C8F"/>
                </a:solidFill>
                <a:latin typeface="Calibri" pitchFamily="34" charset="0"/>
                <a:ea typeface="Calibri" pitchFamily="34" charset="-122"/>
                <a:cs typeface="Calibri" pitchFamily="34" charset="-120"/>
              </a:rPr>
              <a:t>Trained all 3 ML models, EDA analysis, feature engineering, built Flask API with /predict endpoint, integrated all model artifacts.</a:t>
            </a:r>
            <a:endParaRPr lang="en-US" sz="750" dirty="0"/>
          </a:p>
        </p:txBody>
      </p:sp>
      <p:sp>
        <p:nvSpPr>
          <p:cNvPr id="31" name="Shape 29"/>
          <p:cNvSpPr/>
          <p:nvPr/>
        </p:nvSpPr>
        <p:spPr>
          <a:xfrm>
            <a:off x="4663440" y="1371600"/>
            <a:ext cx="1965960" cy="3639312"/>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32" name="Shape 30"/>
          <p:cNvSpPr/>
          <p:nvPr/>
        </p:nvSpPr>
        <p:spPr>
          <a:xfrm>
            <a:off x="4663440" y="1371600"/>
            <a:ext cx="1965960" cy="50292"/>
          </a:xfrm>
          <a:prstGeom prst="rect">
            <a:avLst/>
          </a:prstGeom>
          <a:solidFill>
            <a:srgbClr val="B8860B"/>
          </a:solidFill>
          <a:ln w="12700">
            <a:solidFill>
              <a:srgbClr val="B8860B"/>
            </a:solidFill>
            <a:prstDash val="solid"/>
          </a:ln>
        </p:spPr>
      </p:sp>
      <p:sp>
        <p:nvSpPr>
          <p:cNvPr id="33" name="Shape 31"/>
          <p:cNvSpPr/>
          <p:nvPr/>
        </p:nvSpPr>
        <p:spPr>
          <a:xfrm>
            <a:off x="4663440" y="1421892"/>
            <a:ext cx="1965960" cy="658368"/>
          </a:xfrm>
          <a:prstGeom prst="rect">
            <a:avLst/>
          </a:prstGeom>
          <a:solidFill>
            <a:srgbClr val="B8860B"/>
          </a:solidFill>
          <a:ln w="12700">
            <a:solidFill>
              <a:srgbClr val="B8860B"/>
            </a:solidFill>
            <a:prstDash val="solid"/>
          </a:ln>
        </p:spPr>
      </p:sp>
      <p:sp>
        <p:nvSpPr>
          <p:cNvPr id="34" name="Shape 32"/>
          <p:cNvSpPr/>
          <p:nvPr/>
        </p:nvSpPr>
        <p:spPr>
          <a:xfrm>
            <a:off x="5321808" y="1481328"/>
            <a:ext cx="640080" cy="640080"/>
          </a:xfrm>
          <a:prstGeom prst="ellipse">
            <a:avLst/>
          </a:prstGeom>
          <a:solidFill>
            <a:srgbClr val="FFFFFF"/>
          </a:solidFill>
          <a:ln w="12700">
            <a:solidFill>
              <a:srgbClr val="FFFFFF"/>
            </a:solidFill>
            <a:prstDash val="solid"/>
          </a:ln>
        </p:spPr>
      </p:sp>
      <p:sp>
        <p:nvSpPr>
          <p:cNvPr id="35" name="Text 33"/>
          <p:cNvSpPr/>
          <p:nvPr/>
        </p:nvSpPr>
        <p:spPr>
          <a:xfrm>
            <a:off x="5321808" y="1536192"/>
            <a:ext cx="64008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AS</a:t>
            </a:r>
            <a:endParaRPr lang="en-US" sz="1600" dirty="0"/>
          </a:p>
        </p:txBody>
      </p:sp>
      <p:sp>
        <p:nvSpPr>
          <p:cNvPr id="36" name="Text 34"/>
          <p:cNvSpPr/>
          <p:nvPr/>
        </p:nvSpPr>
        <p:spPr>
          <a:xfrm>
            <a:off x="5321808" y="1517904"/>
            <a:ext cx="640080" cy="512064"/>
          </a:xfrm>
          <a:prstGeom prst="rect">
            <a:avLst/>
          </a:prstGeom>
          <a:noFill/>
          <a:ln/>
        </p:spPr>
        <p:txBody>
          <a:bodyPr wrap="square" lIns="0" tIns="0" rIns="0" bIns="0" rtlCol="0" anchor="ctr"/>
          <a:lstStyle/>
          <a:p>
            <a:pPr algn="ctr" indent="0" marL="0">
              <a:buNone/>
            </a:pPr>
            <a:r>
              <a:rPr lang="en-US" sz="1500" b="1" dirty="0">
                <a:solidFill>
                  <a:srgbClr val="B8860B"/>
                </a:solidFill>
                <a:latin typeface="Cambria" pitchFamily="34" charset="0"/>
                <a:ea typeface="Cambria" pitchFamily="34" charset="-122"/>
                <a:cs typeface="Cambria" pitchFamily="34" charset="-120"/>
              </a:rPr>
              <a:t>AS</a:t>
            </a:r>
            <a:endParaRPr lang="en-US" sz="1500" dirty="0"/>
          </a:p>
        </p:txBody>
      </p:sp>
      <p:sp>
        <p:nvSpPr>
          <p:cNvPr id="37" name="Text 35"/>
          <p:cNvSpPr/>
          <p:nvPr/>
        </p:nvSpPr>
        <p:spPr>
          <a:xfrm>
            <a:off x="4754880" y="2121408"/>
            <a:ext cx="1783080" cy="310896"/>
          </a:xfrm>
          <a:prstGeom prst="rect">
            <a:avLst/>
          </a:prstGeom>
          <a:noFill/>
          <a:ln/>
        </p:spPr>
        <p:txBody>
          <a:bodyPr wrap="square" lIns="0" tIns="0" rIns="0" bIns="0" rtlCol="0" anchor="ctr"/>
          <a:lstStyle/>
          <a:p>
            <a:pPr indent="0" marL="0">
              <a:buNone/>
            </a:pPr>
            <a:r>
              <a:rPr lang="en-US" sz="1050" b="1" dirty="0">
                <a:solidFill>
                  <a:srgbClr val="1B3A6B"/>
                </a:solidFill>
                <a:latin typeface="Calibri" pitchFamily="34" charset="0"/>
                <a:ea typeface="Calibri" pitchFamily="34" charset="-122"/>
                <a:cs typeface="Calibri" pitchFamily="34" charset="-120"/>
              </a:rPr>
              <a:t>Arham Salman</a:t>
            </a:r>
            <a:endParaRPr lang="en-US" sz="1050" dirty="0"/>
          </a:p>
        </p:txBody>
      </p:sp>
      <p:sp>
        <p:nvSpPr>
          <p:cNvPr id="38" name="Text 36"/>
          <p:cNvSpPr/>
          <p:nvPr/>
        </p:nvSpPr>
        <p:spPr>
          <a:xfrm>
            <a:off x="4754880" y="2432304"/>
            <a:ext cx="1783080" cy="347472"/>
          </a:xfrm>
          <a:prstGeom prst="rect">
            <a:avLst/>
          </a:prstGeom>
          <a:noFill/>
          <a:ln/>
        </p:spPr>
        <p:txBody>
          <a:bodyPr wrap="square" lIns="0" tIns="0" rIns="0" bIns="0" rtlCol="0" anchor="ctr"/>
          <a:lstStyle/>
          <a:p>
            <a:pPr indent="0" marL="0">
              <a:buNone/>
            </a:pPr>
            <a:r>
              <a:rPr lang="en-US" sz="900" b="1" dirty="0">
                <a:solidFill>
                  <a:srgbClr val="B8860B"/>
                </a:solidFill>
                <a:latin typeface="Calibri" pitchFamily="34" charset="0"/>
                <a:ea typeface="Calibri" pitchFamily="34" charset="-122"/>
                <a:cs typeface="Calibri" pitchFamily="34" charset="-120"/>
              </a:rPr>
              <a:t>Data Engineer</a:t>
            </a:r>
            <a:endParaRPr lang="en-US" sz="900" dirty="0"/>
          </a:p>
        </p:txBody>
      </p:sp>
      <p:sp>
        <p:nvSpPr>
          <p:cNvPr id="39" name="Shape 37"/>
          <p:cNvSpPr/>
          <p:nvPr/>
        </p:nvSpPr>
        <p:spPr>
          <a:xfrm>
            <a:off x="4754880" y="2834640"/>
            <a:ext cx="1783080" cy="237744"/>
          </a:xfrm>
          <a:prstGeom prst="rect">
            <a:avLst/>
          </a:prstGeom>
          <a:solidFill>
            <a:srgbClr val="F4F6F9"/>
          </a:solidFill>
          <a:ln w="12700">
            <a:solidFill>
              <a:srgbClr val="F4F6F9"/>
            </a:solidFill>
            <a:prstDash val="solid"/>
          </a:ln>
        </p:spPr>
      </p:sp>
      <p:sp>
        <p:nvSpPr>
          <p:cNvPr id="40" name="Text 38"/>
          <p:cNvSpPr/>
          <p:nvPr/>
        </p:nvSpPr>
        <p:spPr>
          <a:xfrm>
            <a:off x="4791456" y="2834640"/>
            <a:ext cx="1737360" cy="237744"/>
          </a:xfrm>
          <a:prstGeom prst="rect">
            <a:avLst/>
          </a:prstGeom>
          <a:noFill/>
          <a:ln/>
        </p:spPr>
        <p:txBody>
          <a:bodyPr wrap="square" lIns="0" tIns="0" rIns="0" bIns="0" rtlCol="0" anchor="ctr"/>
          <a:lstStyle/>
          <a:p>
            <a:pPr indent="0" marL="0">
              <a:buNone/>
            </a:pPr>
            <a:r>
              <a:rPr lang="en-US" sz="750" b="1" dirty="0">
                <a:solidFill>
                  <a:srgbClr val="B8860B"/>
                </a:solidFill>
                <a:latin typeface="Calibri" pitchFamily="34" charset="0"/>
                <a:ea typeface="Calibri" pitchFamily="34" charset="-122"/>
                <a:cs typeface="Calibri" pitchFamily="34" charset="-120"/>
              </a:rPr>
              <a:t>Implementer and Completer Finisher</a:t>
            </a:r>
            <a:endParaRPr lang="en-US" sz="750" dirty="0"/>
          </a:p>
        </p:txBody>
      </p:sp>
      <p:sp>
        <p:nvSpPr>
          <p:cNvPr id="41" name="Text 39"/>
          <p:cNvSpPr/>
          <p:nvPr/>
        </p:nvSpPr>
        <p:spPr>
          <a:xfrm>
            <a:off x="4754880" y="3145536"/>
            <a:ext cx="1783080" cy="658368"/>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Thorough in his data work to a level the team appreciated in Sprint 3. His Sprint 2 preprocessing directly produced the R squared of 0.9504.</a:t>
            </a:r>
            <a:endParaRPr lang="en-US" sz="800" dirty="0"/>
          </a:p>
        </p:txBody>
      </p:sp>
      <p:sp>
        <p:nvSpPr>
          <p:cNvPr id="42" name="Shape 40"/>
          <p:cNvSpPr/>
          <p:nvPr/>
        </p:nvSpPr>
        <p:spPr>
          <a:xfrm>
            <a:off x="4754880" y="3822192"/>
            <a:ext cx="1783080" cy="16459"/>
          </a:xfrm>
          <a:prstGeom prst="rect">
            <a:avLst/>
          </a:prstGeom>
          <a:solidFill>
            <a:srgbClr val="E8EDF4"/>
          </a:solidFill>
          <a:ln w="12700">
            <a:solidFill>
              <a:srgbClr val="E8EDF4"/>
            </a:solidFill>
            <a:prstDash val="solid"/>
          </a:ln>
        </p:spPr>
      </p:sp>
      <p:sp>
        <p:nvSpPr>
          <p:cNvPr id="43" name="Text 41"/>
          <p:cNvSpPr/>
          <p:nvPr/>
        </p:nvSpPr>
        <p:spPr>
          <a:xfrm>
            <a:off x="4754880" y="3858768"/>
            <a:ext cx="1783080" cy="804672"/>
          </a:xfrm>
          <a:prstGeom prst="rect">
            <a:avLst/>
          </a:prstGeom>
          <a:noFill/>
          <a:ln/>
        </p:spPr>
        <p:txBody>
          <a:bodyPr wrap="square" lIns="0" tIns="0" rIns="0" bIns="0" rtlCol="0" anchor="ctr"/>
          <a:lstStyle/>
          <a:p>
            <a:pPr indent="0" marL="0">
              <a:buNone/>
            </a:pPr>
            <a:r>
              <a:rPr lang="en-US" sz="750" dirty="0">
                <a:solidFill>
                  <a:srgbClr val="6B7C8F"/>
                </a:solidFill>
                <a:latin typeface="Calibri" pitchFamily="34" charset="0"/>
                <a:ea typeface="Calibri" pitchFamily="34" charset="-122"/>
                <a:cs typeface="Calibri" pitchFamily="34" charset="-120"/>
              </a:rPr>
              <a:t>Downloaded OLX dataset, built full cleaning pipeline, column renaming, type fixing, null removal, conducted 20+ integration tests.</a:t>
            </a:r>
            <a:endParaRPr lang="en-US" sz="750" dirty="0"/>
          </a:p>
        </p:txBody>
      </p:sp>
      <p:sp>
        <p:nvSpPr>
          <p:cNvPr id="44" name="Shape 42"/>
          <p:cNvSpPr/>
          <p:nvPr/>
        </p:nvSpPr>
        <p:spPr>
          <a:xfrm>
            <a:off x="6766560" y="1371600"/>
            <a:ext cx="1965960" cy="3639312"/>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45" name="Shape 43"/>
          <p:cNvSpPr/>
          <p:nvPr/>
        </p:nvSpPr>
        <p:spPr>
          <a:xfrm>
            <a:off x="6766560" y="1371600"/>
            <a:ext cx="1965960" cy="50292"/>
          </a:xfrm>
          <a:prstGeom prst="rect">
            <a:avLst/>
          </a:prstGeom>
          <a:solidFill>
            <a:srgbClr val="5B2D8E"/>
          </a:solidFill>
          <a:ln w="12700">
            <a:solidFill>
              <a:srgbClr val="5B2D8E"/>
            </a:solidFill>
            <a:prstDash val="solid"/>
          </a:ln>
        </p:spPr>
      </p:sp>
      <p:sp>
        <p:nvSpPr>
          <p:cNvPr id="46" name="Shape 44"/>
          <p:cNvSpPr/>
          <p:nvPr/>
        </p:nvSpPr>
        <p:spPr>
          <a:xfrm>
            <a:off x="6766560" y="1421892"/>
            <a:ext cx="1965960" cy="658368"/>
          </a:xfrm>
          <a:prstGeom prst="rect">
            <a:avLst/>
          </a:prstGeom>
          <a:solidFill>
            <a:srgbClr val="5B2D8E"/>
          </a:solidFill>
          <a:ln w="12700">
            <a:solidFill>
              <a:srgbClr val="5B2D8E"/>
            </a:solidFill>
            <a:prstDash val="solid"/>
          </a:ln>
        </p:spPr>
      </p:sp>
      <p:sp>
        <p:nvSpPr>
          <p:cNvPr id="47" name="Shape 45"/>
          <p:cNvSpPr/>
          <p:nvPr/>
        </p:nvSpPr>
        <p:spPr>
          <a:xfrm>
            <a:off x="7424928" y="1481328"/>
            <a:ext cx="640080" cy="640080"/>
          </a:xfrm>
          <a:prstGeom prst="ellipse">
            <a:avLst/>
          </a:prstGeom>
          <a:solidFill>
            <a:srgbClr val="FFFFFF"/>
          </a:solidFill>
          <a:ln w="12700">
            <a:solidFill>
              <a:srgbClr val="FFFFFF"/>
            </a:solidFill>
            <a:prstDash val="solid"/>
          </a:ln>
        </p:spPr>
      </p:sp>
      <p:sp>
        <p:nvSpPr>
          <p:cNvPr id="48" name="Text 46"/>
          <p:cNvSpPr/>
          <p:nvPr/>
        </p:nvSpPr>
        <p:spPr>
          <a:xfrm>
            <a:off x="7424928" y="1536192"/>
            <a:ext cx="64008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JA</a:t>
            </a:r>
            <a:endParaRPr lang="en-US" sz="1600" dirty="0"/>
          </a:p>
        </p:txBody>
      </p:sp>
      <p:sp>
        <p:nvSpPr>
          <p:cNvPr id="49" name="Text 47"/>
          <p:cNvSpPr/>
          <p:nvPr/>
        </p:nvSpPr>
        <p:spPr>
          <a:xfrm>
            <a:off x="7424928" y="1517904"/>
            <a:ext cx="640080" cy="512064"/>
          </a:xfrm>
          <a:prstGeom prst="rect">
            <a:avLst/>
          </a:prstGeom>
          <a:noFill/>
          <a:ln/>
        </p:spPr>
        <p:txBody>
          <a:bodyPr wrap="square" lIns="0" tIns="0" rIns="0" bIns="0" rtlCol="0" anchor="ctr"/>
          <a:lstStyle/>
          <a:p>
            <a:pPr algn="ctr" indent="0" marL="0">
              <a:buNone/>
            </a:pPr>
            <a:r>
              <a:rPr lang="en-US" sz="1500" b="1" dirty="0">
                <a:solidFill>
                  <a:srgbClr val="5B2D8E"/>
                </a:solidFill>
                <a:latin typeface="Cambria" pitchFamily="34" charset="0"/>
                <a:ea typeface="Cambria" pitchFamily="34" charset="-122"/>
                <a:cs typeface="Cambria" pitchFamily="34" charset="-120"/>
              </a:rPr>
              <a:t>JA</a:t>
            </a:r>
            <a:endParaRPr lang="en-US" sz="1500" dirty="0"/>
          </a:p>
        </p:txBody>
      </p:sp>
      <p:sp>
        <p:nvSpPr>
          <p:cNvPr id="50" name="Text 48"/>
          <p:cNvSpPr/>
          <p:nvPr/>
        </p:nvSpPr>
        <p:spPr>
          <a:xfrm>
            <a:off x="6858000" y="2121408"/>
            <a:ext cx="1783080" cy="310896"/>
          </a:xfrm>
          <a:prstGeom prst="rect">
            <a:avLst/>
          </a:prstGeom>
          <a:noFill/>
          <a:ln/>
        </p:spPr>
        <p:txBody>
          <a:bodyPr wrap="square" lIns="0" tIns="0" rIns="0" bIns="0" rtlCol="0" anchor="ctr"/>
          <a:lstStyle/>
          <a:p>
            <a:pPr indent="0" marL="0">
              <a:buNone/>
            </a:pPr>
            <a:r>
              <a:rPr lang="en-US" sz="1050" b="1" dirty="0">
                <a:solidFill>
                  <a:srgbClr val="1B3A6B"/>
                </a:solidFill>
                <a:latin typeface="Calibri" pitchFamily="34" charset="0"/>
                <a:ea typeface="Calibri" pitchFamily="34" charset="-122"/>
                <a:cs typeface="Calibri" pitchFamily="34" charset="-120"/>
              </a:rPr>
              <a:t>Jabber Arif Khan</a:t>
            </a:r>
            <a:endParaRPr lang="en-US" sz="1050" dirty="0"/>
          </a:p>
        </p:txBody>
      </p:sp>
      <p:sp>
        <p:nvSpPr>
          <p:cNvPr id="51" name="Text 49"/>
          <p:cNvSpPr/>
          <p:nvPr/>
        </p:nvSpPr>
        <p:spPr>
          <a:xfrm>
            <a:off x="6858000" y="2432304"/>
            <a:ext cx="1783080" cy="347472"/>
          </a:xfrm>
          <a:prstGeom prst="rect">
            <a:avLst/>
          </a:prstGeom>
          <a:noFill/>
          <a:ln/>
        </p:spPr>
        <p:txBody>
          <a:bodyPr wrap="square" lIns="0" tIns="0" rIns="0" bIns="0" rtlCol="0" anchor="ctr"/>
          <a:lstStyle/>
          <a:p>
            <a:pPr indent="0" marL="0">
              <a:buNone/>
            </a:pPr>
            <a:r>
              <a:rPr lang="en-US" sz="900" b="1" dirty="0">
                <a:solidFill>
                  <a:srgbClr val="5B2D8E"/>
                </a:solidFill>
                <a:latin typeface="Calibri" pitchFamily="34" charset="0"/>
                <a:ea typeface="Calibri" pitchFamily="34" charset="-122"/>
                <a:cs typeface="Calibri" pitchFamily="34" charset="-120"/>
              </a:rPr>
              <a:t>Frontend Developer</a:t>
            </a:r>
            <a:endParaRPr lang="en-US" sz="900" dirty="0"/>
          </a:p>
        </p:txBody>
      </p:sp>
      <p:sp>
        <p:nvSpPr>
          <p:cNvPr id="52" name="Shape 50"/>
          <p:cNvSpPr/>
          <p:nvPr/>
        </p:nvSpPr>
        <p:spPr>
          <a:xfrm>
            <a:off x="6858000" y="2834640"/>
            <a:ext cx="1783080" cy="237744"/>
          </a:xfrm>
          <a:prstGeom prst="rect">
            <a:avLst/>
          </a:prstGeom>
          <a:solidFill>
            <a:srgbClr val="F4F6F9"/>
          </a:solidFill>
          <a:ln w="12700">
            <a:solidFill>
              <a:srgbClr val="F4F6F9"/>
            </a:solidFill>
            <a:prstDash val="solid"/>
          </a:ln>
        </p:spPr>
      </p:sp>
      <p:sp>
        <p:nvSpPr>
          <p:cNvPr id="53" name="Text 51"/>
          <p:cNvSpPr/>
          <p:nvPr/>
        </p:nvSpPr>
        <p:spPr>
          <a:xfrm>
            <a:off x="6894576" y="2834640"/>
            <a:ext cx="1737360" cy="237744"/>
          </a:xfrm>
          <a:prstGeom prst="rect">
            <a:avLst/>
          </a:prstGeom>
          <a:noFill/>
          <a:ln/>
        </p:spPr>
        <p:txBody>
          <a:bodyPr wrap="square" lIns="0" tIns="0" rIns="0" bIns="0" rtlCol="0" anchor="ctr"/>
          <a:lstStyle/>
          <a:p>
            <a:pPr indent="0" marL="0">
              <a:buNone/>
            </a:pPr>
            <a:r>
              <a:rPr lang="en-US" sz="750" b="1" dirty="0">
                <a:solidFill>
                  <a:srgbClr val="5B2D8E"/>
                </a:solidFill>
                <a:latin typeface="Calibri" pitchFamily="34" charset="0"/>
                <a:ea typeface="Calibri" pitchFamily="34" charset="-122"/>
                <a:cs typeface="Calibri" pitchFamily="34" charset="-120"/>
              </a:rPr>
              <a:t>Team Worker and Resource Investigator</a:t>
            </a:r>
            <a:endParaRPr lang="en-US" sz="750" dirty="0"/>
          </a:p>
        </p:txBody>
      </p:sp>
      <p:sp>
        <p:nvSpPr>
          <p:cNvPr id="54" name="Text 52"/>
          <p:cNvSpPr/>
          <p:nvPr/>
        </p:nvSpPr>
        <p:spPr>
          <a:xfrm>
            <a:off x="6858000" y="3145536"/>
            <a:ext cx="1783080" cy="658368"/>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Brought creativity and user-thinking to the frontend. Flexible when priorities shifted and effective at finding solutions when things broke.</a:t>
            </a:r>
            <a:endParaRPr lang="en-US" sz="800" dirty="0"/>
          </a:p>
        </p:txBody>
      </p:sp>
      <p:sp>
        <p:nvSpPr>
          <p:cNvPr id="55" name="Shape 53"/>
          <p:cNvSpPr/>
          <p:nvPr/>
        </p:nvSpPr>
        <p:spPr>
          <a:xfrm>
            <a:off x="6858000" y="3822192"/>
            <a:ext cx="1783080" cy="16459"/>
          </a:xfrm>
          <a:prstGeom prst="rect">
            <a:avLst/>
          </a:prstGeom>
          <a:solidFill>
            <a:srgbClr val="E8EDF4"/>
          </a:solidFill>
          <a:ln w="12700">
            <a:solidFill>
              <a:srgbClr val="E8EDF4"/>
            </a:solidFill>
            <a:prstDash val="solid"/>
          </a:ln>
        </p:spPr>
      </p:sp>
      <p:sp>
        <p:nvSpPr>
          <p:cNvPr id="56" name="Text 54"/>
          <p:cNvSpPr/>
          <p:nvPr/>
        </p:nvSpPr>
        <p:spPr>
          <a:xfrm>
            <a:off x="6858000" y="3858768"/>
            <a:ext cx="1783080" cy="804672"/>
          </a:xfrm>
          <a:prstGeom prst="rect">
            <a:avLst/>
          </a:prstGeom>
          <a:noFill/>
          <a:ln/>
        </p:spPr>
        <p:txBody>
          <a:bodyPr wrap="square" lIns="0" tIns="0" rIns="0" bIns="0" rtlCol="0" anchor="ctr"/>
          <a:lstStyle/>
          <a:p>
            <a:pPr indent="0" marL="0">
              <a:buNone/>
            </a:pPr>
            <a:r>
              <a:rPr lang="en-US" sz="750" dirty="0">
                <a:solidFill>
                  <a:srgbClr val="6B7C8F"/>
                </a:solidFill>
                <a:latin typeface="Calibri" pitchFamily="34" charset="0"/>
                <a:ea typeface="Calibri" pitchFamily="34" charset="-122"/>
                <a:cs typeface="Calibri" pitchFamily="34" charset="-120"/>
              </a:rPr>
              <a:t>Complete HTML, CSS and JavaScript website, API integration via fetch, mobile responsive layout, all UI components including results display.</a:t>
            </a:r>
            <a:endParaRPr lang="en-US" sz="750" dirty="0"/>
          </a:p>
        </p:txBody>
      </p:sp>
      <p:sp>
        <p:nvSpPr>
          <p:cNvPr id="57" name="Text 55"/>
          <p:cNvSpPr/>
          <p:nvPr/>
        </p:nvSpPr>
        <p:spPr>
          <a:xfrm>
            <a:off x="457200" y="4901184"/>
            <a:ext cx="8229600" cy="182880"/>
          </a:xfrm>
          <a:prstGeom prst="rect">
            <a:avLst/>
          </a:prstGeom>
          <a:noFill/>
          <a:ln/>
        </p:spPr>
        <p:txBody>
          <a:bodyPr wrap="square" lIns="0" tIns="0" rIns="0" bIns="0" rtlCol="0" anchor="ctr"/>
          <a:lstStyle/>
          <a:p>
            <a:pPr indent="0" marL="0">
              <a:buNone/>
            </a:pPr>
            <a:r>
              <a:rPr lang="en-US" sz="800" i="1" dirty="0">
                <a:solidFill>
                  <a:srgbClr val="6B7C8F"/>
                </a:solidFill>
                <a:latin typeface="Calibri" pitchFamily="34" charset="0"/>
                <a:ea typeface="Calibri" pitchFamily="34" charset="-122"/>
                <a:cs typeface="Calibri" pitchFamily="34" charset="-120"/>
              </a:rPr>
              <a:t>Belbin (1981): The best teams are not the most talented — they are the ones where people play complementary roles and balance each other's strengths.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8229600" cy="219456"/>
          </a:xfrm>
          <a:prstGeom prst="rect">
            <a:avLst/>
          </a:prstGeom>
          <a:noFill/>
          <a:ln/>
        </p:spPr>
        <p:txBody>
          <a:bodyPr wrap="square" lIns="0" tIns="0" rIns="0" bIns="0" rtlCol="0" anchor="ctr"/>
          <a:lstStyle/>
          <a:p>
            <a:pPr indent="0" marL="0">
              <a:buNone/>
            </a:pPr>
            <a:r>
              <a:rPr lang="en-US" sz="850" b="1" spc="250" kern="0" dirty="0">
                <a:solidFill>
                  <a:srgbClr val="5B2D8E"/>
                </a:solidFill>
                <a:latin typeface="Calibri" pitchFamily="34" charset="0"/>
                <a:ea typeface="Calibri" pitchFamily="34" charset="-122"/>
                <a:cs typeface="Calibri" pitchFamily="34" charset="-120"/>
              </a:rPr>
              <a:t>CHAPTER 3 — PRODUCT DEVELOPMENT</a:t>
            </a:r>
            <a:endParaRPr lang="en-US" sz="85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000" b="1" dirty="0">
                <a:solidFill>
                  <a:srgbClr val="1B3A6B"/>
                </a:solidFill>
                <a:latin typeface="Cambria" pitchFamily="34" charset="0"/>
                <a:ea typeface="Cambria" pitchFamily="34" charset="-122"/>
                <a:cs typeface="Cambria" pitchFamily="34" charset="-120"/>
              </a:rPr>
              <a:t>SDLC and Why We Chose Agile Over Waterfall</a:t>
            </a:r>
            <a:endParaRPr lang="en-US" sz="3000" dirty="0"/>
          </a:p>
        </p:txBody>
      </p:sp>
      <p:sp>
        <p:nvSpPr>
          <p:cNvPr id="4" name="Shape 2"/>
          <p:cNvSpPr/>
          <p:nvPr/>
        </p:nvSpPr>
        <p:spPr>
          <a:xfrm>
            <a:off x="457200" y="1225296"/>
            <a:ext cx="8229600" cy="20117"/>
          </a:xfrm>
          <a:prstGeom prst="rect">
            <a:avLst/>
          </a:prstGeom>
          <a:solidFill>
            <a:srgbClr val="E8EDF4"/>
          </a:solidFill>
          <a:ln w="12700">
            <a:solidFill>
              <a:srgbClr val="E8EDF4"/>
            </a:solidFill>
            <a:prstDash val="solid"/>
          </a:ln>
        </p:spPr>
      </p:sp>
      <p:sp>
        <p:nvSpPr>
          <p:cNvPr id="5" name="Shape 3"/>
          <p:cNvSpPr/>
          <p:nvPr/>
        </p:nvSpPr>
        <p:spPr>
          <a:xfrm>
            <a:off x="457200" y="1371600"/>
            <a:ext cx="8229600" cy="658368"/>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6" name="Text 4"/>
          <p:cNvSpPr/>
          <p:nvPr/>
        </p:nvSpPr>
        <p:spPr>
          <a:xfrm>
            <a:off x="640080" y="1444752"/>
            <a:ext cx="2743200" cy="256032"/>
          </a:xfrm>
          <a:prstGeom prst="rect">
            <a:avLst/>
          </a:prstGeom>
          <a:noFill/>
          <a:ln/>
        </p:spPr>
        <p:txBody>
          <a:bodyPr wrap="square" lIns="0" tIns="0" rIns="0" bIns="0" rtlCol="0" anchor="ctr"/>
          <a:lstStyle/>
          <a:p>
            <a:pPr indent="0" marL="0">
              <a:buNone/>
            </a:pPr>
            <a:r>
              <a:rPr lang="en-US" sz="1000" b="1" dirty="0">
                <a:solidFill>
                  <a:srgbClr val="1B3A6B"/>
                </a:solidFill>
                <a:latin typeface="Calibri" pitchFamily="34" charset="0"/>
                <a:ea typeface="Calibri" pitchFamily="34" charset="-122"/>
                <a:cs typeface="Calibri" pitchFamily="34" charset="-120"/>
              </a:rPr>
              <a:t>SDLC — Software Development Lifecycle:</a:t>
            </a:r>
            <a:endParaRPr lang="en-US" sz="1000" dirty="0"/>
          </a:p>
        </p:txBody>
      </p:sp>
      <p:sp>
        <p:nvSpPr>
          <p:cNvPr id="7" name="Text 5"/>
          <p:cNvSpPr/>
          <p:nvPr/>
        </p:nvSpPr>
        <p:spPr>
          <a:xfrm>
            <a:off x="3401568" y="1444752"/>
            <a:ext cx="5120640" cy="47548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The structured process of planning, designing, building, testing and delivering software. Two main approaches exist — Waterfall (Royce, 1970) and Agile (Beck et al., 2001). AutoVal-AI used Agile Scrum across 8 sprints.</a:t>
            </a:r>
            <a:endParaRPr lang="en-US" sz="950" dirty="0"/>
          </a:p>
        </p:txBody>
      </p:sp>
      <p:sp>
        <p:nvSpPr>
          <p:cNvPr id="8" name="Shape 6"/>
          <p:cNvSpPr/>
          <p:nvPr/>
        </p:nvSpPr>
        <p:spPr>
          <a:xfrm>
            <a:off x="457200" y="2157984"/>
            <a:ext cx="4096512" cy="2779776"/>
          </a:xfrm>
          <a:prstGeom prst="rect">
            <a:avLst/>
          </a:prstGeom>
          <a:solidFill>
            <a:srgbClr val="FDF0EE"/>
          </a:solidFill>
          <a:ln w="10160">
            <a:solidFill>
              <a:srgbClr val="B5281C"/>
            </a:solidFill>
            <a:prstDash val="solid"/>
          </a:ln>
          <a:effectLst>
            <a:outerShdw sx="100000" sy="100000" kx="0" ky="0" algn="bl" rotWithShape="0" blurRad="101600" dist="25400" dir="8100000">
              <a:srgbClr val="000000">
                <a:alpha val="7000"/>
              </a:srgbClr>
            </a:outerShdw>
          </a:effectLst>
        </p:spPr>
      </p:sp>
      <p:sp>
        <p:nvSpPr>
          <p:cNvPr id="9" name="Shape 7"/>
          <p:cNvSpPr/>
          <p:nvPr/>
        </p:nvSpPr>
        <p:spPr>
          <a:xfrm>
            <a:off x="457200" y="2157984"/>
            <a:ext cx="4096512" cy="347472"/>
          </a:xfrm>
          <a:prstGeom prst="rect">
            <a:avLst/>
          </a:prstGeom>
          <a:solidFill>
            <a:srgbClr val="B5281C"/>
          </a:solidFill>
          <a:ln w="12700">
            <a:solidFill>
              <a:srgbClr val="B5281C"/>
            </a:solidFill>
            <a:prstDash val="solid"/>
          </a:ln>
        </p:spPr>
      </p:sp>
      <p:sp>
        <p:nvSpPr>
          <p:cNvPr id="10" name="Text 8"/>
          <p:cNvSpPr/>
          <p:nvPr/>
        </p:nvSpPr>
        <p:spPr>
          <a:xfrm>
            <a:off x="640080" y="2212848"/>
            <a:ext cx="3749040"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Waterfall — Why It Did Not Fit</a:t>
            </a:r>
            <a:endParaRPr lang="en-US" sz="1100" dirty="0"/>
          </a:p>
        </p:txBody>
      </p:sp>
      <p:sp>
        <p:nvSpPr>
          <p:cNvPr id="11" name="Text 9"/>
          <p:cNvSpPr/>
          <p:nvPr/>
        </p:nvSpPr>
        <p:spPr>
          <a:xfrm>
            <a:off x="640080" y="2615184"/>
            <a:ext cx="3785616" cy="457200"/>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1.  ML is experimental — you cannot select the best algorithm before training. Committing to a model at design stage would have cost us Gradient Boosting.</a:t>
            </a:r>
            <a:endParaRPr lang="en-US" sz="900" dirty="0"/>
          </a:p>
        </p:txBody>
      </p:sp>
      <p:sp>
        <p:nvSpPr>
          <p:cNvPr id="12" name="Text 10"/>
          <p:cNvSpPr/>
          <p:nvPr/>
        </p:nvSpPr>
        <p:spPr>
          <a:xfrm>
            <a:off x="640080" y="3127248"/>
            <a:ext cx="3785616" cy="457200"/>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2.  Dataset was messier than expected — wrong column names, missing values, incorrect data types throughout. A strict sequence would have broken the timeline.</a:t>
            </a:r>
            <a:endParaRPr lang="en-US" sz="900" dirty="0"/>
          </a:p>
        </p:txBody>
      </p:sp>
      <p:sp>
        <p:nvSpPr>
          <p:cNvPr id="13" name="Text 11"/>
          <p:cNvSpPr/>
          <p:nvPr/>
        </p:nvSpPr>
        <p:spPr>
          <a:xfrm>
            <a:off x="640080" y="3639312"/>
            <a:ext cx="3785616" cy="457200"/>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3.  Frontend evolved through sprint review feedback — API status indicator and price range were not in the original specification.</a:t>
            </a:r>
            <a:endParaRPr lang="en-US" sz="900" dirty="0"/>
          </a:p>
        </p:txBody>
      </p:sp>
      <p:sp>
        <p:nvSpPr>
          <p:cNvPr id="14" name="Text 12"/>
          <p:cNvSpPr/>
          <p:nvPr/>
        </p:nvSpPr>
        <p:spPr>
          <a:xfrm>
            <a:off x="640080" y="4151376"/>
            <a:ext cx="3785616" cy="457200"/>
          </a:xfrm>
          <a:prstGeom prst="rect">
            <a:avLst/>
          </a:prstGeom>
          <a:noFill/>
          <a:ln/>
        </p:spPr>
        <p:txBody>
          <a:bodyPr wrap="square" lIns="0" tIns="0" rIns="0" bIns="0" rtlCol="0" anchor="ctr"/>
          <a:lstStyle/>
          <a:p>
            <a:pPr indent="0" marL="0">
              <a:buNone/>
            </a:pPr>
            <a:r>
              <a:rPr lang="en-US" sz="900" i="1" dirty="0">
                <a:solidFill>
                  <a:srgbClr val="6B7C8F"/>
                </a:solidFill>
                <a:latin typeface="Calibri" pitchFamily="34" charset="0"/>
                <a:ea typeface="Calibri" pitchFamily="34" charset="-122"/>
                <a:cs typeface="Calibri" pitchFamily="34" charset="-120"/>
              </a:rPr>
              <a:t>4.  Royce (1970): requires all requirements fully defined before any development work begins.</a:t>
            </a:r>
            <a:endParaRPr lang="en-US" sz="900" dirty="0"/>
          </a:p>
        </p:txBody>
      </p:sp>
      <p:sp>
        <p:nvSpPr>
          <p:cNvPr id="15" name="Shape 13"/>
          <p:cNvSpPr/>
          <p:nvPr/>
        </p:nvSpPr>
        <p:spPr>
          <a:xfrm>
            <a:off x="4645152" y="2157984"/>
            <a:ext cx="4041648" cy="2779776"/>
          </a:xfrm>
          <a:prstGeom prst="rect">
            <a:avLst/>
          </a:prstGeom>
          <a:solidFill>
            <a:srgbClr val="E8F5EE"/>
          </a:solidFill>
          <a:ln w="10160">
            <a:solidFill>
              <a:srgbClr val="1A7A4A"/>
            </a:solidFill>
            <a:prstDash val="solid"/>
          </a:ln>
          <a:effectLst>
            <a:outerShdw sx="100000" sy="100000" kx="0" ky="0" algn="bl" rotWithShape="0" blurRad="101600" dist="25400" dir="8100000">
              <a:srgbClr val="000000">
                <a:alpha val="7000"/>
              </a:srgbClr>
            </a:outerShdw>
          </a:effectLst>
        </p:spPr>
      </p:sp>
      <p:sp>
        <p:nvSpPr>
          <p:cNvPr id="16" name="Shape 14"/>
          <p:cNvSpPr/>
          <p:nvPr/>
        </p:nvSpPr>
        <p:spPr>
          <a:xfrm>
            <a:off x="4645152" y="2157984"/>
            <a:ext cx="4041648" cy="347472"/>
          </a:xfrm>
          <a:prstGeom prst="rect">
            <a:avLst/>
          </a:prstGeom>
          <a:solidFill>
            <a:srgbClr val="1A7A4A"/>
          </a:solidFill>
          <a:ln w="12700">
            <a:solidFill>
              <a:srgbClr val="1A7A4A"/>
            </a:solidFill>
            <a:prstDash val="solid"/>
          </a:ln>
        </p:spPr>
      </p:sp>
      <p:sp>
        <p:nvSpPr>
          <p:cNvPr id="17" name="Text 15"/>
          <p:cNvSpPr/>
          <p:nvPr/>
        </p:nvSpPr>
        <p:spPr>
          <a:xfrm>
            <a:off x="4809744" y="2212848"/>
            <a:ext cx="3712464"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Agile Scrum — Why It Worked</a:t>
            </a:r>
            <a:endParaRPr lang="en-US" sz="1100" dirty="0"/>
          </a:p>
        </p:txBody>
      </p:sp>
      <p:sp>
        <p:nvSpPr>
          <p:cNvPr id="18" name="Text 16"/>
          <p:cNvSpPr/>
          <p:nvPr/>
        </p:nvSpPr>
        <p:spPr>
          <a:xfrm>
            <a:off x="4809744" y="2615184"/>
            <a:ext cx="3749040" cy="457200"/>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1.  Sprint 3: Gradient Boosting clearly outperformed Random Forest on all three metrics. Agile made switching models a simple decision, not a project-breaking change.</a:t>
            </a:r>
            <a:endParaRPr lang="en-US" sz="900" dirty="0"/>
          </a:p>
        </p:txBody>
      </p:sp>
      <p:sp>
        <p:nvSpPr>
          <p:cNvPr id="19" name="Text 17"/>
          <p:cNvSpPr/>
          <p:nvPr/>
        </p:nvSpPr>
        <p:spPr>
          <a:xfrm>
            <a:off x="4809744" y="3127248"/>
            <a:ext cx="3749040" cy="457200"/>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2.  Sprint 2 absorbed the messy dataset without breaking the overall project plan. The extra cleaning time was handled naturally within the sprint structure.</a:t>
            </a:r>
            <a:endParaRPr lang="en-US" sz="900" dirty="0"/>
          </a:p>
        </p:txBody>
      </p:sp>
      <p:sp>
        <p:nvSpPr>
          <p:cNvPr id="20" name="Text 18"/>
          <p:cNvSpPr/>
          <p:nvPr/>
        </p:nvSpPr>
        <p:spPr>
          <a:xfrm>
            <a:off x="4809744" y="3639312"/>
            <a:ext cx="3749040" cy="457200"/>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3.  Sprint review conversations added the API status indicator and price range display — features that genuinely improved the product mid-project.</a:t>
            </a:r>
            <a:endParaRPr lang="en-US" sz="900" dirty="0"/>
          </a:p>
        </p:txBody>
      </p:sp>
      <p:sp>
        <p:nvSpPr>
          <p:cNvPr id="21" name="Text 19"/>
          <p:cNvSpPr/>
          <p:nvPr/>
        </p:nvSpPr>
        <p:spPr>
          <a:xfrm>
            <a:off x="4809744" y="4151376"/>
            <a:ext cx="3749040" cy="457200"/>
          </a:xfrm>
          <a:prstGeom prst="rect">
            <a:avLst/>
          </a:prstGeom>
          <a:noFill/>
          <a:ln/>
        </p:spPr>
        <p:txBody>
          <a:bodyPr wrap="square" lIns="0" tIns="0" rIns="0" bIns="0" rtlCol="0" anchor="ctr"/>
          <a:lstStyle/>
          <a:p>
            <a:pPr indent="0" marL="0">
              <a:buNone/>
            </a:pPr>
            <a:r>
              <a:rPr lang="en-US" sz="900" i="1" dirty="0">
                <a:solidFill>
                  <a:srgbClr val="6B7C8F"/>
                </a:solidFill>
                <a:latin typeface="Calibri" pitchFamily="34" charset="0"/>
                <a:ea typeface="Calibri" pitchFamily="34" charset="-122"/>
                <a:cs typeface="Calibri" pitchFamily="34" charset="-120"/>
              </a:rPr>
              <a:t>4.  Beck et al. (2001): responding to change over following a plan — exactly what our project required throughout.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8229600" cy="219456"/>
          </a:xfrm>
          <a:prstGeom prst="rect">
            <a:avLst/>
          </a:prstGeom>
          <a:noFill/>
          <a:ln/>
        </p:spPr>
        <p:txBody>
          <a:bodyPr wrap="square" lIns="0" tIns="0" rIns="0" bIns="0" rtlCol="0" anchor="ctr"/>
          <a:lstStyle/>
          <a:p>
            <a:pPr indent="0" marL="0">
              <a:buNone/>
            </a:pPr>
            <a:r>
              <a:rPr lang="en-US" sz="850" b="1" spc="250" kern="0" dirty="0">
                <a:solidFill>
                  <a:srgbClr val="0B6E8C"/>
                </a:solidFill>
                <a:latin typeface="Calibri" pitchFamily="34" charset="0"/>
                <a:ea typeface="Calibri" pitchFamily="34" charset="-122"/>
                <a:cs typeface="Calibri" pitchFamily="34" charset="-120"/>
              </a:rPr>
              <a:t>CHAPTER 2 — TEAM DEVELOPMENT</a:t>
            </a:r>
            <a:endParaRPr lang="en-US" sz="85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000" b="1" dirty="0">
                <a:solidFill>
                  <a:srgbClr val="1B3A6B"/>
                </a:solidFill>
                <a:latin typeface="Cambria" pitchFamily="34" charset="0"/>
                <a:ea typeface="Cambria" pitchFamily="34" charset="-122"/>
                <a:cs typeface="Cambria" pitchFamily="34" charset="-120"/>
              </a:rPr>
              <a:t>Tuckman's Five Stages — Our Team's Journey</a:t>
            </a:r>
            <a:endParaRPr lang="en-US" sz="3000" dirty="0"/>
          </a:p>
        </p:txBody>
      </p:sp>
      <p:sp>
        <p:nvSpPr>
          <p:cNvPr id="4" name="Shape 2"/>
          <p:cNvSpPr/>
          <p:nvPr/>
        </p:nvSpPr>
        <p:spPr>
          <a:xfrm>
            <a:off x="457200" y="1225296"/>
            <a:ext cx="8229600" cy="20117"/>
          </a:xfrm>
          <a:prstGeom prst="rect">
            <a:avLst/>
          </a:prstGeom>
          <a:solidFill>
            <a:srgbClr val="E8EDF4"/>
          </a:solidFill>
          <a:ln w="12700">
            <a:solidFill>
              <a:srgbClr val="E8EDF4"/>
            </a:solidFill>
            <a:prstDash val="solid"/>
          </a:ln>
        </p:spPr>
      </p:sp>
      <p:sp>
        <p:nvSpPr>
          <p:cNvPr id="5" name="Shape 3"/>
          <p:cNvSpPr/>
          <p:nvPr/>
        </p:nvSpPr>
        <p:spPr>
          <a:xfrm>
            <a:off x="457200" y="1371600"/>
            <a:ext cx="1517904" cy="3520440"/>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6" name="Shape 4"/>
          <p:cNvSpPr/>
          <p:nvPr/>
        </p:nvSpPr>
        <p:spPr>
          <a:xfrm>
            <a:off x="457200" y="1371600"/>
            <a:ext cx="1517904" cy="457200"/>
          </a:xfrm>
          <a:prstGeom prst="rect">
            <a:avLst/>
          </a:prstGeom>
          <a:solidFill>
            <a:srgbClr val="1B3A6B"/>
          </a:solidFill>
          <a:ln w="12700">
            <a:solidFill>
              <a:srgbClr val="1B3A6B"/>
            </a:solidFill>
            <a:prstDash val="solid"/>
          </a:ln>
        </p:spPr>
      </p:sp>
      <p:sp>
        <p:nvSpPr>
          <p:cNvPr id="7" name="Text 5"/>
          <p:cNvSpPr/>
          <p:nvPr/>
        </p:nvSpPr>
        <p:spPr>
          <a:xfrm>
            <a:off x="457200" y="1389888"/>
            <a:ext cx="1517904" cy="42062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548640" y="1901952"/>
            <a:ext cx="1335024" cy="292608"/>
          </a:xfrm>
          <a:prstGeom prst="rect">
            <a:avLst/>
          </a:prstGeom>
          <a:noFill/>
          <a:ln/>
        </p:spPr>
        <p:txBody>
          <a:bodyPr wrap="square" lIns="0" tIns="0" rIns="0" bIns="0" rtlCol="0" anchor="ctr"/>
          <a:lstStyle/>
          <a:p>
            <a:pPr indent="0" marL="0">
              <a:buNone/>
            </a:pPr>
            <a:r>
              <a:rPr lang="en-US" sz="1200" b="1" dirty="0">
                <a:solidFill>
                  <a:srgbClr val="1B3A6B"/>
                </a:solidFill>
                <a:latin typeface="Cambria" pitchFamily="34" charset="0"/>
                <a:ea typeface="Cambria" pitchFamily="34" charset="-122"/>
                <a:cs typeface="Cambria" pitchFamily="34" charset="-120"/>
              </a:rPr>
              <a:t>Forming</a:t>
            </a:r>
            <a:endParaRPr lang="en-US" sz="1200" dirty="0"/>
          </a:p>
        </p:txBody>
      </p:sp>
      <p:sp>
        <p:nvSpPr>
          <p:cNvPr id="9" name="Shape 7"/>
          <p:cNvSpPr/>
          <p:nvPr/>
        </p:nvSpPr>
        <p:spPr>
          <a:xfrm>
            <a:off x="548640" y="2231136"/>
            <a:ext cx="1335024" cy="256032"/>
          </a:xfrm>
          <a:prstGeom prst="rect">
            <a:avLst/>
          </a:prstGeom>
          <a:solidFill>
            <a:srgbClr val="F4F6F9"/>
          </a:solidFill>
          <a:ln w="12700">
            <a:solidFill>
              <a:srgbClr val="F4F6F9"/>
            </a:solidFill>
            <a:prstDash val="solid"/>
          </a:ln>
        </p:spPr>
      </p:sp>
      <p:sp>
        <p:nvSpPr>
          <p:cNvPr id="10" name="Text 8"/>
          <p:cNvSpPr/>
          <p:nvPr/>
        </p:nvSpPr>
        <p:spPr>
          <a:xfrm>
            <a:off x="548640" y="2231136"/>
            <a:ext cx="1335024" cy="256032"/>
          </a:xfrm>
          <a:prstGeom prst="rect">
            <a:avLst/>
          </a:prstGeom>
          <a:noFill/>
          <a:ln/>
        </p:spPr>
        <p:txBody>
          <a:bodyPr wrap="square" lIns="0" tIns="0" rIns="0" bIns="0" rtlCol="0" anchor="ctr"/>
          <a:lstStyle/>
          <a:p>
            <a:pPr algn="ctr" indent="0" marL="0">
              <a:buNone/>
            </a:pPr>
            <a:r>
              <a:rPr lang="en-US" sz="800" dirty="0">
                <a:solidFill>
                  <a:srgbClr val="6B7C8F"/>
                </a:solidFill>
                <a:latin typeface="Calibri" pitchFamily="34" charset="0"/>
                <a:ea typeface="Calibri" pitchFamily="34" charset="-122"/>
                <a:cs typeface="Calibri" pitchFamily="34" charset="-120"/>
              </a:rPr>
              <a:t>Sep 2025</a:t>
            </a:r>
            <a:endParaRPr lang="en-US" sz="800" dirty="0"/>
          </a:p>
        </p:txBody>
      </p:sp>
      <p:sp>
        <p:nvSpPr>
          <p:cNvPr id="11" name="Text 9"/>
          <p:cNvSpPr/>
          <p:nvPr/>
        </p:nvSpPr>
        <p:spPr>
          <a:xfrm>
            <a:off x="548640" y="2578608"/>
            <a:ext cx="1335024" cy="2176272"/>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Team assembled for the first time. Completed the SDLC and Agile quiz together, set up tools (Python, Colab, GitHub, Jira) and discussed project direction. Everyone polite and cautious — no strong opinions pushed yet.</a:t>
            </a:r>
            <a:endParaRPr lang="en-US" sz="850" dirty="0"/>
          </a:p>
        </p:txBody>
      </p:sp>
      <p:sp>
        <p:nvSpPr>
          <p:cNvPr id="12" name="Shape 10"/>
          <p:cNvSpPr/>
          <p:nvPr/>
        </p:nvSpPr>
        <p:spPr>
          <a:xfrm>
            <a:off x="2121408" y="1371600"/>
            <a:ext cx="1517904" cy="3520440"/>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13" name="Shape 11"/>
          <p:cNvSpPr/>
          <p:nvPr/>
        </p:nvSpPr>
        <p:spPr>
          <a:xfrm>
            <a:off x="2121408" y="1371600"/>
            <a:ext cx="1517904" cy="457200"/>
          </a:xfrm>
          <a:prstGeom prst="rect">
            <a:avLst/>
          </a:prstGeom>
          <a:solidFill>
            <a:srgbClr val="B5281C"/>
          </a:solidFill>
          <a:ln w="12700">
            <a:solidFill>
              <a:srgbClr val="B5281C"/>
            </a:solidFill>
            <a:prstDash val="solid"/>
          </a:ln>
        </p:spPr>
      </p:sp>
      <p:sp>
        <p:nvSpPr>
          <p:cNvPr id="14" name="Text 12"/>
          <p:cNvSpPr/>
          <p:nvPr/>
        </p:nvSpPr>
        <p:spPr>
          <a:xfrm>
            <a:off x="2121408" y="1389888"/>
            <a:ext cx="1517904" cy="42062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2212848" y="1901952"/>
            <a:ext cx="1335024" cy="292608"/>
          </a:xfrm>
          <a:prstGeom prst="rect">
            <a:avLst/>
          </a:prstGeom>
          <a:noFill/>
          <a:ln/>
        </p:spPr>
        <p:txBody>
          <a:bodyPr wrap="square" lIns="0" tIns="0" rIns="0" bIns="0" rtlCol="0" anchor="ctr"/>
          <a:lstStyle/>
          <a:p>
            <a:pPr indent="0" marL="0">
              <a:buNone/>
            </a:pPr>
            <a:r>
              <a:rPr lang="en-US" sz="1200" b="1" dirty="0">
                <a:solidFill>
                  <a:srgbClr val="B5281C"/>
                </a:solidFill>
                <a:latin typeface="Cambria" pitchFamily="34" charset="0"/>
                <a:ea typeface="Cambria" pitchFamily="34" charset="-122"/>
                <a:cs typeface="Cambria" pitchFamily="34" charset="-120"/>
              </a:rPr>
              <a:t>Storming</a:t>
            </a:r>
            <a:endParaRPr lang="en-US" sz="1200" dirty="0"/>
          </a:p>
        </p:txBody>
      </p:sp>
      <p:sp>
        <p:nvSpPr>
          <p:cNvPr id="16" name="Shape 14"/>
          <p:cNvSpPr/>
          <p:nvPr/>
        </p:nvSpPr>
        <p:spPr>
          <a:xfrm>
            <a:off x="2212848" y="2231136"/>
            <a:ext cx="1335024" cy="256032"/>
          </a:xfrm>
          <a:prstGeom prst="rect">
            <a:avLst/>
          </a:prstGeom>
          <a:solidFill>
            <a:srgbClr val="F4F6F9"/>
          </a:solidFill>
          <a:ln w="12700">
            <a:solidFill>
              <a:srgbClr val="F4F6F9"/>
            </a:solidFill>
            <a:prstDash val="solid"/>
          </a:ln>
        </p:spPr>
      </p:sp>
      <p:sp>
        <p:nvSpPr>
          <p:cNvPr id="17" name="Text 15"/>
          <p:cNvSpPr/>
          <p:nvPr/>
        </p:nvSpPr>
        <p:spPr>
          <a:xfrm>
            <a:off x="2212848" y="2231136"/>
            <a:ext cx="1335024" cy="256032"/>
          </a:xfrm>
          <a:prstGeom prst="rect">
            <a:avLst/>
          </a:prstGeom>
          <a:noFill/>
          <a:ln/>
        </p:spPr>
        <p:txBody>
          <a:bodyPr wrap="square" lIns="0" tIns="0" rIns="0" bIns="0" rtlCol="0" anchor="ctr"/>
          <a:lstStyle/>
          <a:p>
            <a:pPr algn="ctr" indent="0" marL="0">
              <a:buNone/>
            </a:pPr>
            <a:r>
              <a:rPr lang="en-US" sz="800" dirty="0">
                <a:solidFill>
                  <a:srgbClr val="6B7C8F"/>
                </a:solidFill>
                <a:latin typeface="Calibri" pitchFamily="34" charset="0"/>
                <a:ea typeface="Calibri" pitchFamily="34" charset="-122"/>
                <a:cs typeface="Calibri" pitchFamily="34" charset="-120"/>
              </a:rPr>
              <a:t>Oct 2025</a:t>
            </a:r>
            <a:endParaRPr lang="en-US" sz="800" dirty="0"/>
          </a:p>
        </p:txBody>
      </p:sp>
      <p:sp>
        <p:nvSpPr>
          <p:cNvPr id="18" name="Text 16"/>
          <p:cNvSpPr/>
          <p:nvPr/>
        </p:nvSpPr>
        <p:spPr>
          <a:xfrm>
            <a:off x="2212848" y="2578608"/>
            <a:ext cx="1335024" cy="2176272"/>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Real decisions required: which dataset to use, how complex to make the system, and how to divide the work. Conversations were not always comfortable but they were necessary. Ended with AutoVal-AI agreed and Jira set up properly.</a:t>
            </a:r>
            <a:endParaRPr lang="en-US" sz="850" dirty="0"/>
          </a:p>
        </p:txBody>
      </p:sp>
      <p:sp>
        <p:nvSpPr>
          <p:cNvPr id="19" name="Shape 17"/>
          <p:cNvSpPr/>
          <p:nvPr/>
        </p:nvSpPr>
        <p:spPr>
          <a:xfrm>
            <a:off x="3785616" y="1371600"/>
            <a:ext cx="1517904" cy="3520440"/>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20" name="Shape 18"/>
          <p:cNvSpPr/>
          <p:nvPr/>
        </p:nvSpPr>
        <p:spPr>
          <a:xfrm>
            <a:off x="3785616" y="1371600"/>
            <a:ext cx="1517904" cy="457200"/>
          </a:xfrm>
          <a:prstGeom prst="rect">
            <a:avLst/>
          </a:prstGeom>
          <a:solidFill>
            <a:srgbClr val="B8860B"/>
          </a:solidFill>
          <a:ln w="12700">
            <a:solidFill>
              <a:srgbClr val="B8860B"/>
            </a:solidFill>
            <a:prstDash val="solid"/>
          </a:ln>
        </p:spPr>
      </p:sp>
      <p:sp>
        <p:nvSpPr>
          <p:cNvPr id="21" name="Text 19"/>
          <p:cNvSpPr/>
          <p:nvPr/>
        </p:nvSpPr>
        <p:spPr>
          <a:xfrm>
            <a:off x="3785616" y="1389888"/>
            <a:ext cx="1517904" cy="42062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2" name="Text 20"/>
          <p:cNvSpPr/>
          <p:nvPr/>
        </p:nvSpPr>
        <p:spPr>
          <a:xfrm>
            <a:off x="3877056" y="1901952"/>
            <a:ext cx="1335024" cy="292608"/>
          </a:xfrm>
          <a:prstGeom prst="rect">
            <a:avLst/>
          </a:prstGeom>
          <a:noFill/>
          <a:ln/>
        </p:spPr>
        <p:txBody>
          <a:bodyPr wrap="square" lIns="0" tIns="0" rIns="0" bIns="0" rtlCol="0" anchor="ctr"/>
          <a:lstStyle/>
          <a:p>
            <a:pPr indent="0" marL="0">
              <a:buNone/>
            </a:pPr>
            <a:r>
              <a:rPr lang="en-US" sz="1200" b="1" dirty="0">
                <a:solidFill>
                  <a:srgbClr val="B8860B"/>
                </a:solidFill>
                <a:latin typeface="Cambria" pitchFamily="34" charset="0"/>
                <a:ea typeface="Cambria" pitchFamily="34" charset="-122"/>
                <a:cs typeface="Cambria" pitchFamily="34" charset="-120"/>
              </a:rPr>
              <a:t>Norming</a:t>
            </a:r>
            <a:endParaRPr lang="en-US" sz="1200" dirty="0"/>
          </a:p>
        </p:txBody>
      </p:sp>
      <p:sp>
        <p:nvSpPr>
          <p:cNvPr id="23" name="Shape 21"/>
          <p:cNvSpPr/>
          <p:nvPr/>
        </p:nvSpPr>
        <p:spPr>
          <a:xfrm>
            <a:off x="3877056" y="2231136"/>
            <a:ext cx="1335024" cy="256032"/>
          </a:xfrm>
          <a:prstGeom prst="rect">
            <a:avLst/>
          </a:prstGeom>
          <a:solidFill>
            <a:srgbClr val="F4F6F9"/>
          </a:solidFill>
          <a:ln w="12700">
            <a:solidFill>
              <a:srgbClr val="F4F6F9"/>
            </a:solidFill>
            <a:prstDash val="solid"/>
          </a:ln>
        </p:spPr>
      </p:sp>
      <p:sp>
        <p:nvSpPr>
          <p:cNvPr id="24" name="Text 22"/>
          <p:cNvSpPr/>
          <p:nvPr/>
        </p:nvSpPr>
        <p:spPr>
          <a:xfrm>
            <a:off x="3877056" y="2231136"/>
            <a:ext cx="1335024" cy="256032"/>
          </a:xfrm>
          <a:prstGeom prst="rect">
            <a:avLst/>
          </a:prstGeom>
          <a:noFill/>
          <a:ln/>
        </p:spPr>
        <p:txBody>
          <a:bodyPr wrap="square" lIns="0" tIns="0" rIns="0" bIns="0" rtlCol="0" anchor="ctr"/>
          <a:lstStyle/>
          <a:p>
            <a:pPr algn="ctr" indent="0" marL="0">
              <a:buNone/>
            </a:pPr>
            <a:r>
              <a:rPr lang="en-US" sz="800" dirty="0">
                <a:solidFill>
                  <a:srgbClr val="6B7C8F"/>
                </a:solidFill>
                <a:latin typeface="Calibri" pitchFamily="34" charset="0"/>
                <a:ea typeface="Calibri" pitchFamily="34" charset="-122"/>
                <a:cs typeface="Calibri" pitchFamily="34" charset="-120"/>
              </a:rPr>
              <a:t>Nov 2025</a:t>
            </a:r>
            <a:endParaRPr lang="en-US" sz="800" dirty="0"/>
          </a:p>
        </p:txBody>
      </p:sp>
      <p:sp>
        <p:nvSpPr>
          <p:cNvPr id="25" name="Text 23"/>
          <p:cNvSpPr/>
          <p:nvPr/>
        </p:nvSpPr>
        <p:spPr>
          <a:xfrm>
            <a:off x="3877056" y="2578608"/>
            <a:ext cx="1335024" cy="2176272"/>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Workflows became clear and settled. Hasan and Arham working closely on data and models. Jabber planning the frontend layout. The Jira board was being followed consistently rather than just existing as a formality.</a:t>
            </a:r>
            <a:endParaRPr lang="en-US" sz="850" dirty="0"/>
          </a:p>
        </p:txBody>
      </p:sp>
      <p:sp>
        <p:nvSpPr>
          <p:cNvPr id="26" name="Shape 24"/>
          <p:cNvSpPr/>
          <p:nvPr/>
        </p:nvSpPr>
        <p:spPr>
          <a:xfrm>
            <a:off x="5449824" y="1371600"/>
            <a:ext cx="1517904" cy="3520440"/>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27" name="Shape 25"/>
          <p:cNvSpPr/>
          <p:nvPr/>
        </p:nvSpPr>
        <p:spPr>
          <a:xfrm>
            <a:off x="5449824" y="1371600"/>
            <a:ext cx="1517904" cy="457200"/>
          </a:xfrm>
          <a:prstGeom prst="rect">
            <a:avLst/>
          </a:prstGeom>
          <a:solidFill>
            <a:srgbClr val="1A7A4A"/>
          </a:solidFill>
          <a:ln w="12700">
            <a:solidFill>
              <a:srgbClr val="1A7A4A"/>
            </a:solidFill>
            <a:prstDash val="solid"/>
          </a:ln>
        </p:spPr>
      </p:sp>
      <p:sp>
        <p:nvSpPr>
          <p:cNvPr id="28" name="Text 26"/>
          <p:cNvSpPr/>
          <p:nvPr/>
        </p:nvSpPr>
        <p:spPr>
          <a:xfrm>
            <a:off x="5449824" y="1389888"/>
            <a:ext cx="1517904" cy="42062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9" name="Text 27"/>
          <p:cNvSpPr/>
          <p:nvPr/>
        </p:nvSpPr>
        <p:spPr>
          <a:xfrm>
            <a:off x="5541264" y="1901952"/>
            <a:ext cx="1335024" cy="292608"/>
          </a:xfrm>
          <a:prstGeom prst="rect">
            <a:avLst/>
          </a:prstGeom>
          <a:noFill/>
          <a:ln/>
        </p:spPr>
        <p:txBody>
          <a:bodyPr wrap="square" lIns="0" tIns="0" rIns="0" bIns="0" rtlCol="0" anchor="ctr"/>
          <a:lstStyle/>
          <a:p>
            <a:pPr indent="0" marL="0">
              <a:buNone/>
            </a:pPr>
            <a:r>
              <a:rPr lang="en-US" sz="1200" b="1" dirty="0">
                <a:solidFill>
                  <a:srgbClr val="1A7A4A"/>
                </a:solidFill>
                <a:latin typeface="Cambria" pitchFamily="34" charset="0"/>
                <a:ea typeface="Cambria" pitchFamily="34" charset="-122"/>
                <a:cs typeface="Cambria" pitchFamily="34" charset="-120"/>
              </a:rPr>
              <a:t>Performing</a:t>
            </a:r>
            <a:endParaRPr lang="en-US" sz="1200" dirty="0"/>
          </a:p>
        </p:txBody>
      </p:sp>
      <p:sp>
        <p:nvSpPr>
          <p:cNvPr id="30" name="Shape 28"/>
          <p:cNvSpPr/>
          <p:nvPr/>
        </p:nvSpPr>
        <p:spPr>
          <a:xfrm>
            <a:off x="5541264" y="2231136"/>
            <a:ext cx="1335024" cy="256032"/>
          </a:xfrm>
          <a:prstGeom prst="rect">
            <a:avLst/>
          </a:prstGeom>
          <a:solidFill>
            <a:srgbClr val="F4F6F9"/>
          </a:solidFill>
          <a:ln w="12700">
            <a:solidFill>
              <a:srgbClr val="F4F6F9"/>
            </a:solidFill>
            <a:prstDash val="solid"/>
          </a:ln>
        </p:spPr>
      </p:sp>
      <p:sp>
        <p:nvSpPr>
          <p:cNvPr id="31" name="Text 29"/>
          <p:cNvSpPr/>
          <p:nvPr/>
        </p:nvSpPr>
        <p:spPr>
          <a:xfrm>
            <a:off x="5541264" y="2231136"/>
            <a:ext cx="1335024" cy="256032"/>
          </a:xfrm>
          <a:prstGeom prst="rect">
            <a:avLst/>
          </a:prstGeom>
          <a:noFill/>
          <a:ln/>
        </p:spPr>
        <p:txBody>
          <a:bodyPr wrap="square" lIns="0" tIns="0" rIns="0" bIns="0" rtlCol="0" anchor="ctr"/>
          <a:lstStyle/>
          <a:p>
            <a:pPr algn="ctr" indent="0" marL="0">
              <a:buNone/>
            </a:pPr>
            <a:r>
              <a:rPr lang="en-US" sz="800" dirty="0">
                <a:solidFill>
                  <a:srgbClr val="6B7C8F"/>
                </a:solidFill>
                <a:latin typeface="Calibri" pitchFamily="34" charset="0"/>
                <a:ea typeface="Calibri" pitchFamily="34" charset="-122"/>
                <a:cs typeface="Calibri" pitchFamily="34" charset="-120"/>
              </a:rPr>
              <a:t>Dec 2025–Mar 2026</a:t>
            </a:r>
            <a:endParaRPr lang="en-US" sz="800" dirty="0"/>
          </a:p>
        </p:txBody>
      </p:sp>
      <p:sp>
        <p:nvSpPr>
          <p:cNvPr id="32" name="Text 30"/>
          <p:cNvSpPr/>
          <p:nvPr/>
        </p:nvSpPr>
        <p:spPr>
          <a:xfrm>
            <a:off x="5541264" y="2578608"/>
            <a:ext cx="1335024" cy="2176272"/>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Most productive period of the project. Flask API built and tested. Website came together. Full system connected end to end. Real confidence in each other's work — each person trusted to deliver without being chased.</a:t>
            </a:r>
            <a:endParaRPr lang="en-US" sz="850" dirty="0"/>
          </a:p>
        </p:txBody>
      </p:sp>
      <p:sp>
        <p:nvSpPr>
          <p:cNvPr id="33" name="Shape 31"/>
          <p:cNvSpPr/>
          <p:nvPr/>
        </p:nvSpPr>
        <p:spPr>
          <a:xfrm>
            <a:off x="7114032" y="1371600"/>
            <a:ext cx="1517904" cy="3520440"/>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34" name="Shape 32"/>
          <p:cNvSpPr/>
          <p:nvPr/>
        </p:nvSpPr>
        <p:spPr>
          <a:xfrm>
            <a:off x="7114032" y="1371600"/>
            <a:ext cx="1517904" cy="457200"/>
          </a:xfrm>
          <a:prstGeom prst="rect">
            <a:avLst/>
          </a:prstGeom>
          <a:solidFill>
            <a:srgbClr val="5B2D8E"/>
          </a:solidFill>
          <a:ln w="12700">
            <a:solidFill>
              <a:srgbClr val="5B2D8E"/>
            </a:solidFill>
            <a:prstDash val="solid"/>
          </a:ln>
        </p:spPr>
      </p:sp>
      <p:sp>
        <p:nvSpPr>
          <p:cNvPr id="35" name="Text 33"/>
          <p:cNvSpPr/>
          <p:nvPr/>
        </p:nvSpPr>
        <p:spPr>
          <a:xfrm>
            <a:off x="7114032" y="1389888"/>
            <a:ext cx="1517904" cy="42062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36" name="Text 34"/>
          <p:cNvSpPr/>
          <p:nvPr/>
        </p:nvSpPr>
        <p:spPr>
          <a:xfrm>
            <a:off x="7205472" y="1901952"/>
            <a:ext cx="1335024" cy="292608"/>
          </a:xfrm>
          <a:prstGeom prst="rect">
            <a:avLst/>
          </a:prstGeom>
          <a:noFill/>
          <a:ln/>
        </p:spPr>
        <p:txBody>
          <a:bodyPr wrap="square" lIns="0" tIns="0" rIns="0" bIns="0" rtlCol="0" anchor="ctr"/>
          <a:lstStyle/>
          <a:p>
            <a:pPr indent="0" marL="0">
              <a:buNone/>
            </a:pPr>
            <a:r>
              <a:rPr lang="en-US" sz="1200" b="1" dirty="0">
                <a:solidFill>
                  <a:srgbClr val="5B2D8E"/>
                </a:solidFill>
                <a:latin typeface="Cambria" pitchFamily="34" charset="0"/>
                <a:ea typeface="Cambria" pitchFamily="34" charset="-122"/>
                <a:cs typeface="Cambria" pitchFamily="34" charset="-120"/>
              </a:rPr>
              <a:t>Adjourning</a:t>
            </a:r>
            <a:endParaRPr lang="en-US" sz="1200" dirty="0"/>
          </a:p>
        </p:txBody>
      </p:sp>
      <p:sp>
        <p:nvSpPr>
          <p:cNvPr id="37" name="Shape 35"/>
          <p:cNvSpPr/>
          <p:nvPr/>
        </p:nvSpPr>
        <p:spPr>
          <a:xfrm>
            <a:off x="7205472" y="2231136"/>
            <a:ext cx="1335024" cy="256032"/>
          </a:xfrm>
          <a:prstGeom prst="rect">
            <a:avLst/>
          </a:prstGeom>
          <a:solidFill>
            <a:srgbClr val="F4F6F9"/>
          </a:solidFill>
          <a:ln w="12700">
            <a:solidFill>
              <a:srgbClr val="F4F6F9"/>
            </a:solidFill>
            <a:prstDash val="solid"/>
          </a:ln>
        </p:spPr>
      </p:sp>
      <p:sp>
        <p:nvSpPr>
          <p:cNvPr id="38" name="Text 36"/>
          <p:cNvSpPr/>
          <p:nvPr/>
        </p:nvSpPr>
        <p:spPr>
          <a:xfrm>
            <a:off x="7205472" y="2231136"/>
            <a:ext cx="1335024" cy="256032"/>
          </a:xfrm>
          <a:prstGeom prst="rect">
            <a:avLst/>
          </a:prstGeom>
          <a:noFill/>
          <a:ln/>
        </p:spPr>
        <p:txBody>
          <a:bodyPr wrap="square" lIns="0" tIns="0" rIns="0" bIns="0" rtlCol="0" anchor="ctr"/>
          <a:lstStyle/>
          <a:p>
            <a:pPr algn="ctr" indent="0" marL="0">
              <a:buNone/>
            </a:pPr>
            <a:r>
              <a:rPr lang="en-US" sz="800" dirty="0">
                <a:solidFill>
                  <a:srgbClr val="6B7C8F"/>
                </a:solidFill>
                <a:latin typeface="Calibri" pitchFamily="34" charset="0"/>
                <a:ea typeface="Calibri" pitchFamily="34" charset="-122"/>
                <a:cs typeface="Calibri" pitchFamily="34" charset="-120"/>
              </a:rPr>
              <a:t>Apr 2026</a:t>
            </a:r>
            <a:endParaRPr lang="en-US" sz="800" dirty="0"/>
          </a:p>
        </p:txBody>
      </p:sp>
      <p:sp>
        <p:nvSpPr>
          <p:cNvPr id="39" name="Text 37"/>
          <p:cNvSpPr/>
          <p:nvPr/>
        </p:nvSpPr>
        <p:spPr>
          <a:xfrm>
            <a:off x="7205472" y="2578608"/>
            <a:ext cx="1335024" cy="2176272"/>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Project complete, writing up reports. A sense of satisfaction — and a strange feeling of the team ending after eight months of genuinely effective collaboration that each member valued.</a:t>
            </a:r>
            <a:endParaRPr lang="en-US" sz="850" dirty="0"/>
          </a:p>
        </p:txBody>
      </p:sp>
      <p:sp>
        <p:nvSpPr>
          <p:cNvPr id="40" name="Text 38"/>
          <p:cNvSpPr/>
          <p:nvPr/>
        </p:nvSpPr>
        <p:spPr>
          <a:xfrm>
            <a:off x="457200" y="4901184"/>
            <a:ext cx="8229600" cy="182880"/>
          </a:xfrm>
          <a:prstGeom prst="rect">
            <a:avLst/>
          </a:prstGeom>
          <a:noFill/>
          <a:ln/>
        </p:spPr>
        <p:txBody>
          <a:bodyPr wrap="square" lIns="0" tIns="0" rIns="0" bIns="0" rtlCol="0" anchor="ctr"/>
          <a:lstStyle/>
          <a:p>
            <a:pPr indent="0" marL="0">
              <a:buNone/>
            </a:pPr>
            <a:r>
              <a:rPr lang="en-US" sz="800" i="1" dirty="0">
                <a:solidFill>
                  <a:srgbClr val="6B7C8F"/>
                </a:solidFill>
                <a:latin typeface="Calibri" pitchFamily="34" charset="0"/>
                <a:ea typeface="Calibri" pitchFamily="34" charset="-122"/>
                <a:cs typeface="Calibri" pitchFamily="34" charset="-120"/>
              </a:rPr>
              <a:t>Tuckman (1965) and Jensen (1977): Teams that reach the Performing stage are significantly more productive. Jira structure helped us reach it faster.</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8229600" cy="219456"/>
          </a:xfrm>
          <a:prstGeom prst="rect">
            <a:avLst/>
          </a:prstGeom>
          <a:noFill/>
          <a:ln/>
        </p:spPr>
        <p:txBody>
          <a:bodyPr wrap="square" lIns="0" tIns="0" rIns="0" bIns="0" rtlCol="0" anchor="ctr"/>
          <a:lstStyle/>
          <a:p>
            <a:pPr indent="0" marL="0">
              <a:buNone/>
            </a:pPr>
            <a:r>
              <a:rPr lang="en-US" sz="850" b="1" spc="250" kern="0" dirty="0">
                <a:solidFill>
                  <a:srgbClr val="B8860B"/>
                </a:solidFill>
                <a:latin typeface="Calibri" pitchFamily="34" charset="0"/>
                <a:ea typeface="Calibri" pitchFamily="34" charset="-122"/>
                <a:cs typeface="Calibri" pitchFamily="34" charset="-120"/>
              </a:rPr>
              <a:t>CHAPTER 4 — DATA COLLECTION AND PREPROCESSING</a:t>
            </a:r>
            <a:endParaRPr lang="en-US" sz="85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000" b="1" dirty="0">
                <a:solidFill>
                  <a:srgbClr val="1B3A6B"/>
                </a:solidFill>
                <a:latin typeface="Cambria" pitchFamily="34" charset="0"/>
                <a:ea typeface="Cambria" pitchFamily="34" charset="-122"/>
                <a:cs typeface="Cambria" pitchFamily="34" charset="-120"/>
              </a:rPr>
              <a:t>OLX Pakistan Dataset and Cleaning Pipeline</a:t>
            </a:r>
            <a:endParaRPr lang="en-US" sz="3000" dirty="0"/>
          </a:p>
        </p:txBody>
      </p:sp>
      <p:sp>
        <p:nvSpPr>
          <p:cNvPr id="4" name="Shape 2"/>
          <p:cNvSpPr/>
          <p:nvPr/>
        </p:nvSpPr>
        <p:spPr>
          <a:xfrm>
            <a:off x="457200" y="1225296"/>
            <a:ext cx="8229600" cy="20117"/>
          </a:xfrm>
          <a:prstGeom prst="rect">
            <a:avLst/>
          </a:prstGeom>
          <a:solidFill>
            <a:srgbClr val="E8EDF4"/>
          </a:solidFill>
          <a:ln w="12700">
            <a:solidFill>
              <a:srgbClr val="E8EDF4"/>
            </a:solidFill>
            <a:prstDash val="solid"/>
          </a:ln>
        </p:spPr>
      </p:sp>
      <p:sp>
        <p:nvSpPr>
          <p:cNvPr id="5" name="Shape 3"/>
          <p:cNvSpPr/>
          <p:nvPr/>
        </p:nvSpPr>
        <p:spPr>
          <a:xfrm>
            <a:off x="457200" y="1371600"/>
            <a:ext cx="1993392" cy="804672"/>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6" name="Shape 4"/>
          <p:cNvSpPr/>
          <p:nvPr/>
        </p:nvSpPr>
        <p:spPr>
          <a:xfrm>
            <a:off x="457200" y="1371600"/>
            <a:ext cx="1993392" cy="50292"/>
          </a:xfrm>
          <a:prstGeom prst="rect">
            <a:avLst/>
          </a:prstGeom>
          <a:solidFill>
            <a:srgbClr val="1B3A6B"/>
          </a:solidFill>
          <a:ln w="12700">
            <a:solidFill>
              <a:srgbClr val="1B3A6B"/>
            </a:solidFill>
            <a:prstDash val="solid"/>
          </a:ln>
        </p:spPr>
      </p:sp>
      <p:sp>
        <p:nvSpPr>
          <p:cNvPr id="7" name="Text 5"/>
          <p:cNvSpPr/>
          <p:nvPr/>
        </p:nvSpPr>
        <p:spPr>
          <a:xfrm>
            <a:off x="457200" y="1481328"/>
            <a:ext cx="1993392" cy="420624"/>
          </a:xfrm>
          <a:prstGeom prst="rect">
            <a:avLst/>
          </a:prstGeom>
          <a:noFill/>
          <a:ln/>
        </p:spPr>
        <p:txBody>
          <a:bodyPr wrap="square" lIns="0" tIns="0" rIns="0" bIns="0" rtlCol="0" anchor="ctr"/>
          <a:lstStyle/>
          <a:p>
            <a:pPr algn="ctr" indent="0" marL="0">
              <a:buNone/>
            </a:pPr>
            <a:r>
              <a:rPr lang="en-US" sz="2400" b="1" dirty="0">
                <a:solidFill>
                  <a:srgbClr val="1B3A6B"/>
                </a:solidFill>
                <a:latin typeface="Cambria" pitchFamily="34" charset="0"/>
                <a:ea typeface="Cambria" pitchFamily="34" charset="-122"/>
                <a:cs typeface="Cambria" pitchFamily="34" charset="-120"/>
              </a:rPr>
              <a:t>49,448</a:t>
            </a:r>
            <a:endParaRPr lang="en-US" sz="2400" dirty="0"/>
          </a:p>
        </p:txBody>
      </p:sp>
      <p:sp>
        <p:nvSpPr>
          <p:cNvPr id="8" name="Text 6"/>
          <p:cNvSpPr/>
          <p:nvPr/>
        </p:nvSpPr>
        <p:spPr>
          <a:xfrm>
            <a:off x="457200" y="1901952"/>
            <a:ext cx="1993392" cy="219456"/>
          </a:xfrm>
          <a:prstGeom prst="rect">
            <a:avLst/>
          </a:prstGeom>
          <a:noFill/>
          <a:ln/>
        </p:spPr>
        <p:txBody>
          <a:bodyPr wrap="square" lIns="0" tIns="0" rIns="0" bIns="0" rtlCol="0" anchor="ctr"/>
          <a:lstStyle/>
          <a:p>
            <a:pPr algn="ctr" indent="0" marL="0">
              <a:buNone/>
            </a:pPr>
            <a:r>
              <a:rPr lang="en-US" sz="900" dirty="0">
                <a:solidFill>
                  <a:srgbClr val="6B7C8F"/>
                </a:solidFill>
                <a:latin typeface="Calibri" pitchFamily="34" charset="0"/>
                <a:ea typeface="Calibri" pitchFamily="34" charset="-122"/>
                <a:cs typeface="Calibri" pitchFamily="34" charset="-120"/>
              </a:rPr>
              <a:t>Raw Records</a:t>
            </a:r>
            <a:endParaRPr lang="en-US" sz="900" dirty="0"/>
          </a:p>
        </p:txBody>
      </p:sp>
      <p:sp>
        <p:nvSpPr>
          <p:cNvPr id="9" name="Shape 7"/>
          <p:cNvSpPr/>
          <p:nvPr/>
        </p:nvSpPr>
        <p:spPr>
          <a:xfrm>
            <a:off x="457200" y="2304288"/>
            <a:ext cx="1993392" cy="804672"/>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10" name="Shape 8"/>
          <p:cNvSpPr/>
          <p:nvPr/>
        </p:nvSpPr>
        <p:spPr>
          <a:xfrm>
            <a:off x="457200" y="2304288"/>
            <a:ext cx="1993392" cy="50292"/>
          </a:xfrm>
          <a:prstGeom prst="rect">
            <a:avLst/>
          </a:prstGeom>
          <a:solidFill>
            <a:srgbClr val="0B6E8C"/>
          </a:solidFill>
          <a:ln w="12700">
            <a:solidFill>
              <a:srgbClr val="0B6E8C"/>
            </a:solidFill>
            <a:prstDash val="solid"/>
          </a:ln>
        </p:spPr>
      </p:sp>
      <p:sp>
        <p:nvSpPr>
          <p:cNvPr id="11" name="Text 9"/>
          <p:cNvSpPr/>
          <p:nvPr/>
        </p:nvSpPr>
        <p:spPr>
          <a:xfrm>
            <a:off x="457200" y="2414016"/>
            <a:ext cx="1993392" cy="420624"/>
          </a:xfrm>
          <a:prstGeom prst="rect">
            <a:avLst/>
          </a:prstGeom>
          <a:noFill/>
          <a:ln/>
        </p:spPr>
        <p:txBody>
          <a:bodyPr wrap="square" lIns="0" tIns="0" rIns="0" bIns="0" rtlCol="0" anchor="ctr"/>
          <a:lstStyle/>
          <a:p>
            <a:pPr algn="ctr" indent="0" marL="0">
              <a:buNone/>
            </a:pPr>
            <a:r>
              <a:rPr lang="en-US" sz="2400" b="1" dirty="0">
                <a:solidFill>
                  <a:srgbClr val="0B6E8C"/>
                </a:solidFill>
                <a:latin typeface="Cambria" pitchFamily="34" charset="0"/>
                <a:ea typeface="Cambria" pitchFamily="34" charset="-122"/>
                <a:cs typeface="Cambria" pitchFamily="34" charset="-120"/>
              </a:rPr>
              <a:t>18</a:t>
            </a:r>
            <a:endParaRPr lang="en-US" sz="2400" dirty="0"/>
          </a:p>
        </p:txBody>
      </p:sp>
      <p:sp>
        <p:nvSpPr>
          <p:cNvPr id="12" name="Text 10"/>
          <p:cNvSpPr/>
          <p:nvPr/>
        </p:nvSpPr>
        <p:spPr>
          <a:xfrm>
            <a:off x="457200" y="2834640"/>
            <a:ext cx="1993392" cy="219456"/>
          </a:xfrm>
          <a:prstGeom prst="rect">
            <a:avLst/>
          </a:prstGeom>
          <a:noFill/>
          <a:ln/>
        </p:spPr>
        <p:txBody>
          <a:bodyPr wrap="square" lIns="0" tIns="0" rIns="0" bIns="0" rtlCol="0" anchor="ctr"/>
          <a:lstStyle/>
          <a:p>
            <a:pPr algn="ctr" indent="0" marL="0">
              <a:buNone/>
            </a:pPr>
            <a:r>
              <a:rPr lang="en-US" sz="900" dirty="0">
                <a:solidFill>
                  <a:srgbClr val="6B7C8F"/>
                </a:solidFill>
                <a:latin typeface="Calibri" pitchFamily="34" charset="0"/>
                <a:ea typeface="Calibri" pitchFamily="34" charset="-122"/>
                <a:cs typeface="Calibri" pitchFamily="34" charset="-120"/>
              </a:rPr>
              <a:t>Original Columns</a:t>
            </a:r>
            <a:endParaRPr lang="en-US" sz="900" dirty="0"/>
          </a:p>
        </p:txBody>
      </p:sp>
      <p:sp>
        <p:nvSpPr>
          <p:cNvPr id="13" name="Shape 11"/>
          <p:cNvSpPr/>
          <p:nvPr/>
        </p:nvSpPr>
        <p:spPr>
          <a:xfrm>
            <a:off x="457200" y="3236976"/>
            <a:ext cx="1993392" cy="804672"/>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14" name="Shape 12"/>
          <p:cNvSpPr/>
          <p:nvPr/>
        </p:nvSpPr>
        <p:spPr>
          <a:xfrm>
            <a:off x="457200" y="3236976"/>
            <a:ext cx="1993392" cy="50292"/>
          </a:xfrm>
          <a:prstGeom prst="rect">
            <a:avLst/>
          </a:prstGeom>
          <a:solidFill>
            <a:srgbClr val="B8860B"/>
          </a:solidFill>
          <a:ln w="12700">
            <a:solidFill>
              <a:srgbClr val="B8860B"/>
            </a:solidFill>
            <a:prstDash val="solid"/>
          </a:ln>
        </p:spPr>
      </p:sp>
      <p:sp>
        <p:nvSpPr>
          <p:cNvPr id="15" name="Text 13"/>
          <p:cNvSpPr/>
          <p:nvPr/>
        </p:nvSpPr>
        <p:spPr>
          <a:xfrm>
            <a:off x="457200" y="3346704"/>
            <a:ext cx="1993392" cy="420624"/>
          </a:xfrm>
          <a:prstGeom prst="rect">
            <a:avLst/>
          </a:prstGeom>
          <a:noFill/>
          <a:ln/>
        </p:spPr>
        <p:txBody>
          <a:bodyPr wrap="square" lIns="0" tIns="0" rIns="0" bIns="0" rtlCol="0" anchor="ctr"/>
          <a:lstStyle/>
          <a:p>
            <a:pPr algn="ctr" indent="0" marL="0">
              <a:buNone/>
            </a:pPr>
            <a:r>
              <a:rPr lang="en-US" sz="2400" b="1" dirty="0">
                <a:solidFill>
                  <a:srgbClr val="B8860B"/>
                </a:solidFill>
                <a:latin typeface="Cambria" pitchFamily="34" charset="0"/>
                <a:ea typeface="Cambria" pitchFamily="34" charset="-122"/>
                <a:cs typeface="Cambria" pitchFamily="34" charset="-120"/>
              </a:rPr>
              <a:t>9</a:t>
            </a:r>
            <a:endParaRPr lang="en-US" sz="2400" dirty="0"/>
          </a:p>
        </p:txBody>
      </p:sp>
      <p:sp>
        <p:nvSpPr>
          <p:cNvPr id="16" name="Text 14"/>
          <p:cNvSpPr/>
          <p:nvPr/>
        </p:nvSpPr>
        <p:spPr>
          <a:xfrm>
            <a:off x="457200" y="3767328"/>
            <a:ext cx="1993392" cy="219456"/>
          </a:xfrm>
          <a:prstGeom prst="rect">
            <a:avLst/>
          </a:prstGeom>
          <a:noFill/>
          <a:ln/>
        </p:spPr>
        <p:txBody>
          <a:bodyPr wrap="square" lIns="0" tIns="0" rIns="0" bIns="0" rtlCol="0" anchor="ctr"/>
          <a:lstStyle/>
          <a:p>
            <a:pPr algn="ctr" indent="0" marL="0">
              <a:buNone/>
            </a:pPr>
            <a:r>
              <a:rPr lang="en-US" sz="900" dirty="0">
                <a:solidFill>
                  <a:srgbClr val="6B7C8F"/>
                </a:solidFill>
                <a:latin typeface="Calibri" pitchFamily="34" charset="0"/>
                <a:ea typeface="Calibri" pitchFamily="34" charset="-122"/>
                <a:cs typeface="Calibri" pitchFamily="34" charset="-120"/>
              </a:rPr>
              <a:t>Features Selected</a:t>
            </a:r>
            <a:endParaRPr lang="en-US" sz="900" dirty="0"/>
          </a:p>
        </p:txBody>
      </p:sp>
      <p:sp>
        <p:nvSpPr>
          <p:cNvPr id="17" name="Shape 15"/>
          <p:cNvSpPr/>
          <p:nvPr/>
        </p:nvSpPr>
        <p:spPr>
          <a:xfrm>
            <a:off x="457200" y="4169664"/>
            <a:ext cx="1993392" cy="804672"/>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18" name="Shape 16"/>
          <p:cNvSpPr/>
          <p:nvPr/>
        </p:nvSpPr>
        <p:spPr>
          <a:xfrm>
            <a:off x="457200" y="4169664"/>
            <a:ext cx="1993392" cy="50292"/>
          </a:xfrm>
          <a:prstGeom prst="rect">
            <a:avLst/>
          </a:prstGeom>
          <a:solidFill>
            <a:srgbClr val="1A7A4A"/>
          </a:solidFill>
          <a:ln w="12700">
            <a:solidFill>
              <a:srgbClr val="1A7A4A"/>
            </a:solidFill>
            <a:prstDash val="solid"/>
          </a:ln>
        </p:spPr>
      </p:sp>
      <p:sp>
        <p:nvSpPr>
          <p:cNvPr id="19" name="Text 17"/>
          <p:cNvSpPr/>
          <p:nvPr/>
        </p:nvSpPr>
        <p:spPr>
          <a:xfrm>
            <a:off x="457200" y="4279392"/>
            <a:ext cx="1993392" cy="420624"/>
          </a:xfrm>
          <a:prstGeom prst="rect">
            <a:avLst/>
          </a:prstGeom>
          <a:noFill/>
          <a:ln/>
        </p:spPr>
        <p:txBody>
          <a:bodyPr wrap="square" lIns="0" tIns="0" rIns="0" bIns="0" rtlCol="0" anchor="ctr"/>
          <a:lstStyle/>
          <a:p>
            <a:pPr algn="ctr" indent="0" marL="0">
              <a:buNone/>
            </a:pPr>
            <a:r>
              <a:rPr lang="en-US" sz="2400" b="1" dirty="0">
                <a:solidFill>
                  <a:srgbClr val="1A7A4A"/>
                </a:solidFill>
                <a:latin typeface="Cambria" pitchFamily="34" charset="0"/>
                <a:ea typeface="Cambria" pitchFamily="34" charset="-122"/>
                <a:cs typeface="Cambria" pitchFamily="34" charset="-120"/>
              </a:rPr>
              <a:t>80/20</a:t>
            </a:r>
            <a:endParaRPr lang="en-US" sz="2400" dirty="0"/>
          </a:p>
        </p:txBody>
      </p:sp>
      <p:sp>
        <p:nvSpPr>
          <p:cNvPr id="20" name="Text 18"/>
          <p:cNvSpPr/>
          <p:nvPr/>
        </p:nvSpPr>
        <p:spPr>
          <a:xfrm>
            <a:off x="457200" y="4700016"/>
            <a:ext cx="1993392" cy="219456"/>
          </a:xfrm>
          <a:prstGeom prst="rect">
            <a:avLst/>
          </a:prstGeom>
          <a:noFill/>
          <a:ln/>
        </p:spPr>
        <p:txBody>
          <a:bodyPr wrap="square" lIns="0" tIns="0" rIns="0" bIns="0" rtlCol="0" anchor="ctr"/>
          <a:lstStyle/>
          <a:p>
            <a:pPr algn="ctr" indent="0" marL="0">
              <a:buNone/>
            </a:pPr>
            <a:r>
              <a:rPr lang="en-US" sz="900" dirty="0">
                <a:solidFill>
                  <a:srgbClr val="6B7C8F"/>
                </a:solidFill>
                <a:latin typeface="Calibri" pitchFamily="34" charset="0"/>
                <a:ea typeface="Calibri" pitchFamily="34" charset="-122"/>
                <a:cs typeface="Calibri" pitchFamily="34" charset="-120"/>
              </a:rPr>
              <a:t>Train / Test Split</a:t>
            </a:r>
            <a:endParaRPr lang="en-US" sz="900" dirty="0"/>
          </a:p>
        </p:txBody>
      </p:sp>
      <p:sp>
        <p:nvSpPr>
          <p:cNvPr id="21" name="Shape 19"/>
          <p:cNvSpPr/>
          <p:nvPr/>
        </p:nvSpPr>
        <p:spPr>
          <a:xfrm>
            <a:off x="2633472" y="1371600"/>
            <a:ext cx="6053328" cy="2029968"/>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22" name="Text 20"/>
          <p:cNvSpPr/>
          <p:nvPr/>
        </p:nvSpPr>
        <p:spPr>
          <a:xfrm>
            <a:off x="2816352" y="1444752"/>
            <a:ext cx="5742432" cy="256032"/>
          </a:xfrm>
          <a:prstGeom prst="rect">
            <a:avLst/>
          </a:prstGeom>
          <a:noFill/>
          <a:ln/>
        </p:spPr>
        <p:txBody>
          <a:bodyPr wrap="square" lIns="0" tIns="0" rIns="0" bIns="0" rtlCol="0" anchor="ctr"/>
          <a:lstStyle/>
          <a:p>
            <a:pPr indent="0" marL="0">
              <a:buNone/>
            </a:pPr>
            <a:r>
              <a:rPr lang="en-US" sz="1100" b="1" dirty="0">
                <a:solidFill>
                  <a:srgbClr val="1B3A6B"/>
                </a:solidFill>
                <a:latin typeface="Calibri" pitchFamily="34" charset="0"/>
                <a:ea typeface="Calibri" pitchFamily="34" charset="-122"/>
                <a:cs typeface="Calibri" pitchFamily="34" charset="-120"/>
              </a:rPr>
              <a:t>Data Cleaning Pipeline — Sprint 2, Google Colab (Arham Salman)</a:t>
            </a:r>
            <a:endParaRPr lang="en-US" sz="1100" dirty="0"/>
          </a:p>
        </p:txBody>
      </p:sp>
      <p:sp>
        <p:nvSpPr>
          <p:cNvPr id="23" name="Shape 21"/>
          <p:cNvSpPr/>
          <p:nvPr/>
        </p:nvSpPr>
        <p:spPr>
          <a:xfrm>
            <a:off x="2816352" y="1810512"/>
            <a:ext cx="329184" cy="329184"/>
          </a:xfrm>
          <a:prstGeom prst="ellipse">
            <a:avLst/>
          </a:prstGeom>
          <a:solidFill>
            <a:srgbClr val="B8860B"/>
          </a:solidFill>
          <a:ln w="12700">
            <a:solidFill>
              <a:srgbClr val="B8860B"/>
            </a:solidFill>
            <a:prstDash val="solid"/>
          </a:ln>
        </p:spPr>
      </p:sp>
      <p:sp>
        <p:nvSpPr>
          <p:cNvPr id="24" name="Text 22"/>
          <p:cNvSpPr/>
          <p:nvPr/>
        </p:nvSpPr>
        <p:spPr>
          <a:xfrm>
            <a:off x="2816352" y="1828800"/>
            <a:ext cx="32918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5" name="Text 23"/>
          <p:cNvSpPr/>
          <p:nvPr/>
        </p:nvSpPr>
        <p:spPr>
          <a:xfrm>
            <a:off x="3255264" y="1828800"/>
            <a:ext cx="1371600" cy="256032"/>
          </a:xfrm>
          <a:prstGeom prst="rect">
            <a:avLst/>
          </a:prstGeom>
          <a:noFill/>
          <a:ln/>
        </p:spPr>
        <p:txBody>
          <a:bodyPr wrap="square" lIns="0" tIns="0" rIns="0" bIns="0" rtlCol="0" anchor="ctr"/>
          <a:lstStyle/>
          <a:p>
            <a:pPr indent="0" marL="0">
              <a:buNone/>
            </a:pPr>
            <a:r>
              <a:rPr lang="en-US" sz="900" b="1" dirty="0">
                <a:solidFill>
                  <a:srgbClr val="1B3A6B"/>
                </a:solidFill>
                <a:latin typeface="Calibri" pitchFamily="34" charset="0"/>
                <a:ea typeface="Calibri" pitchFamily="34" charset="-122"/>
                <a:cs typeface="Calibri" pitchFamily="34" charset="-120"/>
              </a:rPr>
              <a:t>Column Renaming:</a:t>
            </a:r>
            <a:endParaRPr lang="en-US" sz="900" dirty="0"/>
          </a:p>
        </p:txBody>
      </p:sp>
      <p:sp>
        <p:nvSpPr>
          <p:cNvPr id="26" name="Text 24"/>
          <p:cNvSpPr/>
          <p:nvPr/>
        </p:nvSpPr>
        <p:spPr>
          <a:xfrm>
            <a:off x="4663440" y="1828800"/>
            <a:ext cx="3858768" cy="256032"/>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'KM's driven' to Mileage_KM, 'Make' to Brand — all 18 columns mapped to system format</a:t>
            </a:r>
            <a:endParaRPr lang="en-US" sz="880" dirty="0"/>
          </a:p>
        </p:txBody>
      </p:sp>
      <p:sp>
        <p:nvSpPr>
          <p:cNvPr id="27" name="Shape 25"/>
          <p:cNvSpPr/>
          <p:nvPr/>
        </p:nvSpPr>
        <p:spPr>
          <a:xfrm>
            <a:off x="2816352" y="2139696"/>
            <a:ext cx="329184" cy="329184"/>
          </a:xfrm>
          <a:prstGeom prst="ellipse">
            <a:avLst/>
          </a:prstGeom>
          <a:solidFill>
            <a:srgbClr val="B8860B"/>
          </a:solidFill>
          <a:ln w="12700">
            <a:solidFill>
              <a:srgbClr val="B8860B"/>
            </a:solidFill>
            <a:prstDash val="solid"/>
          </a:ln>
        </p:spPr>
      </p:sp>
      <p:sp>
        <p:nvSpPr>
          <p:cNvPr id="28" name="Text 26"/>
          <p:cNvSpPr/>
          <p:nvPr/>
        </p:nvSpPr>
        <p:spPr>
          <a:xfrm>
            <a:off x="2816352" y="2157984"/>
            <a:ext cx="32918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9" name="Text 27"/>
          <p:cNvSpPr/>
          <p:nvPr/>
        </p:nvSpPr>
        <p:spPr>
          <a:xfrm>
            <a:off x="3255264" y="2157984"/>
            <a:ext cx="1371600" cy="256032"/>
          </a:xfrm>
          <a:prstGeom prst="rect">
            <a:avLst/>
          </a:prstGeom>
          <a:noFill/>
          <a:ln/>
        </p:spPr>
        <p:txBody>
          <a:bodyPr wrap="square" lIns="0" tIns="0" rIns="0" bIns="0" rtlCol="0" anchor="ctr"/>
          <a:lstStyle/>
          <a:p>
            <a:pPr indent="0" marL="0">
              <a:buNone/>
            </a:pPr>
            <a:r>
              <a:rPr lang="en-US" sz="900" b="1" dirty="0">
                <a:solidFill>
                  <a:srgbClr val="1B3A6B"/>
                </a:solidFill>
                <a:latin typeface="Calibri" pitchFamily="34" charset="0"/>
                <a:ea typeface="Calibri" pitchFamily="34" charset="-122"/>
                <a:cs typeface="Calibri" pitchFamily="34" charset="-120"/>
              </a:rPr>
              <a:t>Remove Nulls:</a:t>
            </a:r>
            <a:endParaRPr lang="en-US" sz="900" dirty="0"/>
          </a:p>
        </p:txBody>
      </p:sp>
      <p:sp>
        <p:nvSpPr>
          <p:cNvPr id="30" name="Text 28"/>
          <p:cNvSpPr/>
          <p:nvPr/>
        </p:nvSpPr>
        <p:spPr>
          <a:xfrm>
            <a:off x="4663440" y="2157984"/>
            <a:ext cx="3858768" cy="256032"/>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Dropped rows with missing Price, Brand or Model — critical fields with no safe default value</a:t>
            </a:r>
            <a:endParaRPr lang="en-US" sz="880" dirty="0"/>
          </a:p>
        </p:txBody>
      </p:sp>
      <p:sp>
        <p:nvSpPr>
          <p:cNvPr id="31" name="Shape 29"/>
          <p:cNvSpPr/>
          <p:nvPr/>
        </p:nvSpPr>
        <p:spPr>
          <a:xfrm>
            <a:off x="2816352" y="2468880"/>
            <a:ext cx="329184" cy="329184"/>
          </a:xfrm>
          <a:prstGeom prst="ellipse">
            <a:avLst/>
          </a:prstGeom>
          <a:solidFill>
            <a:srgbClr val="B8860B"/>
          </a:solidFill>
          <a:ln w="12700">
            <a:solidFill>
              <a:srgbClr val="B8860B"/>
            </a:solidFill>
            <a:prstDash val="solid"/>
          </a:ln>
        </p:spPr>
      </p:sp>
      <p:sp>
        <p:nvSpPr>
          <p:cNvPr id="32" name="Text 30"/>
          <p:cNvSpPr/>
          <p:nvPr/>
        </p:nvSpPr>
        <p:spPr>
          <a:xfrm>
            <a:off x="2816352" y="2487168"/>
            <a:ext cx="32918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3" name="Text 31"/>
          <p:cNvSpPr/>
          <p:nvPr/>
        </p:nvSpPr>
        <p:spPr>
          <a:xfrm>
            <a:off x="3255264" y="2487168"/>
            <a:ext cx="1371600" cy="256032"/>
          </a:xfrm>
          <a:prstGeom prst="rect">
            <a:avLst/>
          </a:prstGeom>
          <a:noFill/>
          <a:ln/>
        </p:spPr>
        <p:txBody>
          <a:bodyPr wrap="square" lIns="0" tIns="0" rIns="0" bIns="0" rtlCol="0" anchor="ctr"/>
          <a:lstStyle/>
          <a:p>
            <a:pPr indent="0" marL="0">
              <a:buNone/>
            </a:pPr>
            <a:r>
              <a:rPr lang="en-US" sz="900" b="1" dirty="0">
                <a:solidFill>
                  <a:srgbClr val="1B3A6B"/>
                </a:solidFill>
                <a:latin typeface="Calibri" pitchFamily="34" charset="0"/>
                <a:ea typeface="Calibri" pitchFamily="34" charset="-122"/>
                <a:cs typeface="Calibri" pitchFamily="34" charset="-120"/>
              </a:rPr>
              <a:t>Fix Data Types:</a:t>
            </a:r>
            <a:endParaRPr lang="en-US" sz="900" dirty="0"/>
          </a:p>
        </p:txBody>
      </p:sp>
      <p:sp>
        <p:nvSpPr>
          <p:cNvPr id="34" name="Text 32"/>
          <p:cNvSpPr/>
          <p:nvPr/>
        </p:nvSpPr>
        <p:spPr>
          <a:xfrm>
            <a:off x="4663440" y="2487168"/>
            <a:ext cx="3858768" cy="256032"/>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Text-stored numbers converted to integer and float throughout the entire dataset</a:t>
            </a:r>
            <a:endParaRPr lang="en-US" sz="880" dirty="0"/>
          </a:p>
        </p:txBody>
      </p:sp>
      <p:sp>
        <p:nvSpPr>
          <p:cNvPr id="35" name="Shape 33"/>
          <p:cNvSpPr/>
          <p:nvPr/>
        </p:nvSpPr>
        <p:spPr>
          <a:xfrm>
            <a:off x="2816352" y="2798064"/>
            <a:ext cx="329184" cy="329184"/>
          </a:xfrm>
          <a:prstGeom prst="ellipse">
            <a:avLst/>
          </a:prstGeom>
          <a:solidFill>
            <a:srgbClr val="B8860B"/>
          </a:solidFill>
          <a:ln w="12700">
            <a:solidFill>
              <a:srgbClr val="B8860B"/>
            </a:solidFill>
            <a:prstDash val="solid"/>
          </a:ln>
        </p:spPr>
      </p:sp>
      <p:sp>
        <p:nvSpPr>
          <p:cNvPr id="36" name="Text 34"/>
          <p:cNvSpPr/>
          <p:nvPr/>
        </p:nvSpPr>
        <p:spPr>
          <a:xfrm>
            <a:off x="2816352" y="2816352"/>
            <a:ext cx="32918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7" name="Text 35"/>
          <p:cNvSpPr/>
          <p:nvPr/>
        </p:nvSpPr>
        <p:spPr>
          <a:xfrm>
            <a:off x="3255264" y="2816352"/>
            <a:ext cx="1371600" cy="256032"/>
          </a:xfrm>
          <a:prstGeom prst="rect">
            <a:avLst/>
          </a:prstGeom>
          <a:noFill/>
          <a:ln/>
        </p:spPr>
        <p:txBody>
          <a:bodyPr wrap="square" lIns="0" tIns="0" rIns="0" bIns="0" rtlCol="0" anchor="ctr"/>
          <a:lstStyle/>
          <a:p>
            <a:pPr indent="0" marL="0">
              <a:buNone/>
            </a:pPr>
            <a:r>
              <a:rPr lang="en-US" sz="900" b="1" dirty="0">
                <a:solidFill>
                  <a:srgbClr val="1B3A6B"/>
                </a:solidFill>
                <a:latin typeface="Calibri" pitchFamily="34" charset="0"/>
                <a:ea typeface="Calibri" pitchFamily="34" charset="-122"/>
                <a:cs typeface="Calibri" pitchFamily="34" charset="-120"/>
              </a:rPr>
              <a:t>Label Encoding:</a:t>
            </a:r>
            <a:endParaRPr lang="en-US" sz="900" dirty="0"/>
          </a:p>
        </p:txBody>
      </p:sp>
      <p:sp>
        <p:nvSpPr>
          <p:cNvPr id="38" name="Text 36"/>
          <p:cNvSpPr/>
          <p:nvPr/>
        </p:nvSpPr>
        <p:spPr>
          <a:xfrm>
            <a:off x="4663440" y="2816352"/>
            <a:ext cx="3858768" cy="256032"/>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Brand, Model, Fuel Type, Transmission, City, Condition — each assigned unique integers</a:t>
            </a:r>
            <a:endParaRPr lang="en-US" sz="880" dirty="0"/>
          </a:p>
        </p:txBody>
      </p:sp>
      <p:sp>
        <p:nvSpPr>
          <p:cNvPr id="39" name="Shape 37"/>
          <p:cNvSpPr/>
          <p:nvPr/>
        </p:nvSpPr>
        <p:spPr>
          <a:xfrm>
            <a:off x="2816352" y="3127248"/>
            <a:ext cx="329184" cy="329184"/>
          </a:xfrm>
          <a:prstGeom prst="ellipse">
            <a:avLst/>
          </a:prstGeom>
          <a:solidFill>
            <a:srgbClr val="B8860B"/>
          </a:solidFill>
          <a:ln w="12700">
            <a:solidFill>
              <a:srgbClr val="B8860B"/>
            </a:solidFill>
            <a:prstDash val="solid"/>
          </a:ln>
        </p:spPr>
      </p:sp>
      <p:sp>
        <p:nvSpPr>
          <p:cNvPr id="40" name="Text 38"/>
          <p:cNvSpPr/>
          <p:nvPr/>
        </p:nvSpPr>
        <p:spPr>
          <a:xfrm>
            <a:off x="2816352" y="3145536"/>
            <a:ext cx="32918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1" name="Text 39"/>
          <p:cNvSpPr/>
          <p:nvPr/>
        </p:nvSpPr>
        <p:spPr>
          <a:xfrm>
            <a:off x="3255264" y="3145536"/>
            <a:ext cx="1371600" cy="256032"/>
          </a:xfrm>
          <a:prstGeom prst="rect">
            <a:avLst/>
          </a:prstGeom>
          <a:noFill/>
          <a:ln/>
        </p:spPr>
        <p:txBody>
          <a:bodyPr wrap="square" lIns="0" tIns="0" rIns="0" bIns="0" rtlCol="0" anchor="ctr"/>
          <a:lstStyle/>
          <a:p>
            <a:pPr indent="0" marL="0">
              <a:buNone/>
            </a:pPr>
            <a:r>
              <a:rPr lang="en-US" sz="900" b="1" dirty="0">
                <a:solidFill>
                  <a:srgbClr val="1B3A6B"/>
                </a:solidFill>
                <a:latin typeface="Calibri" pitchFamily="34" charset="0"/>
                <a:ea typeface="Calibri" pitchFamily="34" charset="-122"/>
                <a:cs typeface="Calibri" pitchFamily="34" charset="-120"/>
              </a:rPr>
              <a:t>StandardScaler:</a:t>
            </a:r>
            <a:endParaRPr lang="en-US" sz="900" dirty="0"/>
          </a:p>
        </p:txBody>
      </p:sp>
      <p:sp>
        <p:nvSpPr>
          <p:cNvPr id="42" name="Text 40"/>
          <p:cNvSpPr/>
          <p:nvPr/>
        </p:nvSpPr>
        <p:spPr>
          <a:xfrm>
            <a:off x="4663440" y="3145536"/>
            <a:ext cx="3858768" cy="256032"/>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Normalised Mileage and Year — prevents large ranges dominating smaller ones during training</a:t>
            </a:r>
            <a:endParaRPr lang="en-US" sz="880" dirty="0"/>
          </a:p>
        </p:txBody>
      </p:sp>
      <p:sp>
        <p:nvSpPr>
          <p:cNvPr id="43" name="Shape 41"/>
          <p:cNvSpPr/>
          <p:nvPr/>
        </p:nvSpPr>
        <p:spPr>
          <a:xfrm>
            <a:off x="2633472" y="3511296"/>
            <a:ext cx="6053328" cy="1536192"/>
          </a:xfrm>
          <a:prstGeom prst="rect">
            <a:avLst/>
          </a:prstGeom>
          <a:solidFill>
            <a:srgbClr val="E6F4F8"/>
          </a:solidFill>
          <a:ln w="10160">
            <a:solidFill>
              <a:srgbClr val="0B6E8C"/>
            </a:solidFill>
            <a:prstDash val="solid"/>
          </a:ln>
          <a:effectLst>
            <a:outerShdw sx="100000" sy="100000" kx="0" ky="0" algn="bl" rotWithShape="0" blurRad="101600" dist="25400" dir="8100000">
              <a:srgbClr val="000000">
                <a:alpha val="7000"/>
              </a:srgbClr>
            </a:outerShdw>
          </a:effectLst>
        </p:spPr>
      </p:sp>
      <p:sp>
        <p:nvSpPr>
          <p:cNvPr id="44" name="Text 42"/>
          <p:cNvSpPr/>
          <p:nvPr/>
        </p:nvSpPr>
        <p:spPr>
          <a:xfrm>
            <a:off x="2816352" y="3584448"/>
            <a:ext cx="5742432" cy="256032"/>
          </a:xfrm>
          <a:prstGeom prst="rect">
            <a:avLst/>
          </a:prstGeom>
          <a:noFill/>
          <a:ln/>
        </p:spPr>
        <p:txBody>
          <a:bodyPr wrap="square" lIns="0" tIns="0" rIns="0" bIns="0" rtlCol="0" anchor="ctr"/>
          <a:lstStyle/>
          <a:p>
            <a:pPr indent="0" marL="0">
              <a:buNone/>
            </a:pPr>
            <a:r>
              <a:rPr lang="en-US" sz="1100" b="1" dirty="0">
                <a:solidFill>
                  <a:srgbClr val="0B6E8C"/>
                </a:solidFill>
                <a:latin typeface="Calibri" pitchFamily="34" charset="0"/>
                <a:ea typeface="Calibri" pitchFamily="34" charset="-122"/>
                <a:cs typeface="Calibri" pitchFamily="34" charset="-120"/>
              </a:rPr>
              <a:t>EDA Key Findings — Hasan Ali Khan, Sprint 2</a:t>
            </a:r>
            <a:endParaRPr lang="en-US" sz="1100" dirty="0"/>
          </a:p>
        </p:txBody>
      </p:sp>
      <p:sp>
        <p:nvSpPr>
          <p:cNvPr id="45" name="Text 43"/>
          <p:cNvSpPr/>
          <p:nvPr/>
        </p:nvSpPr>
        <p:spPr>
          <a:xfrm>
            <a:off x="2816352" y="3931920"/>
            <a:ext cx="5742432" cy="237744"/>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1.  Most listings priced between PKR 500,000 and PKR 3,000,000 with a right-skewed tail of high-value vehicles</a:t>
            </a:r>
            <a:endParaRPr lang="en-US" sz="900" dirty="0"/>
          </a:p>
        </p:txBody>
      </p:sp>
      <p:sp>
        <p:nvSpPr>
          <p:cNvPr id="46" name="Text 44"/>
          <p:cNvSpPr/>
          <p:nvPr/>
        </p:nvSpPr>
        <p:spPr>
          <a:xfrm>
            <a:off x="2816352" y="4187952"/>
            <a:ext cx="5742432" cy="237744"/>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2.  Toyota and Honda imported vehicles command significantly higher prices than locally assembled alternatives</a:t>
            </a:r>
            <a:endParaRPr lang="en-US" sz="900" dirty="0"/>
          </a:p>
        </p:txBody>
      </p:sp>
      <p:sp>
        <p:nvSpPr>
          <p:cNvPr id="47" name="Text 45"/>
          <p:cNvSpPr/>
          <p:nvPr/>
        </p:nvSpPr>
        <p:spPr>
          <a:xfrm>
            <a:off x="2816352" y="4443984"/>
            <a:ext cx="5742432" cy="237744"/>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3.  Clear negative correlation between mileage and price — confirmed by scatter plot; higher mileage reduces price</a:t>
            </a:r>
            <a:endParaRPr lang="en-US" sz="900" dirty="0"/>
          </a:p>
        </p:txBody>
      </p:sp>
      <p:sp>
        <p:nvSpPr>
          <p:cNvPr id="48" name="Text 46"/>
          <p:cNvSpPr/>
          <p:nvPr/>
        </p:nvSpPr>
        <p:spPr>
          <a:xfrm>
            <a:off x="2816352" y="4700016"/>
            <a:ext cx="5742432" cy="237744"/>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4.  Karachi and Lahore listings priced higher on average; petrol vehicles dominate the dataset overall</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8229600" cy="219456"/>
          </a:xfrm>
          <a:prstGeom prst="rect">
            <a:avLst/>
          </a:prstGeom>
          <a:noFill/>
          <a:ln/>
        </p:spPr>
        <p:txBody>
          <a:bodyPr wrap="square" lIns="0" tIns="0" rIns="0" bIns="0" rtlCol="0" anchor="ctr"/>
          <a:lstStyle/>
          <a:p>
            <a:pPr indent="0" marL="0">
              <a:buNone/>
            </a:pPr>
            <a:r>
              <a:rPr lang="en-US" sz="850" b="1" spc="250" kern="0" dirty="0">
                <a:solidFill>
                  <a:srgbClr val="1A7A4A"/>
                </a:solidFill>
                <a:latin typeface="Calibri" pitchFamily="34" charset="0"/>
                <a:ea typeface="Calibri" pitchFamily="34" charset="-122"/>
                <a:cs typeface="Calibri" pitchFamily="34" charset="-120"/>
              </a:rPr>
              <a:t>CHAPTER 4 — MACHINE LEARNING MODELS</a:t>
            </a:r>
            <a:endParaRPr lang="en-US" sz="85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000" b="1" dirty="0">
                <a:solidFill>
                  <a:srgbClr val="1B3A6B"/>
                </a:solidFill>
                <a:latin typeface="Cambria" pitchFamily="34" charset="0"/>
                <a:ea typeface="Cambria" pitchFamily="34" charset="-122"/>
                <a:cs typeface="Cambria" pitchFamily="34" charset="-120"/>
              </a:rPr>
              <a:t>Three Models Trained — One Champion</a:t>
            </a:r>
            <a:endParaRPr lang="en-US" sz="3000" dirty="0"/>
          </a:p>
        </p:txBody>
      </p:sp>
      <p:sp>
        <p:nvSpPr>
          <p:cNvPr id="4" name="Shape 2"/>
          <p:cNvSpPr/>
          <p:nvPr/>
        </p:nvSpPr>
        <p:spPr>
          <a:xfrm>
            <a:off x="457200" y="1225296"/>
            <a:ext cx="8229600" cy="20117"/>
          </a:xfrm>
          <a:prstGeom prst="rect">
            <a:avLst/>
          </a:prstGeom>
          <a:solidFill>
            <a:srgbClr val="E8EDF4"/>
          </a:solidFill>
          <a:ln w="12700">
            <a:solidFill>
              <a:srgbClr val="E8EDF4"/>
            </a:solidFill>
            <a:prstDash val="solid"/>
          </a:ln>
        </p:spPr>
      </p:sp>
      <p:sp>
        <p:nvSpPr>
          <p:cNvPr id="5" name="Shape 3"/>
          <p:cNvSpPr/>
          <p:nvPr/>
        </p:nvSpPr>
        <p:spPr>
          <a:xfrm>
            <a:off x="457200" y="1371600"/>
            <a:ext cx="2688336" cy="3611880"/>
          </a:xfrm>
          <a:prstGeom prst="rect">
            <a:avLst/>
          </a:prstGeom>
          <a:solidFill>
            <a:srgbClr val="FFFFFF"/>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6" name="Shape 4"/>
          <p:cNvSpPr/>
          <p:nvPr/>
        </p:nvSpPr>
        <p:spPr>
          <a:xfrm>
            <a:off x="566928" y="1481328"/>
            <a:ext cx="914400" cy="237744"/>
          </a:xfrm>
          <a:prstGeom prst="rect">
            <a:avLst/>
          </a:prstGeom>
          <a:solidFill>
            <a:srgbClr val="6B7C8F"/>
          </a:solidFill>
          <a:ln w="12700">
            <a:solidFill>
              <a:srgbClr val="6B7C8F"/>
            </a:solidFill>
            <a:prstDash val="solid"/>
          </a:ln>
        </p:spPr>
      </p:sp>
      <p:sp>
        <p:nvSpPr>
          <p:cNvPr id="7" name="Text 5"/>
          <p:cNvSpPr/>
          <p:nvPr/>
        </p:nvSpPr>
        <p:spPr>
          <a:xfrm>
            <a:off x="566928" y="1490472"/>
            <a:ext cx="91440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BASELINE</a:t>
            </a:r>
            <a:endParaRPr lang="en-US" sz="800" dirty="0"/>
          </a:p>
        </p:txBody>
      </p:sp>
      <p:sp>
        <p:nvSpPr>
          <p:cNvPr id="8" name="Text 6"/>
          <p:cNvSpPr/>
          <p:nvPr/>
        </p:nvSpPr>
        <p:spPr>
          <a:xfrm>
            <a:off x="566928" y="1810512"/>
            <a:ext cx="2468880" cy="347472"/>
          </a:xfrm>
          <a:prstGeom prst="rect">
            <a:avLst/>
          </a:prstGeom>
          <a:noFill/>
          <a:ln/>
        </p:spPr>
        <p:txBody>
          <a:bodyPr wrap="square" lIns="0" tIns="0" rIns="0" bIns="0" rtlCol="0" anchor="ctr"/>
          <a:lstStyle/>
          <a:p>
            <a:pPr indent="0" marL="0">
              <a:buNone/>
            </a:pPr>
            <a:r>
              <a:rPr lang="en-US" sz="1300" b="1" dirty="0">
                <a:solidFill>
                  <a:srgbClr val="1B3A6B"/>
                </a:solidFill>
                <a:latin typeface="Cambria" pitchFamily="34" charset="0"/>
                <a:ea typeface="Cambria" pitchFamily="34" charset="-122"/>
                <a:cs typeface="Cambria" pitchFamily="34" charset="-120"/>
              </a:rPr>
              <a:t>Linear Regression</a:t>
            </a:r>
            <a:endParaRPr lang="en-US" sz="1300" dirty="0"/>
          </a:p>
        </p:txBody>
      </p:sp>
      <p:sp>
        <p:nvSpPr>
          <p:cNvPr id="9" name="Shape 7"/>
          <p:cNvSpPr/>
          <p:nvPr/>
        </p:nvSpPr>
        <p:spPr>
          <a:xfrm>
            <a:off x="566928" y="2286000"/>
            <a:ext cx="2468880" cy="603504"/>
          </a:xfrm>
          <a:prstGeom prst="rect">
            <a:avLst/>
          </a:prstGeom>
          <a:solidFill>
            <a:srgbClr val="F4F6F9"/>
          </a:solidFill>
          <a:ln w="12700">
            <a:solidFill>
              <a:srgbClr val="F4F6F9"/>
            </a:solidFill>
            <a:prstDash val="solid"/>
          </a:ln>
        </p:spPr>
      </p:sp>
      <p:sp>
        <p:nvSpPr>
          <p:cNvPr id="10" name="Text 8"/>
          <p:cNvSpPr/>
          <p:nvPr/>
        </p:nvSpPr>
        <p:spPr>
          <a:xfrm>
            <a:off x="658368" y="2340864"/>
            <a:ext cx="2286000" cy="182880"/>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R Squared Score</a:t>
            </a:r>
            <a:endParaRPr lang="en-US" sz="800" dirty="0"/>
          </a:p>
        </p:txBody>
      </p:sp>
      <p:sp>
        <p:nvSpPr>
          <p:cNvPr id="11" name="Text 9"/>
          <p:cNvSpPr/>
          <p:nvPr/>
        </p:nvSpPr>
        <p:spPr>
          <a:xfrm>
            <a:off x="658368" y="2560320"/>
            <a:ext cx="2286000" cy="274320"/>
          </a:xfrm>
          <a:prstGeom prst="rect">
            <a:avLst/>
          </a:prstGeom>
          <a:noFill/>
          <a:ln/>
        </p:spPr>
        <p:txBody>
          <a:bodyPr wrap="square" lIns="0" tIns="0" rIns="0" bIns="0" rtlCol="0" anchor="ctr"/>
          <a:lstStyle/>
          <a:p>
            <a:pPr indent="0" marL="0">
              <a:buNone/>
            </a:pPr>
            <a:r>
              <a:rPr lang="en-US" sz="1300" b="1" dirty="0">
                <a:solidFill>
                  <a:srgbClr val="1B3A6B"/>
                </a:solidFill>
                <a:latin typeface="Cambria" pitchFamily="34" charset="0"/>
                <a:ea typeface="Cambria" pitchFamily="34" charset="-122"/>
                <a:cs typeface="Cambria" pitchFamily="34" charset="-120"/>
              </a:rPr>
              <a:t>approx 0.71</a:t>
            </a:r>
            <a:endParaRPr lang="en-US" sz="1300" dirty="0"/>
          </a:p>
        </p:txBody>
      </p:sp>
      <p:sp>
        <p:nvSpPr>
          <p:cNvPr id="12" name="Shape 10"/>
          <p:cNvSpPr/>
          <p:nvPr/>
        </p:nvSpPr>
        <p:spPr>
          <a:xfrm>
            <a:off x="566928" y="2980944"/>
            <a:ext cx="2468880" cy="603504"/>
          </a:xfrm>
          <a:prstGeom prst="rect">
            <a:avLst/>
          </a:prstGeom>
          <a:solidFill>
            <a:srgbClr val="F4F6F9"/>
          </a:solidFill>
          <a:ln w="12700">
            <a:solidFill>
              <a:srgbClr val="F4F6F9"/>
            </a:solidFill>
            <a:prstDash val="solid"/>
          </a:ln>
        </p:spPr>
      </p:sp>
      <p:sp>
        <p:nvSpPr>
          <p:cNvPr id="13" name="Text 11"/>
          <p:cNvSpPr/>
          <p:nvPr/>
        </p:nvSpPr>
        <p:spPr>
          <a:xfrm>
            <a:off x="658368" y="3035808"/>
            <a:ext cx="2286000" cy="182880"/>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MAE (PKR)</a:t>
            </a:r>
            <a:endParaRPr lang="en-US" sz="800" dirty="0"/>
          </a:p>
        </p:txBody>
      </p:sp>
      <p:sp>
        <p:nvSpPr>
          <p:cNvPr id="14" name="Text 12"/>
          <p:cNvSpPr/>
          <p:nvPr/>
        </p:nvSpPr>
        <p:spPr>
          <a:xfrm>
            <a:off x="658368" y="3255264"/>
            <a:ext cx="2286000" cy="274320"/>
          </a:xfrm>
          <a:prstGeom prst="rect">
            <a:avLst/>
          </a:prstGeom>
          <a:noFill/>
          <a:ln/>
        </p:spPr>
        <p:txBody>
          <a:bodyPr wrap="square" lIns="0" tIns="0" rIns="0" bIns="0" rtlCol="0" anchor="ctr"/>
          <a:lstStyle/>
          <a:p>
            <a:pPr indent="0" marL="0">
              <a:buNone/>
            </a:pPr>
            <a:r>
              <a:rPr lang="en-US" sz="1300" b="1" dirty="0">
                <a:solidFill>
                  <a:srgbClr val="1B3A6B"/>
                </a:solidFill>
                <a:latin typeface="Cambria" pitchFamily="34" charset="0"/>
                <a:ea typeface="Cambria" pitchFamily="34" charset="-122"/>
                <a:cs typeface="Cambria" pitchFamily="34" charset="-120"/>
              </a:rPr>
              <a:t>approx 480,000</a:t>
            </a:r>
            <a:endParaRPr lang="en-US" sz="1300" dirty="0"/>
          </a:p>
        </p:txBody>
      </p:sp>
      <p:sp>
        <p:nvSpPr>
          <p:cNvPr id="15" name="Shape 13"/>
          <p:cNvSpPr/>
          <p:nvPr/>
        </p:nvSpPr>
        <p:spPr>
          <a:xfrm>
            <a:off x="566928" y="3675888"/>
            <a:ext cx="2468880" cy="603504"/>
          </a:xfrm>
          <a:prstGeom prst="rect">
            <a:avLst/>
          </a:prstGeom>
          <a:solidFill>
            <a:srgbClr val="F4F6F9"/>
          </a:solidFill>
          <a:ln w="12700">
            <a:solidFill>
              <a:srgbClr val="F4F6F9"/>
            </a:solidFill>
            <a:prstDash val="solid"/>
          </a:ln>
        </p:spPr>
      </p:sp>
      <p:sp>
        <p:nvSpPr>
          <p:cNvPr id="16" name="Text 14"/>
          <p:cNvSpPr/>
          <p:nvPr/>
        </p:nvSpPr>
        <p:spPr>
          <a:xfrm>
            <a:off x="658368" y="3730752"/>
            <a:ext cx="2286000" cy="182880"/>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RMSE (PKR)</a:t>
            </a:r>
            <a:endParaRPr lang="en-US" sz="800" dirty="0"/>
          </a:p>
        </p:txBody>
      </p:sp>
      <p:sp>
        <p:nvSpPr>
          <p:cNvPr id="17" name="Text 15"/>
          <p:cNvSpPr/>
          <p:nvPr/>
        </p:nvSpPr>
        <p:spPr>
          <a:xfrm>
            <a:off x="658368" y="3950208"/>
            <a:ext cx="2286000" cy="274320"/>
          </a:xfrm>
          <a:prstGeom prst="rect">
            <a:avLst/>
          </a:prstGeom>
          <a:noFill/>
          <a:ln/>
        </p:spPr>
        <p:txBody>
          <a:bodyPr wrap="square" lIns="0" tIns="0" rIns="0" bIns="0" rtlCol="0" anchor="ctr"/>
          <a:lstStyle/>
          <a:p>
            <a:pPr indent="0" marL="0">
              <a:buNone/>
            </a:pPr>
            <a:r>
              <a:rPr lang="en-US" sz="1300" b="1" dirty="0">
                <a:solidFill>
                  <a:srgbClr val="1B3A6B"/>
                </a:solidFill>
                <a:latin typeface="Cambria" pitchFamily="34" charset="0"/>
                <a:ea typeface="Cambria" pitchFamily="34" charset="-122"/>
                <a:cs typeface="Cambria" pitchFamily="34" charset="-120"/>
              </a:rPr>
              <a:t>approx 620,000</a:t>
            </a:r>
            <a:endParaRPr lang="en-US" sz="1300" dirty="0"/>
          </a:p>
        </p:txBody>
      </p:sp>
      <p:sp>
        <p:nvSpPr>
          <p:cNvPr id="18" name="Text 16"/>
          <p:cNvSpPr/>
          <p:nvPr/>
        </p:nvSpPr>
        <p:spPr>
          <a:xfrm>
            <a:off x="566928" y="4407408"/>
            <a:ext cx="2468880" cy="512064"/>
          </a:xfrm>
          <a:prstGeom prst="rect">
            <a:avLst/>
          </a:prstGeom>
          <a:noFill/>
          <a:ln/>
        </p:spPr>
        <p:txBody>
          <a:bodyPr wrap="square" lIns="0" tIns="0" rIns="0" bIns="0" rtlCol="0" anchor="ctr"/>
          <a:lstStyle/>
          <a:p>
            <a:pPr indent="0" marL="0">
              <a:buNone/>
            </a:pPr>
            <a:r>
              <a:rPr lang="en-US" sz="850" dirty="0">
                <a:solidFill>
                  <a:srgbClr val="6B7C8F"/>
                </a:solidFill>
                <a:latin typeface="Calibri" pitchFamily="34" charset="0"/>
                <a:ea typeface="Calibri" pitchFamily="34" charset="-122"/>
                <a:cs typeface="Calibri" pitchFamily="34" charset="-120"/>
              </a:rPr>
              <a:t>Confirms features have real predictive power but assumes linear relationships. Too simple for complex real-world price dynamics in the Pakistani market.</a:t>
            </a:r>
            <a:endParaRPr lang="en-US" sz="850" dirty="0"/>
          </a:p>
        </p:txBody>
      </p:sp>
      <p:sp>
        <p:nvSpPr>
          <p:cNvPr id="19" name="Shape 17"/>
          <p:cNvSpPr/>
          <p:nvPr/>
        </p:nvSpPr>
        <p:spPr>
          <a:xfrm>
            <a:off x="3291840" y="1371600"/>
            <a:ext cx="2688336" cy="3611880"/>
          </a:xfrm>
          <a:prstGeom prst="rect">
            <a:avLst/>
          </a:prstGeom>
          <a:solidFill>
            <a:srgbClr val="FFFFFF"/>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20" name="Shape 18"/>
          <p:cNvSpPr/>
          <p:nvPr/>
        </p:nvSpPr>
        <p:spPr>
          <a:xfrm>
            <a:off x="3401568" y="1481328"/>
            <a:ext cx="914400" cy="237744"/>
          </a:xfrm>
          <a:prstGeom prst="rect">
            <a:avLst/>
          </a:prstGeom>
          <a:solidFill>
            <a:srgbClr val="6B7C8F"/>
          </a:solidFill>
          <a:ln w="12700">
            <a:solidFill>
              <a:srgbClr val="6B7C8F"/>
            </a:solidFill>
            <a:prstDash val="solid"/>
          </a:ln>
        </p:spPr>
      </p:sp>
      <p:sp>
        <p:nvSpPr>
          <p:cNvPr id="21" name="Text 19"/>
          <p:cNvSpPr/>
          <p:nvPr/>
        </p:nvSpPr>
        <p:spPr>
          <a:xfrm>
            <a:off x="3401568" y="1490472"/>
            <a:ext cx="91440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STRONG</a:t>
            </a:r>
            <a:endParaRPr lang="en-US" sz="800" dirty="0"/>
          </a:p>
        </p:txBody>
      </p:sp>
      <p:sp>
        <p:nvSpPr>
          <p:cNvPr id="22" name="Text 20"/>
          <p:cNvSpPr/>
          <p:nvPr/>
        </p:nvSpPr>
        <p:spPr>
          <a:xfrm>
            <a:off x="3401568" y="1810512"/>
            <a:ext cx="2468880" cy="347472"/>
          </a:xfrm>
          <a:prstGeom prst="rect">
            <a:avLst/>
          </a:prstGeom>
          <a:noFill/>
          <a:ln/>
        </p:spPr>
        <p:txBody>
          <a:bodyPr wrap="square" lIns="0" tIns="0" rIns="0" bIns="0" rtlCol="0" anchor="ctr"/>
          <a:lstStyle/>
          <a:p>
            <a:pPr indent="0" marL="0">
              <a:buNone/>
            </a:pPr>
            <a:r>
              <a:rPr lang="en-US" sz="1300" b="1" dirty="0">
                <a:solidFill>
                  <a:srgbClr val="1B3A6B"/>
                </a:solidFill>
                <a:latin typeface="Cambria" pitchFamily="34" charset="0"/>
                <a:ea typeface="Cambria" pitchFamily="34" charset="-122"/>
                <a:cs typeface="Cambria" pitchFamily="34" charset="-120"/>
              </a:rPr>
              <a:t>Random Forest</a:t>
            </a:r>
            <a:endParaRPr lang="en-US" sz="1300" dirty="0"/>
          </a:p>
        </p:txBody>
      </p:sp>
      <p:sp>
        <p:nvSpPr>
          <p:cNvPr id="23" name="Shape 21"/>
          <p:cNvSpPr/>
          <p:nvPr/>
        </p:nvSpPr>
        <p:spPr>
          <a:xfrm>
            <a:off x="3401568" y="2286000"/>
            <a:ext cx="2468880" cy="603504"/>
          </a:xfrm>
          <a:prstGeom prst="rect">
            <a:avLst/>
          </a:prstGeom>
          <a:solidFill>
            <a:srgbClr val="F4F6F9"/>
          </a:solidFill>
          <a:ln w="12700">
            <a:solidFill>
              <a:srgbClr val="F4F6F9"/>
            </a:solidFill>
            <a:prstDash val="solid"/>
          </a:ln>
        </p:spPr>
      </p:sp>
      <p:sp>
        <p:nvSpPr>
          <p:cNvPr id="24" name="Text 22"/>
          <p:cNvSpPr/>
          <p:nvPr/>
        </p:nvSpPr>
        <p:spPr>
          <a:xfrm>
            <a:off x="3493008" y="2340864"/>
            <a:ext cx="2286000" cy="182880"/>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R Squared Score</a:t>
            </a:r>
            <a:endParaRPr lang="en-US" sz="800" dirty="0"/>
          </a:p>
        </p:txBody>
      </p:sp>
      <p:sp>
        <p:nvSpPr>
          <p:cNvPr id="25" name="Text 23"/>
          <p:cNvSpPr/>
          <p:nvPr/>
        </p:nvSpPr>
        <p:spPr>
          <a:xfrm>
            <a:off x="3493008" y="2560320"/>
            <a:ext cx="2286000" cy="274320"/>
          </a:xfrm>
          <a:prstGeom prst="rect">
            <a:avLst/>
          </a:prstGeom>
          <a:noFill/>
          <a:ln/>
        </p:spPr>
        <p:txBody>
          <a:bodyPr wrap="square" lIns="0" tIns="0" rIns="0" bIns="0" rtlCol="0" anchor="ctr"/>
          <a:lstStyle/>
          <a:p>
            <a:pPr indent="0" marL="0">
              <a:buNone/>
            </a:pPr>
            <a:r>
              <a:rPr lang="en-US" sz="1300" b="1" dirty="0">
                <a:solidFill>
                  <a:srgbClr val="1B3A6B"/>
                </a:solidFill>
                <a:latin typeface="Cambria" pitchFamily="34" charset="0"/>
                <a:ea typeface="Cambria" pitchFamily="34" charset="-122"/>
                <a:cs typeface="Cambria" pitchFamily="34" charset="-120"/>
              </a:rPr>
              <a:t>approx 0.89</a:t>
            </a:r>
            <a:endParaRPr lang="en-US" sz="1300" dirty="0"/>
          </a:p>
        </p:txBody>
      </p:sp>
      <p:sp>
        <p:nvSpPr>
          <p:cNvPr id="26" name="Shape 24"/>
          <p:cNvSpPr/>
          <p:nvPr/>
        </p:nvSpPr>
        <p:spPr>
          <a:xfrm>
            <a:off x="3401568" y="2980944"/>
            <a:ext cx="2468880" cy="603504"/>
          </a:xfrm>
          <a:prstGeom prst="rect">
            <a:avLst/>
          </a:prstGeom>
          <a:solidFill>
            <a:srgbClr val="F4F6F9"/>
          </a:solidFill>
          <a:ln w="12700">
            <a:solidFill>
              <a:srgbClr val="F4F6F9"/>
            </a:solidFill>
            <a:prstDash val="solid"/>
          </a:ln>
        </p:spPr>
      </p:sp>
      <p:sp>
        <p:nvSpPr>
          <p:cNvPr id="27" name="Text 25"/>
          <p:cNvSpPr/>
          <p:nvPr/>
        </p:nvSpPr>
        <p:spPr>
          <a:xfrm>
            <a:off x="3493008" y="3035808"/>
            <a:ext cx="2286000" cy="182880"/>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MAE (PKR)</a:t>
            </a:r>
            <a:endParaRPr lang="en-US" sz="800" dirty="0"/>
          </a:p>
        </p:txBody>
      </p:sp>
      <p:sp>
        <p:nvSpPr>
          <p:cNvPr id="28" name="Text 26"/>
          <p:cNvSpPr/>
          <p:nvPr/>
        </p:nvSpPr>
        <p:spPr>
          <a:xfrm>
            <a:off x="3493008" y="3255264"/>
            <a:ext cx="2286000" cy="274320"/>
          </a:xfrm>
          <a:prstGeom prst="rect">
            <a:avLst/>
          </a:prstGeom>
          <a:noFill/>
          <a:ln/>
        </p:spPr>
        <p:txBody>
          <a:bodyPr wrap="square" lIns="0" tIns="0" rIns="0" bIns="0" rtlCol="0" anchor="ctr"/>
          <a:lstStyle/>
          <a:p>
            <a:pPr indent="0" marL="0">
              <a:buNone/>
            </a:pPr>
            <a:r>
              <a:rPr lang="en-US" sz="1300" b="1" dirty="0">
                <a:solidFill>
                  <a:srgbClr val="1B3A6B"/>
                </a:solidFill>
                <a:latin typeface="Cambria" pitchFamily="34" charset="0"/>
                <a:ea typeface="Cambria" pitchFamily="34" charset="-122"/>
                <a:cs typeface="Cambria" pitchFamily="34" charset="-120"/>
              </a:rPr>
              <a:t>approx 230,000</a:t>
            </a:r>
            <a:endParaRPr lang="en-US" sz="1300" dirty="0"/>
          </a:p>
        </p:txBody>
      </p:sp>
      <p:sp>
        <p:nvSpPr>
          <p:cNvPr id="29" name="Shape 27"/>
          <p:cNvSpPr/>
          <p:nvPr/>
        </p:nvSpPr>
        <p:spPr>
          <a:xfrm>
            <a:off x="3401568" y="3675888"/>
            <a:ext cx="2468880" cy="603504"/>
          </a:xfrm>
          <a:prstGeom prst="rect">
            <a:avLst/>
          </a:prstGeom>
          <a:solidFill>
            <a:srgbClr val="F4F6F9"/>
          </a:solidFill>
          <a:ln w="12700">
            <a:solidFill>
              <a:srgbClr val="F4F6F9"/>
            </a:solidFill>
            <a:prstDash val="solid"/>
          </a:ln>
        </p:spPr>
      </p:sp>
      <p:sp>
        <p:nvSpPr>
          <p:cNvPr id="30" name="Text 28"/>
          <p:cNvSpPr/>
          <p:nvPr/>
        </p:nvSpPr>
        <p:spPr>
          <a:xfrm>
            <a:off x="3493008" y="3730752"/>
            <a:ext cx="2286000" cy="182880"/>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RMSE (PKR)</a:t>
            </a:r>
            <a:endParaRPr lang="en-US" sz="800" dirty="0"/>
          </a:p>
        </p:txBody>
      </p:sp>
      <p:sp>
        <p:nvSpPr>
          <p:cNvPr id="31" name="Text 29"/>
          <p:cNvSpPr/>
          <p:nvPr/>
        </p:nvSpPr>
        <p:spPr>
          <a:xfrm>
            <a:off x="3493008" y="3950208"/>
            <a:ext cx="2286000" cy="274320"/>
          </a:xfrm>
          <a:prstGeom prst="rect">
            <a:avLst/>
          </a:prstGeom>
          <a:noFill/>
          <a:ln/>
        </p:spPr>
        <p:txBody>
          <a:bodyPr wrap="square" lIns="0" tIns="0" rIns="0" bIns="0" rtlCol="0" anchor="ctr"/>
          <a:lstStyle/>
          <a:p>
            <a:pPr indent="0" marL="0">
              <a:buNone/>
            </a:pPr>
            <a:r>
              <a:rPr lang="en-US" sz="1300" b="1" dirty="0">
                <a:solidFill>
                  <a:srgbClr val="1B3A6B"/>
                </a:solidFill>
                <a:latin typeface="Cambria" pitchFamily="34" charset="0"/>
                <a:ea typeface="Cambria" pitchFamily="34" charset="-122"/>
                <a:cs typeface="Cambria" pitchFamily="34" charset="-120"/>
              </a:rPr>
              <a:t>approx 340,000</a:t>
            </a:r>
            <a:endParaRPr lang="en-US" sz="1300" dirty="0"/>
          </a:p>
        </p:txBody>
      </p:sp>
      <p:sp>
        <p:nvSpPr>
          <p:cNvPr id="32" name="Text 30"/>
          <p:cNvSpPr/>
          <p:nvPr/>
        </p:nvSpPr>
        <p:spPr>
          <a:xfrm>
            <a:off x="3401568" y="4407408"/>
            <a:ext cx="2468880" cy="512064"/>
          </a:xfrm>
          <a:prstGeom prst="rect">
            <a:avLst/>
          </a:prstGeom>
          <a:noFill/>
          <a:ln/>
        </p:spPr>
        <p:txBody>
          <a:bodyPr wrap="square" lIns="0" tIns="0" rIns="0" bIns="0" rtlCol="0" anchor="ctr"/>
          <a:lstStyle/>
          <a:p>
            <a:pPr indent="0" marL="0">
              <a:buNone/>
            </a:pPr>
            <a:r>
              <a:rPr lang="en-US" sz="850" dirty="0">
                <a:solidFill>
                  <a:srgbClr val="6B7C8F"/>
                </a:solidFill>
                <a:latin typeface="Calibri" pitchFamily="34" charset="0"/>
                <a:ea typeface="Calibri" pitchFamily="34" charset="-122"/>
                <a:cs typeface="Calibri" pitchFamily="34" charset="-120"/>
              </a:rPr>
              <a:t>Ensemble of decision trees — captures non-linear relationships well. Good result. The team assumed before Sprint 3 that this would be the final model.</a:t>
            </a:r>
            <a:endParaRPr lang="en-US" sz="850" dirty="0"/>
          </a:p>
        </p:txBody>
      </p:sp>
      <p:sp>
        <p:nvSpPr>
          <p:cNvPr id="33" name="Shape 31"/>
          <p:cNvSpPr/>
          <p:nvPr/>
        </p:nvSpPr>
        <p:spPr>
          <a:xfrm>
            <a:off x="6126480" y="1371600"/>
            <a:ext cx="2688336" cy="3611880"/>
          </a:xfrm>
          <a:prstGeom prst="rect">
            <a:avLst/>
          </a:prstGeom>
          <a:solidFill>
            <a:srgbClr val="E8F5EE"/>
          </a:solidFill>
          <a:ln w="10160">
            <a:solidFill>
              <a:srgbClr val="1A7A4A"/>
            </a:solidFill>
            <a:prstDash val="solid"/>
          </a:ln>
          <a:effectLst>
            <a:outerShdw sx="100000" sy="100000" kx="0" ky="0" algn="bl" rotWithShape="0" blurRad="101600" dist="25400" dir="8100000">
              <a:srgbClr val="000000">
                <a:alpha val="7000"/>
              </a:srgbClr>
            </a:outerShdw>
          </a:effectLst>
        </p:spPr>
      </p:sp>
      <p:sp>
        <p:nvSpPr>
          <p:cNvPr id="34" name="Shape 32"/>
          <p:cNvSpPr/>
          <p:nvPr/>
        </p:nvSpPr>
        <p:spPr>
          <a:xfrm>
            <a:off x="6126480" y="1371600"/>
            <a:ext cx="2688336" cy="50292"/>
          </a:xfrm>
          <a:prstGeom prst="rect">
            <a:avLst/>
          </a:prstGeom>
          <a:solidFill>
            <a:srgbClr val="1A7A4A"/>
          </a:solidFill>
          <a:ln w="12700">
            <a:solidFill>
              <a:srgbClr val="1A7A4A"/>
            </a:solidFill>
            <a:prstDash val="solid"/>
          </a:ln>
        </p:spPr>
      </p:sp>
      <p:sp>
        <p:nvSpPr>
          <p:cNvPr id="35" name="Shape 33"/>
          <p:cNvSpPr/>
          <p:nvPr/>
        </p:nvSpPr>
        <p:spPr>
          <a:xfrm>
            <a:off x="6236208" y="1481328"/>
            <a:ext cx="914400" cy="237744"/>
          </a:xfrm>
          <a:prstGeom prst="rect">
            <a:avLst/>
          </a:prstGeom>
          <a:solidFill>
            <a:srgbClr val="1A7A4A"/>
          </a:solidFill>
          <a:ln w="12700">
            <a:solidFill>
              <a:srgbClr val="1A7A4A"/>
            </a:solidFill>
            <a:prstDash val="solid"/>
          </a:ln>
        </p:spPr>
      </p:sp>
      <p:sp>
        <p:nvSpPr>
          <p:cNvPr id="36" name="Text 34"/>
          <p:cNvSpPr/>
          <p:nvPr/>
        </p:nvSpPr>
        <p:spPr>
          <a:xfrm>
            <a:off x="6236208" y="1490472"/>
            <a:ext cx="91440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SELECTED</a:t>
            </a:r>
            <a:endParaRPr lang="en-US" sz="800" dirty="0"/>
          </a:p>
        </p:txBody>
      </p:sp>
      <p:sp>
        <p:nvSpPr>
          <p:cNvPr id="37" name="Text 35"/>
          <p:cNvSpPr/>
          <p:nvPr/>
        </p:nvSpPr>
        <p:spPr>
          <a:xfrm>
            <a:off x="6236208" y="1810512"/>
            <a:ext cx="2468880" cy="347472"/>
          </a:xfrm>
          <a:prstGeom prst="rect">
            <a:avLst/>
          </a:prstGeom>
          <a:noFill/>
          <a:ln/>
        </p:spPr>
        <p:txBody>
          <a:bodyPr wrap="square" lIns="0" tIns="0" rIns="0" bIns="0" rtlCol="0" anchor="ctr"/>
          <a:lstStyle/>
          <a:p>
            <a:pPr indent="0" marL="0">
              <a:buNone/>
            </a:pPr>
            <a:r>
              <a:rPr lang="en-US" sz="1300" b="1" dirty="0">
                <a:solidFill>
                  <a:srgbClr val="1A7A4A"/>
                </a:solidFill>
                <a:latin typeface="Cambria" pitchFamily="34" charset="0"/>
                <a:ea typeface="Cambria" pitchFamily="34" charset="-122"/>
                <a:cs typeface="Cambria" pitchFamily="34" charset="-120"/>
              </a:rPr>
              <a:t>Gradient Boosting</a:t>
            </a:r>
            <a:endParaRPr lang="en-US" sz="1300" dirty="0"/>
          </a:p>
        </p:txBody>
      </p:sp>
      <p:sp>
        <p:nvSpPr>
          <p:cNvPr id="38" name="Shape 36"/>
          <p:cNvSpPr/>
          <p:nvPr/>
        </p:nvSpPr>
        <p:spPr>
          <a:xfrm>
            <a:off x="6236208" y="2286000"/>
            <a:ext cx="2468880" cy="603504"/>
          </a:xfrm>
          <a:prstGeom prst="rect">
            <a:avLst/>
          </a:prstGeom>
          <a:solidFill>
            <a:srgbClr val="F4F6F9"/>
          </a:solidFill>
          <a:ln w="12700">
            <a:solidFill>
              <a:srgbClr val="F4F6F9"/>
            </a:solidFill>
            <a:prstDash val="solid"/>
          </a:ln>
        </p:spPr>
      </p:sp>
      <p:sp>
        <p:nvSpPr>
          <p:cNvPr id="39" name="Text 37"/>
          <p:cNvSpPr/>
          <p:nvPr/>
        </p:nvSpPr>
        <p:spPr>
          <a:xfrm>
            <a:off x="6327648" y="2340864"/>
            <a:ext cx="2286000" cy="182880"/>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R Squared Score</a:t>
            </a:r>
            <a:endParaRPr lang="en-US" sz="800" dirty="0"/>
          </a:p>
        </p:txBody>
      </p:sp>
      <p:sp>
        <p:nvSpPr>
          <p:cNvPr id="40" name="Text 38"/>
          <p:cNvSpPr/>
          <p:nvPr/>
        </p:nvSpPr>
        <p:spPr>
          <a:xfrm>
            <a:off x="6327648" y="2560320"/>
            <a:ext cx="2286000" cy="274320"/>
          </a:xfrm>
          <a:prstGeom prst="rect">
            <a:avLst/>
          </a:prstGeom>
          <a:noFill/>
          <a:ln/>
        </p:spPr>
        <p:txBody>
          <a:bodyPr wrap="square" lIns="0" tIns="0" rIns="0" bIns="0" rtlCol="0" anchor="ctr"/>
          <a:lstStyle/>
          <a:p>
            <a:pPr indent="0" marL="0">
              <a:buNone/>
            </a:pPr>
            <a:r>
              <a:rPr lang="en-US" sz="1300" b="1" dirty="0">
                <a:solidFill>
                  <a:srgbClr val="1A7A4A"/>
                </a:solidFill>
                <a:latin typeface="Cambria" pitchFamily="34" charset="0"/>
                <a:ea typeface="Cambria" pitchFamily="34" charset="-122"/>
                <a:cs typeface="Cambria" pitchFamily="34" charset="-120"/>
              </a:rPr>
              <a:t>0.9504</a:t>
            </a:r>
            <a:endParaRPr lang="en-US" sz="1300" dirty="0"/>
          </a:p>
        </p:txBody>
      </p:sp>
      <p:sp>
        <p:nvSpPr>
          <p:cNvPr id="41" name="Shape 39"/>
          <p:cNvSpPr/>
          <p:nvPr/>
        </p:nvSpPr>
        <p:spPr>
          <a:xfrm>
            <a:off x="6236208" y="2980944"/>
            <a:ext cx="2468880" cy="603504"/>
          </a:xfrm>
          <a:prstGeom prst="rect">
            <a:avLst/>
          </a:prstGeom>
          <a:solidFill>
            <a:srgbClr val="F4F6F9"/>
          </a:solidFill>
          <a:ln w="12700">
            <a:solidFill>
              <a:srgbClr val="F4F6F9"/>
            </a:solidFill>
            <a:prstDash val="solid"/>
          </a:ln>
        </p:spPr>
      </p:sp>
      <p:sp>
        <p:nvSpPr>
          <p:cNvPr id="42" name="Text 40"/>
          <p:cNvSpPr/>
          <p:nvPr/>
        </p:nvSpPr>
        <p:spPr>
          <a:xfrm>
            <a:off x="6327648" y="3035808"/>
            <a:ext cx="2286000" cy="182880"/>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MAE (PKR)</a:t>
            </a:r>
            <a:endParaRPr lang="en-US" sz="800" dirty="0"/>
          </a:p>
        </p:txBody>
      </p:sp>
      <p:sp>
        <p:nvSpPr>
          <p:cNvPr id="43" name="Text 41"/>
          <p:cNvSpPr/>
          <p:nvPr/>
        </p:nvSpPr>
        <p:spPr>
          <a:xfrm>
            <a:off x="6327648" y="3255264"/>
            <a:ext cx="2286000" cy="274320"/>
          </a:xfrm>
          <a:prstGeom prst="rect">
            <a:avLst/>
          </a:prstGeom>
          <a:noFill/>
          <a:ln/>
        </p:spPr>
        <p:txBody>
          <a:bodyPr wrap="square" lIns="0" tIns="0" rIns="0" bIns="0" rtlCol="0" anchor="ctr"/>
          <a:lstStyle/>
          <a:p>
            <a:pPr indent="0" marL="0">
              <a:buNone/>
            </a:pPr>
            <a:r>
              <a:rPr lang="en-US" sz="1300" b="1" dirty="0">
                <a:solidFill>
                  <a:srgbClr val="1A7A4A"/>
                </a:solidFill>
                <a:latin typeface="Cambria" pitchFamily="34" charset="0"/>
                <a:ea typeface="Cambria" pitchFamily="34" charset="-122"/>
                <a:cs typeface="Cambria" pitchFamily="34" charset="-120"/>
              </a:rPr>
              <a:t>PKR 171,446</a:t>
            </a:r>
            <a:endParaRPr lang="en-US" sz="1300" dirty="0"/>
          </a:p>
        </p:txBody>
      </p:sp>
      <p:sp>
        <p:nvSpPr>
          <p:cNvPr id="44" name="Shape 42"/>
          <p:cNvSpPr/>
          <p:nvPr/>
        </p:nvSpPr>
        <p:spPr>
          <a:xfrm>
            <a:off x="6236208" y="3675888"/>
            <a:ext cx="2468880" cy="603504"/>
          </a:xfrm>
          <a:prstGeom prst="rect">
            <a:avLst/>
          </a:prstGeom>
          <a:solidFill>
            <a:srgbClr val="F4F6F9"/>
          </a:solidFill>
          <a:ln w="12700">
            <a:solidFill>
              <a:srgbClr val="F4F6F9"/>
            </a:solidFill>
            <a:prstDash val="solid"/>
          </a:ln>
        </p:spPr>
      </p:sp>
      <p:sp>
        <p:nvSpPr>
          <p:cNvPr id="45" name="Text 43"/>
          <p:cNvSpPr/>
          <p:nvPr/>
        </p:nvSpPr>
        <p:spPr>
          <a:xfrm>
            <a:off x="6327648" y="3730752"/>
            <a:ext cx="2286000" cy="182880"/>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RMSE (PKR)</a:t>
            </a:r>
            <a:endParaRPr lang="en-US" sz="800" dirty="0"/>
          </a:p>
        </p:txBody>
      </p:sp>
      <p:sp>
        <p:nvSpPr>
          <p:cNvPr id="46" name="Text 44"/>
          <p:cNvSpPr/>
          <p:nvPr/>
        </p:nvSpPr>
        <p:spPr>
          <a:xfrm>
            <a:off x="6327648" y="3950208"/>
            <a:ext cx="2286000" cy="274320"/>
          </a:xfrm>
          <a:prstGeom prst="rect">
            <a:avLst/>
          </a:prstGeom>
          <a:noFill/>
          <a:ln/>
        </p:spPr>
        <p:txBody>
          <a:bodyPr wrap="square" lIns="0" tIns="0" rIns="0" bIns="0" rtlCol="0" anchor="ctr"/>
          <a:lstStyle/>
          <a:p>
            <a:pPr indent="0" marL="0">
              <a:buNone/>
            </a:pPr>
            <a:r>
              <a:rPr lang="en-US" sz="1300" b="1" dirty="0">
                <a:solidFill>
                  <a:srgbClr val="1A7A4A"/>
                </a:solidFill>
                <a:latin typeface="Cambria" pitchFamily="34" charset="0"/>
                <a:ea typeface="Cambria" pitchFamily="34" charset="-122"/>
                <a:cs typeface="Cambria" pitchFamily="34" charset="-120"/>
              </a:rPr>
              <a:t>PKR 253,178</a:t>
            </a:r>
            <a:endParaRPr lang="en-US" sz="1300" dirty="0"/>
          </a:p>
        </p:txBody>
      </p:sp>
      <p:sp>
        <p:nvSpPr>
          <p:cNvPr id="47" name="Text 45"/>
          <p:cNvSpPr/>
          <p:nvPr/>
        </p:nvSpPr>
        <p:spPr>
          <a:xfrm>
            <a:off x="6236208" y="4407408"/>
            <a:ext cx="2468880" cy="512064"/>
          </a:xfrm>
          <a:prstGeom prst="rect">
            <a:avLst/>
          </a:prstGeom>
          <a:noFill/>
          <a:ln/>
        </p:spPr>
        <p:txBody>
          <a:bodyPr wrap="square" lIns="0" tIns="0" rIns="0" bIns="0" rtlCol="0" anchor="ctr"/>
          <a:lstStyle/>
          <a:p>
            <a:pPr indent="0" marL="0">
              <a:buNone/>
            </a:pPr>
            <a:r>
              <a:rPr lang="en-US" sz="850" dirty="0">
                <a:solidFill>
                  <a:srgbClr val="6B7C8F"/>
                </a:solidFill>
                <a:latin typeface="Calibri" pitchFamily="34" charset="0"/>
                <a:ea typeface="Calibri" pitchFamily="34" charset="-122"/>
                <a:cs typeface="Calibri" pitchFamily="34" charset="-120"/>
              </a:rPr>
              <a:t>Builds trees sequentially where each corrects errors of the previous. Best across all three evaluation metrics. Friedman (2001): highly effective on structured tabular data.</a:t>
            </a:r>
            <a:endParaRPr lang="en-US" sz="850" dirty="0"/>
          </a:p>
        </p:txBody>
      </p:sp>
      <p:sp>
        <p:nvSpPr>
          <p:cNvPr id="48" name="Shape 46"/>
          <p:cNvSpPr/>
          <p:nvPr/>
        </p:nvSpPr>
        <p:spPr>
          <a:xfrm>
            <a:off x="6035040" y="1371600"/>
            <a:ext cx="2688336" cy="347472"/>
          </a:xfrm>
          <a:prstGeom prst="rect">
            <a:avLst/>
          </a:prstGeom>
          <a:solidFill>
            <a:srgbClr val="1A7A4A"/>
          </a:solidFill>
          <a:ln w="12700">
            <a:solidFill>
              <a:srgbClr val="1A7A4A"/>
            </a:solidFill>
            <a:prstDash val="solid"/>
          </a:ln>
        </p:spPr>
      </p:sp>
      <p:sp>
        <p:nvSpPr>
          <p:cNvPr id="49" name="Text 47"/>
          <p:cNvSpPr/>
          <p:nvPr/>
        </p:nvSpPr>
        <p:spPr>
          <a:xfrm>
            <a:off x="6035040" y="1408176"/>
            <a:ext cx="268833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Best Model — Gradient Boosting Regressor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8229600" cy="219456"/>
          </a:xfrm>
          <a:prstGeom prst="rect">
            <a:avLst/>
          </a:prstGeom>
          <a:noFill/>
          <a:ln/>
        </p:spPr>
        <p:txBody>
          <a:bodyPr wrap="square" lIns="0" tIns="0" rIns="0" bIns="0" rtlCol="0" anchor="ctr"/>
          <a:lstStyle/>
          <a:p>
            <a:pPr indent="0" marL="0">
              <a:buNone/>
            </a:pPr>
            <a:r>
              <a:rPr lang="en-US" sz="850" b="1" spc="250" kern="0" dirty="0">
                <a:solidFill>
                  <a:srgbClr val="1B3A6B"/>
                </a:solidFill>
                <a:latin typeface="Calibri" pitchFamily="34" charset="0"/>
                <a:ea typeface="Calibri" pitchFamily="34" charset="-122"/>
                <a:cs typeface="Calibri" pitchFamily="34" charset="-120"/>
              </a:rPr>
              <a:t>CHAPTERS 4 AND 5 — SYSTEM ARCHITECTURE</a:t>
            </a:r>
            <a:endParaRPr lang="en-US" sz="85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000" b="1" dirty="0">
                <a:solidFill>
                  <a:srgbClr val="1B3A6B"/>
                </a:solidFill>
                <a:latin typeface="Cambria" pitchFamily="34" charset="0"/>
                <a:ea typeface="Cambria" pitchFamily="34" charset="-122"/>
                <a:cs typeface="Cambria" pitchFamily="34" charset="-120"/>
              </a:rPr>
              <a:t>End-to-End Pipeline</a:t>
            </a:r>
            <a:endParaRPr lang="en-US" sz="3000" dirty="0"/>
          </a:p>
        </p:txBody>
      </p:sp>
      <p:sp>
        <p:nvSpPr>
          <p:cNvPr id="4" name="Shape 2"/>
          <p:cNvSpPr/>
          <p:nvPr/>
        </p:nvSpPr>
        <p:spPr>
          <a:xfrm>
            <a:off x="457200" y="1225296"/>
            <a:ext cx="8229600" cy="20117"/>
          </a:xfrm>
          <a:prstGeom prst="rect">
            <a:avLst/>
          </a:prstGeom>
          <a:solidFill>
            <a:srgbClr val="E8EDF4"/>
          </a:solidFill>
          <a:ln w="12700">
            <a:solidFill>
              <a:srgbClr val="E8EDF4"/>
            </a:solidFill>
            <a:prstDash val="solid"/>
          </a:ln>
        </p:spPr>
      </p:sp>
      <p:sp>
        <p:nvSpPr>
          <p:cNvPr id="5" name="Shape 3"/>
          <p:cNvSpPr/>
          <p:nvPr/>
        </p:nvSpPr>
        <p:spPr>
          <a:xfrm>
            <a:off x="457200" y="1371600"/>
            <a:ext cx="1298448" cy="1828800"/>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6" name="Shape 4"/>
          <p:cNvSpPr/>
          <p:nvPr/>
        </p:nvSpPr>
        <p:spPr>
          <a:xfrm>
            <a:off x="457200" y="1371600"/>
            <a:ext cx="1298448" cy="329184"/>
          </a:xfrm>
          <a:prstGeom prst="rect">
            <a:avLst/>
          </a:prstGeom>
          <a:solidFill>
            <a:srgbClr val="1B3A6B"/>
          </a:solidFill>
          <a:ln w="12700">
            <a:solidFill>
              <a:srgbClr val="1B3A6B"/>
            </a:solidFill>
            <a:prstDash val="solid"/>
          </a:ln>
        </p:spPr>
      </p:sp>
      <p:sp>
        <p:nvSpPr>
          <p:cNvPr id="7" name="Text 5"/>
          <p:cNvSpPr/>
          <p:nvPr/>
        </p:nvSpPr>
        <p:spPr>
          <a:xfrm>
            <a:off x="457200" y="1389888"/>
            <a:ext cx="12984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p:nvPr/>
        </p:nvSpPr>
        <p:spPr>
          <a:xfrm>
            <a:off x="512064" y="1773936"/>
            <a:ext cx="1188720" cy="292608"/>
          </a:xfrm>
          <a:prstGeom prst="rect">
            <a:avLst/>
          </a:prstGeom>
          <a:noFill/>
          <a:ln/>
        </p:spPr>
        <p:txBody>
          <a:bodyPr wrap="square" lIns="0" tIns="0" rIns="0" bIns="0" rtlCol="0" anchor="ctr"/>
          <a:lstStyle/>
          <a:p>
            <a:pPr algn="ctr" indent="0" marL="0">
              <a:buNone/>
            </a:pPr>
            <a:r>
              <a:rPr lang="en-US" sz="1100" b="1" dirty="0">
                <a:solidFill>
                  <a:srgbClr val="1B3A6B"/>
                </a:solidFill>
                <a:latin typeface="Calibri" pitchFamily="34" charset="0"/>
                <a:ea typeface="Calibri" pitchFamily="34" charset="-122"/>
                <a:cs typeface="Calibri" pitchFamily="34" charset="-120"/>
              </a:rPr>
              <a:t>User Input</a:t>
            </a:r>
            <a:endParaRPr lang="en-US" sz="1100" dirty="0"/>
          </a:p>
        </p:txBody>
      </p:sp>
      <p:sp>
        <p:nvSpPr>
          <p:cNvPr id="9" name="Text 7"/>
          <p:cNvSpPr/>
          <p:nvPr/>
        </p:nvSpPr>
        <p:spPr>
          <a:xfrm>
            <a:off x="512064" y="2084832"/>
            <a:ext cx="1188720" cy="658368"/>
          </a:xfrm>
          <a:prstGeom prst="rect">
            <a:avLst/>
          </a:prstGeom>
          <a:noFill/>
          <a:ln/>
        </p:spPr>
        <p:txBody>
          <a:bodyPr wrap="square" lIns="0" tIns="0" rIns="0" bIns="0" rtlCol="0" anchor="ctr"/>
          <a:lstStyle/>
          <a:p>
            <a:pPr algn="ctr" indent="0" marL="0">
              <a:buNone/>
            </a:pPr>
            <a:r>
              <a:rPr lang="en-US" sz="900" dirty="0">
                <a:solidFill>
                  <a:srgbClr val="6B7C8F"/>
                </a:solidFill>
                <a:latin typeface="Calibri" pitchFamily="34" charset="0"/>
                <a:ea typeface="Calibri" pitchFamily="34" charset="-122"/>
                <a:cs typeface="Calibri" pitchFamily="34" charset="-120"/>
              </a:rPr>
              <a:t>9 car fields</a:t>
            </a:r>
            <a:endParaRPr lang="en-US" sz="900" dirty="0"/>
          </a:p>
          <a:p>
            <a:pPr algn="ctr" indent="0" marL="0">
              <a:buNone/>
            </a:pPr>
            <a:r>
              <a:rPr lang="en-US" sz="900" dirty="0">
                <a:solidFill>
                  <a:srgbClr val="6B7C8F"/>
                </a:solidFill>
                <a:latin typeface="Calibri" pitchFamily="34" charset="0"/>
                <a:ea typeface="Calibri" pitchFamily="34" charset="-122"/>
                <a:cs typeface="Calibri" pitchFamily="34" charset="-120"/>
              </a:rPr>
              <a:t>web form</a:t>
            </a:r>
            <a:endParaRPr lang="en-US" sz="900" dirty="0"/>
          </a:p>
        </p:txBody>
      </p:sp>
      <p:sp>
        <p:nvSpPr>
          <p:cNvPr id="10" name="Shape 8"/>
          <p:cNvSpPr/>
          <p:nvPr/>
        </p:nvSpPr>
        <p:spPr>
          <a:xfrm>
            <a:off x="1773936" y="2212848"/>
            <a:ext cx="91440" cy="16459"/>
          </a:xfrm>
          <a:prstGeom prst="rect">
            <a:avLst/>
          </a:prstGeom>
          <a:solidFill>
            <a:srgbClr val="6B7C8F"/>
          </a:solidFill>
          <a:ln w="12700">
            <a:solidFill>
              <a:srgbClr val="6B7C8F"/>
            </a:solidFill>
            <a:prstDash val="solid"/>
          </a:ln>
        </p:spPr>
      </p:sp>
      <p:sp>
        <p:nvSpPr>
          <p:cNvPr id="11" name="Shape 9"/>
          <p:cNvSpPr/>
          <p:nvPr/>
        </p:nvSpPr>
        <p:spPr>
          <a:xfrm>
            <a:off x="1865376" y="1371600"/>
            <a:ext cx="1298448" cy="1828800"/>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12" name="Shape 10"/>
          <p:cNvSpPr/>
          <p:nvPr/>
        </p:nvSpPr>
        <p:spPr>
          <a:xfrm>
            <a:off x="1865376" y="1371600"/>
            <a:ext cx="1298448" cy="329184"/>
          </a:xfrm>
          <a:prstGeom prst="rect">
            <a:avLst/>
          </a:prstGeom>
          <a:solidFill>
            <a:srgbClr val="5B2D8E"/>
          </a:solidFill>
          <a:ln w="12700">
            <a:solidFill>
              <a:srgbClr val="5B2D8E"/>
            </a:solidFill>
            <a:prstDash val="solid"/>
          </a:ln>
        </p:spPr>
      </p:sp>
      <p:sp>
        <p:nvSpPr>
          <p:cNvPr id="13" name="Text 11"/>
          <p:cNvSpPr/>
          <p:nvPr/>
        </p:nvSpPr>
        <p:spPr>
          <a:xfrm>
            <a:off x="1865376" y="1389888"/>
            <a:ext cx="12984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4" name="Text 12"/>
          <p:cNvSpPr/>
          <p:nvPr/>
        </p:nvSpPr>
        <p:spPr>
          <a:xfrm>
            <a:off x="1920240" y="1773936"/>
            <a:ext cx="1188720" cy="292608"/>
          </a:xfrm>
          <a:prstGeom prst="rect">
            <a:avLst/>
          </a:prstGeom>
          <a:noFill/>
          <a:ln/>
        </p:spPr>
        <p:txBody>
          <a:bodyPr wrap="square" lIns="0" tIns="0" rIns="0" bIns="0" rtlCol="0" anchor="ctr"/>
          <a:lstStyle/>
          <a:p>
            <a:pPr algn="ctr" indent="0" marL="0">
              <a:buNone/>
            </a:pPr>
            <a:r>
              <a:rPr lang="en-US" sz="1100" b="1" dirty="0">
                <a:solidFill>
                  <a:srgbClr val="1B3A6B"/>
                </a:solidFill>
                <a:latin typeface="Calibri" pitchFamily="34" charset="0"/>
                <a:ea typeface="Calibri" pitchFamily="34" charset="-122"/>
                <a:cs typeface="Calibri" pitchFamily="34" charset="-120"/>
              </a:rPr>
              <a:t>JavaScript</a:t>
            </a:r>
            <a:endParaRPr lang="en-US" sz="1100" dirty="0"/>
          </a:p>
        </p:txBody>
      </p:sp>
      <p:sp>
        <p:nvSpPr>
          <p:cNvPr id="15" name="Text 13"/>
          <p:cNvSpPr/>
          <p:nvPr/>
        </p:nvSpPr>
        <p:spPr>
          <a:xfrm>
            <a:off x="1920240" y="2084832"/>
            <a:ext cx="1188720" cy="658368"/>
          </a:xfrm>
          <a:prstGeom prst="rect">
            <a:avLst/>
          </a:prstGeom>
          <a:noFill/>
          <a:ln/>
        </p:spPr>
        <p:txBody>
          <a:bodyPr wrap="square" lIns="0" tIns="0" rIns="0" bIns="0" rtlCol="0" anchor="ctr"/>
          <a:lstStyle/>
          <a:p>
            <a:pPr algn="ctr" indent="0" marL="0">
              <a:buNone/>
            </a:pPr>
            <a:r>
              <a:rPr lang="en-US" sz="900" dirty="0">
                <a:solidFill>
                  <a:srgbClr val="6B7C8F"/>
                </a:solidFill>
                <a:latin typeface="Calibri" pitchFamily="34" charset="0"/>
                <a:ea typeface="Calibri" pitchFamily="34" charset="-122"/>
                <a:cs typeface="Calibri" pitchFamily="34" charset="-120"/>
              </a:rPr>
              <a:t>Fetch POST</a:t>
            </a:r>
            <a:endParaRPr lang="en-US" sz="900" dirty="0"/>
          </a:p>
          <a:p>
            <a:pPr algn="ctr" indent="0" marL="0">
              <a:buNone/>
            </a:pPr>
            <a:r>
              <a:rPr lang="en-US" sz="900" dirty="0">
                <a:solidFill>
                  <a:srgbClr val="6B7C8F"/>
                </a:solidFill>
                <a:latin typeface="Calibri" pitchFamily="34" charset="0"/>
                <a:ea typeface="Calibri" pitchFamily="34" charset="-122"/>
                <a:cs typeface="Calibri" pitchFamily="34" charset="-120"/>
              </a:rPr>
              <a:t>to Flask API</a:t>
            </a:r>
            <a:endParaRPr lang="en-US" sz="900" dirty="0"/>
          </a:p>
        </p:txBody>
      </p:sp>
      <p:sp>
        <p:nvSpPr>
          <p:cNvPr id="16" name="Shape 14"/>
          <p:cNvSpPr/>
          <p:nvPr/>
        </p:nvSpPr>
        <p:spPr>
          <a:xfrm>
            <a:off x="3182112" y="2212848"/>
            <a:ext cx="91440" cy="16459"/>
          </a:xfrm>
          <a:prstGeom prst="rect">
            <a:avLst/>
          </a:prstGeom>
          <a:solidFill>
            <a:srgbClr val="6B7C8F"/>
          </a:solidFill>
          <a:ln w="12700">
            <a:solidFill>
              <a:srgbClr val="6B7C8F"/>
            </a:solidFill>
            <a:prstDash val="solid"/>
          </a:ln>
        </p:spPr>
      </p:sp>
      <p:sp>
        <p:nvSpPr>
          <p:cNvPr id="17" name="Shape 15"/>
          <p:cNvSpPr/>
          <p:nvPr/>
        </p:nvSpPr>
        <p:spPr>
          <a:xfrm>
            <a:off x="3273552" y="1371600"/>
            <a:ext cx="1298448" cy="1828800"/>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18" name="Shape 16"/>
          <p:cNvSpPr/>
          <p:nvPr/>
        </p:nvSpPr>
        <p:spPr>
          <a:xfrm>
            <a:off x="3273552" y="1371600"/>
            <a:ext cx="1298448" cy="329184"/>
          </a:xfrm>
          <a:prstGeom prst="rect">
            <a:avLst/>
          </a:prstGeom>
          <a:solidFill>
            <a:srgbClr val="0B6E8C"/>
          </a:solidFill>
          <a:ln w="12700">
            <a:solidFill>
              <a:srgbClr val="0B6E8C"/>
            </a:solidFill>
            <a:prstDash val="solid"/>
          </a:ln>
        </p:spPr>
      </p:sp>
      <p:sp>
        <p:nvSpPr>
          <p:cNvPr id="19" name="Text 17"/>
          <p:cNvSpPr/>
          <p:nvPr/>
        </p:nvSpPr>
        <p:spPr>
          <a:xfrm>
            <a:off x="3273552" y="1389888"/>
            <a:ext cx="12984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0" name="Text 18"/>
          <p:cNvSpPr/>
          <p:nvPr/>
        </p:nvSpPr>
        <p:spPr>
          <a:xfrm>
            <a:off x="3328416" y="1773936"/>
            <a:ext cx="1188720" cy="292608"/>
          </a:xfrm>
          <a:prstGeom prst="rect">
            <a:avLst/>
          </a:prstGeom>
          <a:noFill/>
          <a:ln/>
        </p:spPr>
        <p:txBody>
          <a:bodyPr wrap="square" lIns="0" tIns="0" rIns="0" bIns="0" rtlCol="0" anchor="ctr"/>
          <a:lstStyle/>
          <a:p>
            <a:pPr algn="ctr" indent="0" marL="0">
              <a:buNone/>
            </a:pPr>
            <a:r>
              <a:rPr lang="en-US" sz="1100" b="1" dirty="0">
                <a:solidFill>
                  <a:srgbClr val="1B3A6B"/>
                </a:solidFill>
                <a:latin typeface="Calibri" pitchFamily="34" charset="0"/>
                <a:ea typeface="Calibri" pitchFamily="34" charset="-122"/>
                <a:cs typeface="Calibri" pitchFamily="34" charset="-120"/>
              </a:rPr>
              <a:t>Flask API</a:t>
            </a:r>
            <a:endParaRPr lang="en-US" sz="1100" dirty="0"/>
          </a:p>
        </p:txBody>
      </p:sp>
      <p:sp>
        <p:nvSpPr>
          <p:cNvPr id="21" name="Text 19"/>
          <p:cNvSpPr/>
          <p:nvPr/>
        </p:nvSpPr>
        <p:spPr>
          <a:xfrm>
            <a:off x="3328416" y="2084832"/>
            <a:ext cx="1188720" cy="658368"/>
          </a:xfrm>
          <a:prstGeom prst="rect">
            <a:avLst/>
          </a:prstGeom>
          <a:noFill/>
          <a:ln/>
        </p:spPr>
        <p:txBody>
          <a:bodyPr wrap="square" lIns="0" tIns="0" rIns="0" bIns="0" rtlCol="0" anchor="ctr"/>
          <a:lstStyle/>
          <a:p>
            <a:pPr algn="ctr" indent="0" marL="0">
              <a:buNone/>
            </a:pPr>
            <a:r>
              <a:rPr lang="en-US" sz="900" dirty="0">
                <a:solidFill>
                  <a:srgbClr val="6B7C8F"/>
                </a:solidFill>
                <a:latin typeface="Calibri" pitchFamily="34" charset="0"/>
                <a:ea typeface="Calibri" pitchFamily="34" charset="-122"/>
                <a:cs typeface="Calibri" pitchFamily="34" charset="-120"/>
              </a:rPr>
              <a:t>/predict</a:t>
            </a:r>
            <a:endParaRPr lang="en-US" sz="900" dirty="0"/>
          </a:p>
          <a:p>
            <a:pPr algn="ctr" indent="0" marL="0">
              <a:buNone/>
            </a:pPr>
            <a:r>
              <a:rPr lang="en-US" sz="900" dirty="0">
                <a:solidFill>
                  <a:srgbClr val="6B7C8F"/>
                </a:solidFill>
                <a:latin typeface="Calibri" pitchFamily="34" charset="0"/>
                <a:ea typeface="Calibri" pitchFamily="34" charset="-122"/>
                <a:cs typeface="Calibri" pitchFamily="34" charset="-120"/>
              </a:rPr>
              <a:t>endpoint</a:t>
            </a:r>
            <a:endParaRPr lang="en-US" sz="900" dirty="0"/>
          </a:p>
        </p:txBody>
      </p:sp>
      <p:sp>
        <p:nvSpPr>
          <p:cNvPr id="22" name="Shape 20"/>
          <p:cNvSpPr/>
          <p:nvPr/>
        </p:nvSpPr>
        <p:spPr>
          <a:xfrm>
            <a:off x="4590288" y="2212848"/>
            <a:ext cx="91440" cy="16459"/>
          </a:xfrm>
          <a:prstGeom prst="rect">
            <a:avLst/>
          </a:prstGeom>
          <a:solidFill>
            <a:srgbClr val="6B7C8F"/>
          </a:solidFill>
          <a:ln w="12700">
            <a:solidFill>
              <a:srgbClr val="6B7C8F"/>
            </a:solidFill>
            <a:prstDash val="solid"/>
          </a:ln>
        </p:spPr>
      </p:sp>
      <p:sp>
        <p:nvSpPr>
          <p:cNvPr id="23" name="Shape 21"/>
          <p:cNvSpPr/>
          <p:nvPr/>
        </p:nvSpPr>
        <p:spPr>
          <a:xfrm>
            <a:off x="4681728" y="1371600"/>
            <a:ext cx="1298448" cy="1828800"/>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24" name="Shape 22"/>
          <p:cNvSpPr/>
          <p:nvPr/>
        </p:nvSpPr>
        <p:spPr>
          <a:xfrm>
            <a:off x="4681728" y="1371600"/>
            <a:ext cx="1298448" cy="329184"/>
          </a:xfrm>
          <a:prstGeom prst="rect">
            <a:avLst/>
          </a:prstGeom>
          <a:solidFill>
            <a:srgbClr val="B8860B"/>
          </a:solidFill>
          <a:ln w="12700">
            <a:solidFill>
              <a:srgbClr val="B8860B"/>
            </a:solidFill>
            <a:prstDash val="solid"/>
          </a:ln>
        </p:spPr>
      </p:sp>
      <p:sp>
        <p:nvSpPr>
          <p:cNvPr id="25" name="Text 23"/>
          <p:cNvSpPr/>
          <p:nvPr/>
        </p:nvSpPr>
        <p:spPr>
          <a:xfrm>
            <a:off x="4681728" y="1389888"/>
            <a:ext cx="12984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6" name="Text 24"/>
          <p:cNvSpPr/>
          <p:nvPr/>
        </p:nvSpPr>
        <p:spPr>
          <a:xfrm>
            <a:off x="4736592" y="1773936"/>
            <a:ext cx="1188720" cy="292608"/>
          </a:xfrm>
          <a:prstGeom prst="rect">
            <a:avLst/>
          </a:prstGeom>
          <a:noFill/>
          <a:ln/>
        </p:spPr>
        <p:txBody>
          <a:bodyPr wrap="square" lIns="0" tIns="0" rIns="0" bIns="0" rtlCol="0" anchor="ctr"/>
          <a:lstStyle/>
          <a:p>
            <a:pPr algn="ctr" indent="0" marL="0">
              <a:buNone/>
            </a:pPr>
            <a:r>
              <a:rPr lang="en-US" sz="1100" b="1" dirty="0">
                <a:solidFill>
                  <a:srgbClr val="1B3A6B"/>
                </a:solidFill>
                <a:latin typeface="Calibri" pitchFamily="34" charset="0"/>
                <a:ea typeface="Calibri" pitchFamily="34" charset="-122"/>
                <a:cs typeface="Calibri" pitchFamily="34" charset="-120"/>
              </a:rPr>
              <a:t>Preprocess</a:t>
            </a:r>
            <a:endParaRPr lang="en-US" sz="1100" dirty="0"/>
          </a:p>
        </p:txBody>
      </p:sp>
      <p:sp>
        <p:nvSpPr>
          <p:cNvPr id="27" name="Text 25"/>
          <p:cNvSpPr/>
          <p:nvPr/>
        </p:nvSpPr>
        <p:spPr>
          <a:xfrm>
            <a:off x="4736592" y="2084832"/>
            <a:ext cx="1188720" cy="658368"/>
          </a:xfrm>
          <a:prstGeom prst="rect">
            <a:avLst/>
          </a:prstGeom>
          <a:noFill/>
          <a:ln/>
        </p:spPr>
        <p:txBody>
          <a:bodyPr wrap="square" lIns="0" tIns="0" rIns="0" bIns="0" rtlCol="0" anchor="ctr"/>
          <a:lstStyle/>
          <a:p>
            <a:pPr algn="ctr" indent="0" marL="0">
              <a:buNone/>
            </a:pPr>
            <a:r>
              <a:rPr lang="en-US" sz="900" dirty="0">
                <a:solidFill>
                  <a:srgbClr val="6B7C8F"/>
                </a:solidFill>
                <a:latin typeface="Calibri" pitchFamily="34" charset="0"/>
                <a:ea typeface="Calibri" pitchFamily="34" charset="-122"/>
                <a:cs typeface="Calibri" pitchFamily="34" charset="-120"/>
              </a:rPr>
              <a:t>Encode and</a:t>
            </a:r>
            <a:endParaRPr lang="en-US" sz="900" dirty="0"/>
          </a:p>
          <a:p>
            <a:pPr algn="ctr" indent="0" marL="0">
              <a:buNone/>
            </a:pPr>
            <a:r>
              <a:rPr lang="en-US" sz="900" dirty="0">
                <a:solidFill>
                  <a:srgbClr val="6B7C8F"/>
                </a:solidFill>
                <a:latin typeface="Calibri" pitchFamily="34" charset="0"/>
                <a:ea typeface="Calibri" pitchFamily="34" charset="-122"/>
                <a:cs typeface="Calibri" pitchFamily="34" charset="-120"/>
              </a:rPr>
              <a:t>scale input</a:t>
            </a:r>
            <a:endParaRPr lang="en-US" sz="900" dirty="0"/>
          </a:p>
        </p:txBody>
      </p:sp>
      <p:sp>
        <p:nvSpPr>
          <p:cNvPr id="28" name="Shape 26"/>
          <p:cNvSpPr/>
          <p:nvPr/>
        </p:nvSpPr>
        <p:spPr>
          <a:xfrm>
            <a:off x="5998464" y="2212848"/>
            <a:ext cx="91440" cy="16459"/>
          </a:xfrm>
          <a:prstGeom prst="rect">
            <a:avLst/>
          </a:prstGeom>
          <a:solidFill>
            <a:srgbClr val="6B7C8F"/>
          </a:solidFill>
          <a:ln w="12700">
            <a:solidFill>
              <a:srgbClr val="6B7C8F"/>
            </a:solidFill>
            <a:prstDash val="solid"/>
          </a:ln>
        </p:spPr>
      </p:sp>
      <p:sp>
        <p:nvSpPr>
          <p:cNvPr id="29" name="Shape 27"/>
          <p:cNvSpPr/>
          <p:nvPr/>
        </p:nvSpPr>
        <p:spPr>
          <a:xfrm>
            <a:off x="6089904" y="1371600"/>
            <a:ext cx="1298448" cy="1828800"/>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30" name="Shape 28"/>
          <p:cNvSpPr/>
          <p:nvPr/>
        </p:nvSpPr>
        <p:spPr>
          <a:xfrm>
            <a:off x="6089904" y="1371600"/>
            <a:ext cx="1298448" cy="329184"/>
          </a:xfrm>
          <a:prstGeom prst="rect">
            <a:avLst/>
          </a:prstGeom>
          <a:solidFill>
            <a:srgbClr val="1A7A4A"/>
          </a:solidFill>
          <a:ln w="12700">
            <a:solidFill>
              <a:srgbClr val="1A7A4A"/>
            </a:solidFill>
            <a:prstDash val="solid"/>
          </a:ln>
        </p:spPr>
      </p:sp>
      <p:sp>
        <p:nvSpPr>
          <p:cNvPr id="31" name="Text 29"/>
          <p:cNvSpPr/>
          <p:nvPr/>
        </p:nvSpPr>
        <p:spPr>
          <a:xfrm>
            <a:off x="6089904" y="1389888"/>
            <a:ext cx="12984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32" name="Text 30"/>
          <p:cNvSpPr/>
          <p:nvPr/>
        </p:nvSpPr>
        <p:spPr>
          <a:xfrm>
            <a:off x="6144768" y="1773936"/>
            <a:ext cx="1188720" cy="292608"/>
          </a:xfrm>
          <a:prstGeom prst="rect">
            <a:avLst/>
          </a:prstGeom>
          <a:noFill/>
          <a:ln/>
        </p:spPr>
        <p:txBody>
          <a:bodyPr wrap="square" lIns="0" tIns="0" rIns="0" bIns="0" rtlCol="0" anchor="ctr"/>
          <a:lstStyle/>
          <a:p>
            <a:pPr algn="ctr" indent="0" marL="0">
              <a:buNone/>
            </a:pPr>
            <a:r>
              <a:rPr lang="en-US" sz="1100" b="1" dirty="0">
                <a:solidFill>
                  <a:srgbClr val="1B3A6B"/>
                </a:solidFill>
                <a:latin typeface="Calibri" pitchFamily="34" charset="0"/>
                <a:ea typeface="Calibri" pitchFamily="34" charset="-122"/>
                <a:cs typeface="Calibri" pitchFamily="34" charset="-120"/>
              </a:rPr>
              <a:t>GB Model</a:t>
            </a:r>
            <a:endParaRPr lang="en-US" sz="1100" dirty="0"/>
          </a:p>
        </p:txBody>
      </p:sp>
      <p:sp>
        <p:nvSpPr>
          <p:cNvPr id="33" name="Text 31"/>
          <p:cNvSpPr/>
          <p:nvPr/>
        </p:nvSpPr>
        <p:spPr>
          <a:xfrm>
            <a:off x="6144768" y="2084832"/>
            <a:ext cx="1188720" cy="658368"/>
          </a:xfrm>
          <a:prstGeom prst="rect">
            <a:avLst/>
          </a:prstGeom>
          <a:noFill/>
          <a:ln/>
        </p:spPr>
        <p:txBody>
          <a:bodyPr wrap="square" lIns="0" tIns="0" rIns="0" bIns="0" rtlCol="0" anchor="ctr"/>
          <a:lstStyle/>
          <a:p>
            <a:pPr algn="ctr" indent="0" marL="0">
              <a:buNone/>
            </a:pPr>
            <a:r>
              <a:rPr lang="en-US" sz="900" dirty="0">
                <a:solidFill>
                  <a:srgbClr val="6B7C8F"/>
                </a:solidFill>
                <a:latin typeface="Calibri" pitchFamily="34" charset="0"/>
                <a:ea typeface="Calibri" pitchFamily="34" charset="-122"/>
                <a:cs typeface="Calibri" pitchFamily="34" charset="-120"/>
              </a:rPr>
              <a:t>Gradient</a:t>
            </a:r>
            <a:endParaRPr lang="en-US" sz="900" dirty="0"/>
          </a:p>
          <a:p>
            <a:pPr algn="ctr" indent="0" marL="0">
              <a:buNone/>
            </a:pPr>
            <a:r>
              <a:rPr lang="en-US" sz="900" dirty="0">
                <a:solidFill>
                  <a:srgbClr val="6B7C8F"/>
                </a:solidFill>
                <a:latin typeface="Calibri" pitchFamily="34" charset="0"/>
                <a:ea typeface="Calibri" pitchFamily="34" charset="-122"/>
                <a:cs typeface="Calibri" pitchFamily="34" charset="-120"/>
              </a:rPr>
              <a:t>Boosting pkl</a:t>
            </a:r>
            <a:endParaRPr lang="en-US" sz="900" dirty="0"/>
          </a:p>
        </p:txBody>
      </p:sp>
      <p:sp>
        <p:nvSpPr>
          <p:cNvPr id="34" name="Shape 32"/>
          <p:cNvSpPr/>
          <p:nvPr/>
        </p:nvSpPr>
        <p:spPr>
          <a:xfrm>
            <a:off x="7406640" y="2212848"/>
            <a:ext cx="91440" cy="16459"/>
          </a:xfrm>
          <a:prstGeom prst="rect">
            <a:avLst/>
          </a:prstGeom>
          <a:solidFill>
            <a:srgbClr val="6B7C8F"/>
          </a:solidFill>
          <a:ln w="12700">
            <a:solidFill>
              <a:srgbClr val="6B7C8F"/>
            </a:solidFill>
            <a:prstDash val="solid"/>
          </a:ln>
        </p:spPr>
      </p:sp>
      <p:sp>
        <p:nvSpPr>
          <p:cNvPr id="35" name="Shape 33"/>
          <p:cNvSpPr/>
          <p:nvPr/>
        </p:nvSpPr>
        <p:spPr>
          <a:xfrm>
            <a:off x="7498080" y="1371600"/>
            <a:ext cx="1298448" cy="1828800"/>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36" name="Shape 34"/>
          <p:cNvSpPr/>
          <p:nvPr/>
        </p:nvSpPr>
        <p:spPr>
          <a:xfrm>
            <a:off x="7498080" y="1371600"/>
            <a:ext cx="1298448" cy="329184"/>
          </a:xfrm>
          <a:prstGeom prst="rect">
            <a:avLst/>
          </a:prstGeom>
          <a:solidFill>
            <a:srgbClr val="B5281C"/>
          </a:solidFill>
          <a:ln w="12700">
            <a:solidFill>
              <a:srgbClr val="B5281C"/>
            </a:solidFill>
            <a:prstDash val="solid"/>
          </a:ln>
        </p:spPr>
      </p:sp>
      <p:sp>
        <p:nvSpPr>
          <p:cNvPr id="37" name="Text 35"/>
          <p:cNvSpPr/>
          <p:nvPr/>
        </p:nvSpPr>
        <p:spPr>
          <a:xfrm>
            <a:off x="7498080" y="1389888"/>
            <a:ext cx="129844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6</a:t>
            </a:r>
            <a:endParaRPr lang="en-US" sz="1200" dirty="0"/>
          </a:p>
        </p:txBody>
      </p:sp>
      <p:sp>
        <p:nvSpPr>
          <p:cNvPr id="38" name="Text 36"/>
          <p:cNvSpPr/>
          <p:nvPr/>
        </p:nvSpPr>
        <p:spPr>
          <a:xfrm>
            <a:off x="7552944" y="1773936"/>
            <a:ext cx="1188720" cy="292608"/>
          </a:xfrm>
          <a:prstGeom prst="rect">
            <a:avLst/>
          </a:prstGeom>
          <a:noFill/>
          <a:ln/>
        </p:spPr>
        <p:txBody>
          <a:bodyPr wrap="square" lIns="0" tIns="0" rIns="0" bIns="0" rtlCol="0" anchor="ctr"/>
          <a:lstStyle/>
          <a:p>
            <a:pPr algn="ctr" indent="0" marL="0">
              <a:buNone/>
            </a:pPr>
            <a:r>
              <a:rPr lang="en-US" sz="1100" b="1" dirty="0">
                <a:solidFill>
                  <a:srgbClr val="1B3A6B"/>
                </a:solidFill>
                <a:latin typeface="Calibri" pitchFamily="34" charset="0"/>
                <a:ea typeface="Calibri" pitchFamily="34" charset="-122"/>
                <a:cs typeface="Calibri" pitchFamily="34" charset="-120"/>
              </a:rPr>
              <a:t>Result</a:t>
            </a:r>
            <a:endParaRPr lang="en-US" sz="1100" dirty="0"/>
          </a:p>
        </p:txBody>
      </p:sp>
      <p:sp>
        <p:nvSpPr>
          <p:cNvPr id="39" name="Text 37"/>
          <p:cNvSpPr/>
          <p:nvPr/>
        </p:nvSpPr>
        <p:spPr>
          <a:xfrm>
            <a:off x="7552944" y="2084832"/>
            <a:ext cx="1188720" cy="658368"/>
          </a:xfrm>
          <a:prstGeom prst="rect">
            <a:avLst/>
          </a:prstGeom>
          <a:noFill/>
          <a:ln/>
        </p:spPr>
        <p:txBody>
          <a:bodyPr wrap="square" lIns="0" tIns="0" rIns="0" bIns="0" rtlCol="0" anchor="ctr"/>
          <a:lstStyle/>
          <a:p>
            <a:pPr algn="ctr" indent="0" marL="0">
              <a:buNone/>
            </a:pPr>
            <a:r>
              <a:rPr lang="en-US" sz="900" dirty="0">
                <a:solidFill>
                  <a:srgbClr val="6B7C8F"/>
                </a:solidFill>
                <a:latin typeface="Calibri" pitchFamily="34" charset="0"/>
                <a:ea typeface="Calibri" pitchFamily="34" charset="-122"/>
                <a:cs typeface="Calibri" pitchFamily="34" charset="-120"/>
              </a:rPr>
              <a:t>Price, confidence</a:t>
            </a:r>
            <a:endParaRPr lang="en-US" sz="900" dirty="0"/>
          </a:p>
          <a:p>
            <a:pPr algn="ctr" indent="0" marL="0">
              <a:buNone/>
            </a:pPr>
            <a:r>
              <a:rPr lang="en-US" sz="900" dirty="0">
                <a:solidFill>
                  <a:srgbClr val="6B7C8F"/>
                </a:solidFill>
                <a:latin typeface="Calibri" pitchFamily="34" charset="0"/>
                <a:ea typeface="Calibri" pitchFamily="34" charset="-122"/>
                <a:cs typeface="Calibri" pitchFamily="34" charset="-120"/>
              </a:rPr>
              <a:t>and range</a:t>
            </a:r>
            <a:endParaRPr lang="en-US" sz="900" dirty="0"/>
          </a:p>
        </p:txBody>
      </p:sp>
      <p:sp>
        <p:nvSpPr>
          <p:cNvPr id="40" name="Shape 38"/>
          <p:cNvSpPr/>
          <p:nvPr/>
        </p:nvSpPr>
        <p:spPr>
          <a:xfrm>
            <a:off x="457200" y="3328416"/>
            <a:ext cx="8229600" cy="658368"/>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41" name="Text 39"/>
          <p:cNvSpPr/>
          <p:nvPr/>
        </p:nvSpPr>
        <p:spPr>
          <a:xfrm>
            <a:off x="658368" y="3401568"/>
            <a:ext cx="1188720" cy="237744"/>
          </a:xfrm>
          <a:prstGeom prst="rect">
            <a:avLst/>
          </a:prstGeom>
          <a:noFill/>
          <a:ln/>
        </p:spPr>
        <p:txBody>
          <a:bodyPr wrap="square" lIns="0" tIns="0" rIns="0" bIns="0" rtlCol="0" anchor="ctr"/>
          <a:lstStyle/>
          <a:p>
            <a:pPr indent="0" marL="0">
              <a:buNone/>
            </a:pPr>
            <a:r>
              <a:rPr lang="en-US" sz="950" b="1" dirty="0">
                <a:solidFill>
                  <a:srgbClr val="1B3A6B"/>
                </a:solidFill>
                <a:latin typeface="Calibri" pitchFamily="34" charset="0"/>
                <a:ea typeface="Calibri" pitchFamily="34" charset="-122"/>
                <a:cs typeface="Calibri" pitchFamily="34" charset="-120"/>
              </a:rPr>
              <a:t>Tech Stack:</a:t>
            </a:r>
            <a:endParaRPr lang="en-US" sz="950" dirty="0"/>
          </a:p>
        </p:txBody>
      </p:sp>
      <p:sp>
        <p:nvSpPr>
          <p:cNvPr id="42" name="Shape 40"/>
          <p:cNvSpPr/>
          <p:nvPr/>
        </p:nvSpPr>
        <p:spPr>
          <a:xfrm>
            <a:off x="1920240" y="3401568"/>
            <a:ext cx="1234440" cy="384048"/>
          </a:xfrm>
          <a:prstGeom prst="rect">
            <a:avLst/>
          </a:prstGeom>
          <a:solidFill>
            <a:srgbClr val="FFFFFF"/>
          </a:solidFill>
          <a:ln w="12700">
            <a:solidFill>
              <a:srgbClr val="FFFFFF"/>
            </a:solidFill>
            <a:prstDash val="solid"/>
          </a:ln>
        </p:spPr>
      </p:sp>
      <p:sp>
        <p:nvSpPr>
          <p:cNvPr id="43" name="Text 41"/>
          <p:cNvSpPr/>
          <p:nvPr/>
        </p:nvSpPr>
        <p:spPr>
          <a:xfrm>
            <a:off x="1975104" y="3438144"/>
            <a:ext cx="1152144" cy="310896"/>
          </a:xfrm>
          <a:prstGeom prst="rect">
            <a:avLst/>
          </a:prstGeom>
          <a:noFill/>
          <a:ln/>
        </p:spPr>
        <p:txBody>
          <a:bodyPr wrap="square" lIns="0" tIns="0" rIns="0" bIns="0" rtlCol="0" anchor="ctr"/>
          <a:lstStyle/>
          <a:p>
            <a:pPr indent="0" marL="0">
              <a:buNone/>
            </a:pPr>
            <a:r>
              <a:rPr lang="en-US" sz="850" dirty="0">
                <a:solidFill>
                  <a:srgbClr val="1B3A6B"/>
                </a:solidFill>
                <a:latin typeface="Calibri" pitchFamily="34" charset="0"/>
                <a:ea typeface="Calibri" pitchFamily="34" charset="-122"/>
                <a:cs typeface="Calibri" pitchFamily="34" charset="-120"/>
              </a:rPr>
              <a:t>Python + Scikit-learn</a:t>
            </a:r>
            <a:endParaRPr lang="en-US" sz="850" dirty="0"/>
          </a:p>
        </p:txBody>
      </p:sp>
      <p:sp>
        <p:nvSpPr>
          <p:cNvPr id="44" name="Shape 42"/>
          <p:cNvSpPr/>
          <p:nvPr/>
        </p:nvSpPr>
        <p:spPr>
          <a:xfrm>
            <a:off x="3255264" y="3401568"/>
            <a:ext cx="1234440" cy="384048"/>
          </a:xfrm>
          <a:prstGeom prst="rect">
            <a:avLst/>
          </a:prstGeom>
          <a:solidFill>
            <a:srgbClr val="FFFFFF"/>
          </a:solidFill>
          <a:ln w="12700">
            <a:solidFill>
              <a:srgbClr val="FFFFFF"/>
            </a:solidFill>
            <a:prstDash val="solid"/>
          </a:ln>
        </p:spPr>
      </p:sp>
      <p:sp>
        <p:nvSpPr>
          <p:cNvPr id="45" name="Text 43"/>
          <p:cNvSpPr/>
          <p:nvPr/>
        </p:nvSpPr>
        <p:spPr>
          <a:xfrm>
            <a:off x="3310128" y="3438144"/>
            <a:ext cx="1152144" cy="310896"/>
          </a:xfrm>
          <a:prstGeom prst="rect">
            <a:avLst/>
          </a:prstGeom>
          <a:noFill/>
          <a:ln/>
        </p:spPr>
        <p:txBody>
          <a:bodyPr wrap="square" lIns="0" tIns="0" rIns="0" bIns="0" rtlCol="0" anchor="ctr"/>
          <a:lstStyle/>
          <a:p>
            <a:pPr indent="0" marL="0">
              <a:buNone/>
            </a:pPr>
            <a:r>
              <a:rPr lang="en-US" sz="850" dirty="0">
                <a:solidFill>
                  <a:srgbClr val="0B6E8C"/>
                </a:solidFill>
                <a:latin typeface="Calibri" pitchFamily="34" charset="0"/>
                <a:ea typeface="Calibri" pitchFamily="34" charset="-122"/>
                <a:cs typeface="Calibri" pitchFamily="34" charset="-120"/>
              </a:rPr>
              <a:t>Flask (Backend API)</a:t>
            </a:r>
            <a:endParaRPr lang="en-US" sz="850" dirty="0"/>
          </a:p>
        </p:txBody>
      </p:sp>
      <p:sp>
        <p:nvSpPr>
          <p:cNvPr id="46" name="Shape 44"/>
          <p:cNvSpPr/>
          <p:nvPr/>
        </p:nvSpPr>
        <p:spPr>
          <a:xfrm>
            <a:off x="4590288" y="3401568"/>
            <a:ext cx="1234440" cy="384048"/>
          </a:xfrm>
          <a:prstGeom prst="rect">
            <a:avLst/>
          </a:prstGeom>
          <a:solidFill>
            <a:srgbClr val="FFFFFF"/>
          </a:solidFill>
          <a:ln w="12700">
            <a:solidFill>
              <a:srgbClr val="FFFFFF"/>
            </a:solidFill>
            <a:prstDash val="solid"/>
          </a:ln>
        </p:spPr>
      </p:sp>
      <p:sp>
        <p:nvSpPr>
          <p:cNvPr id="47" name="Text 45"/>
          <p:cNvSpPr/>
          <p:nvPr/>
        </p:nvSpPr>
        <p:spPr>
          <a:xfrm>
            <a:off x="4645152" y="3438144"/>
            <a:ext cx="1152144" cy="310896"/>
          </a:xfrm>
          <a:prstGeom prst="rect">
            <a:avLst/>
          </a:prstGeom>
          <a:noFill/>
          <a:ln/>
        </p:spPr>
        <p:txBody>
          <a:bodyPr wrap="square" lIns="0" tIns="0" rIns="0" bIns="0" rtlCol="0" anchor="ctr"/>
          <a:lstStyle/>
          <a:p>
            <a:pPr indent="0" marL="0">
              <a:buNone/>
            </a:pPr>
            <a:r>
              <a:rPr lang="en-US" sz="850" dirty="0">
                <a:solidFill>
                  <a:srgbClr val="5B2D8E"/>
                </a:solidFill>
                <a:latin typeface="Calibri" pitchFamily="34" charset="0"/>
                <a:ea typeface="Calibri" pitchFamily="34" charset="-122"/>
                <a:cs typeface="Calibri" pitchFamily="34" charset="-120"/>
              </a:rPr>
              <a:t>HTML5 + CSS3 + JS</a:t>
            </a:r>
            <a:endParaRPr lang="en-US" sz="850" dirty="0"/>
          </a:p>
        </p:txBody>
      </p:sp>
      <p:sp>
        <p:nvSpPr>
          <p:cNvPr id="48" name="Shape 46"/>
          <p:cNvSpPr/>
          <p:nvPr/>
        </p:nvSpPr>
        <p:spPr>
          <a:xfrm>
            <a:off x="5925312" y="3401568"/>
            <a:ext cx="1234440" cy="384048"/>
          </a:xfrm>
          <a:prstGeom prst="rect">
            <a:avLst/>
          </a:prstGeom>
          <a:solidFill>
            <a:srgbClr val="FFFFFF"/>
          </a:solidFill>
          <a:ln w="12700">
            <a:solidFill>
              <a:srgbClr val="FFFFFF"/>
            </a:solidFill>
            <a:prstDash val="solid"/>
          </a:ln>
        </p:spPr>
      </p:sp>
      <p:sp>
        <p:nvSpPr>
          <p:cNvPr id="49" name="Text 47"/>
          <p:cNvSpPr/>
          <p:nvPr/>
        </p:nvSpPr>
        <p:spPr>
          <a:xfrm>
            <a:off x="5980176" y="3438144"/>
            <a:ext cx="1152144" cy="310896"/>
          </a:xfrm>
          <a:prstGeom prst="rect">
            <a:avLst/>
          </a:prstGeom>
          <a:noFill/>
          <a:ln/>
        </p:spPr>
        <p:txBody>
          <a:bodyPr wrap="square" lIns="0" tIns="0" rIns="0" bIns="0" rtlCol="0" anchor="ctr"/>
          <a:lstStyle/>
          <a:p>
            <a:pPr indent="0" marL="0">
              <a:buNone/>
            </a:pPr>
            <a:r>
              <a:rPr lang="en-US" sz="850" dirty="0">
                <a:solidFill>
                  <a:srgbClr val="1A7A4A"/>
                </a:solidFill>
                <a:latin typeface="Calibri" pitchFamily="34" charset="0"/>
                <a:ea typeface="Calibri" pitchFamily="34" charset="-122"/>
                <a:cs typeface="Calibri" pitchFamily="34" charset="-120"/>
              </a:rPr>
              <a:t>Joblib (Model Save)</a:t>
            </a:r>
            <a:endParaRPr lang="en-US" sz="850" dirty="0"/>
          </a:p>
        </p:txBody>
      </p:sp>
      <p:sp>
        <p:nvSpPr>
          <p:cNvPr id="50" name="Shape 48"/>
          <p:cNvSpPr/>
          <p:nvPr/>
        </p:nvSpPr>
        <p:spPr>
          <a:xfrm>
            <a:off x="7260336" y="3401568"/>
            <a:ext cx="1234440" cy="384048"/>
          </a:xfrm>
          <a:prstGeom prst="rect">
            <a:avLst/>
          </a:prstGeom>
          <a:solidFill>
            <a:srgbClr val="FFFFFF"/>
          </a:solidFill>
          <a:ln w="12700">
            <a:solidFill>
              <a:srgbClr val="FFFFFF"/>
            </a:solidFill>
            <a:prstDash val="solid"/>
          </a:ln>
        </p:spPr>
      </p:sp>
      <p:sp>
        <p:nvSpPr>
          <p:cNvPr id="51" name="Text 49"/>
          <p:cNvSpPr/>
          <p:nvPr/>
        </p:nvSpPr>
        <p:spPr>
          <a:xfrm>
            <a:off x="7315200" y="3438144"/>
            <a:ext cx="1152144" cy="310896"/>
          </a:xfrm>
          <a:prstGeom prst="rect">
            <a:avLst/>
          </a:prstGeom>
          <a:noFill/>
          <a:ln/>
        </p:spPr>
        <p:txBody>
          <a:bodyPr wrap="square" lIns="0" tIns="0" rIns="0" bIns="0" rtlCol="0" anchor="ctr"/>
          <a:lstStyle/>
          <a:p>
            <a:pPr indent="0" marL="0">
              <a:buNone/>
            </a:pPr>
            <a:r>
              <a:rPr lang="en-US" sz="850" dirty="0">
                <a:solidFill>
                  <a:srgbClr val="B5281C"/>
                </a:solidFill>
                <a:latin typeface="Calibri" pitchFamily="34" charset="0"/>
                <a:ea typeface="Calibri" pitchFamily="34" charset="-122"/>
                <a:cs typeface="Calibri" pitchFamily="34" charset="-120"/>
              </a:rPr>
              <a:t>Flask-CORS</a:t>
            </a:r>
            <a:endParaRPr lang="en-US" sz="850" dirty="0"/>
          </a:p>
        </p:txBody>
      </p:sp>
      <p:sp>
        <p:nvSpPr>
          <p:cNvPr id="52" name="Shape 50"/>
          <p:cNvSpPr/>
          <p:nvPr/>
        </p:nvSpPr>
        <p:spPr>
          <a:xfrm>
            <a:off x="457200" y="4078224"/>
            <a:ext cx="8229600" cy="804672"/>
          </a:xfrm>
          <a:prstGeom prst="rect">
            <a:avLst/>
          </a:prstGeom>
          <a:solidFill>
            <a:srgbClr val="E8F5EE"/>
          </a:solidFill>
          <a:ln w="10160">
            <a:solidFill>
              <a:srgbClr val="1A7A4A"/>
            </a:solidFill>
            <a:prstDash val="solid"/>
          </a:ln>
          <a:effectLst>
            <a:outerShdw sx="100000" sy="100000" kx="0" ky="0" algn="bl" rotWithShape="0" blurRad="101600" dist="25400" dir="8100000">
              <a:srgbClr val="000000">
                <a:alpha val="7000"/>
              </a:srgbClr>
            </a:outerShdw>
          </a:effectLst>
        </p:spPr>
      </p:sp>
      <p:sp>
        <p:nvSpPr>
          <p:cNvPr id="53" name="Text 51"/>
          <p:cNvSpPr/>
          <p:nvPr/>
        </p:nvSpPr>
        <p:spPr>
          <a:xfrm>
            <a:off x="658368" y="4151376"/>
            <a:ext cx="5029200" cy="237744"/>
          </a:xfrm>
          <a:prstGeom prst="rect">
            <a:avLst/>
          </a:prstGeom>
          <a:noFill/>
          <a:ln/>
        </p:spPr>
        <p:txBody>
          <a:bodyPr wrap="square" lIns="0" tIns="0" rIns="0" bIns="0" rtlCol="0" anchor="ctr"/>
          <a:lstStyle/>
          <a:p>
            <a:pPr indent="0" marL="0">
              <a:buNone/>
            </a:pPr>
            <a:r>
              <a:rPr lang="en-US" sz="950" b="1" dirty="0">
                <a:solidFill>
                  <a:srgbClr val="1A7A4A"/>
                </a:solidFill>
                <a:latin typeface="Calibri" pitchFamily="34" charset="0"/>
                <a:ea typeface="Calibri" pitchFamily="34" charset="-122"/>
                <a:cs typeface="Calibri" pitchFamily="34" charset="-120"/>
              </a:rPr>
              <a:t>Example API Response — Toyota Corolla 2019, 45,000 km, Karachi:</a:t>
            </a:r>
            <a:endParaRPr lang="en-US" sz="950" dirty="0"/>
          </a:p>
        </p:txBody>
      </p:sp>
      <p:sp>
        <p:nvSpPr>
          <p:cNvPr id="54" name="Text 52"/>
          <p:cNvSpPr/>
          <p:nvPr/>
        </p:nvSpPr>
        <p:spPr>
          <a:xfrm>
            <a:off x="658368" y="4407408"/>
            <a:ext cx="7863840" cy="365760"/>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"price_pkr": 4,668,000  —  "confidence_pct": 91  —  "price_range_low": 4,496,554  —  "price_range_high": 4,839,446 }</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8229600" cy="219456"/>
          </a:xfrm>
          <a:prstGeom prst="rect">
            <a:avLst/>
          </a:prstGeom>
          <a:noFill/>
          <a:ln/>
        </p:spPr>
        <p:txBody>
          <a:bodyPr wrap="square" lIns="0" tIns="0" rIns="0" bIns="0" rtlCol="0" anchor="ctr"/>
          <a:lstStyle/>
          <a:p>
            <a:pPr indent="0" marL="0">
              <a:buNone/>
            </a:pPr>
            <a:r>
              <a:rPr lang="en-US" sz="850" b="1" spc="250" kern="0" dirty="0">
                <a:solidFill>
                  <a:srgbClr val="0B6E8C"/>
                </a:solidFill>
                <a:latin typeface="Calibri" pitchFamily="34" charset="0"/>
                <a:ea typeface="Calibri" pitchFamily="34" charset="-122"/>
                <a:cs typeface="Calibri" pitchFamily="34" charset="-120"/>
              </a:rPr>
              <a:t>CHAPTER 5 — WEB INTERFACE AND USER EXPERIENCE</a:t>
            </a:r>
            <a:endParaRPr lang="en-US" sz="85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000" b="1" dirty="0">
                <a:solidFill>
                  <a:srgbClr val="1B3A6B"/>
                </a:solidFill>
                <a:latin typeface="Cambria" pitchFamily="34" charset="0"/>
                <a:ea typeface="Cambria" pitchFamily="34" charset="-122"/>
                <a:cs typeface="Cambria" pitchFamily="34" charset="-120"/>
              </a:rPr>
              <a:t>Frontend Design and User-Centred Design</a:t>
            </a:r>
            <a:endParaRPr lang="en-US" sz="3000" dirty="0"/>
          </a:p>
        </p:txBody>
      </p:sp>
      <p:sp>
        <p:nvSpPr>
          <p:cNvPr id="4" name="Shape 2"/>
          <p:cNvSpPr/>
          <p:nvPr/>
        </p:nvSpPr>
        <p:spPr>
          <a:xfrm>
            <a:off x="457200" y="1225296"/>
            <a:ext cx="8229600" cy="20117"/>
          </a:xfrm>
          <a:prstGeom prst="rect">
            <a:avLst/>
          </a:prstGeom>
          <a:solidFill>
            <a:srgbClr val="E8EDF4"/>
          </a:solidFill>
          <a:ln w="12700">
            <a:solidFill>
              <a:srgbClr val="E8EDF4"/>
            </a:solidFill>
            <a:prstDash val="solid"/>
          </a:ln>
        </p:spPr>
      </p:sp>
      <p:sp>
        <p:nvSpPr>
          <p:cNvPr id="5" name="Shape 3"/>
          <p:cNvSpPr/>
          <p:nvPr/>
        </p:nvSpPr>
        <p:spPr>
          <a:xfrm>
            <a:off x="457200" y="1371600"/>
            <a:ext cx="5029200" cy="3639312"/>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6" name="Shape 4"/>
          <p:cNvSpPr/>
          <p:nvPr/>
        </p:nvSpPr>
        <p:spPr>
          <a:xfrm>
            <a:off x="457200" y="1371600"/>
            <a:ext cx="5029200" cy="329184"/>
          </a:xfrm>
          <a:prstGeom prst="rect">
            <a:avLst/>
          </a:prstGeom>
          <a:solidFill>
            <a:srgbClr val="F4F6F9"/>
          </a:solidFill>
          <a:ln w="12700">
            <a:solidFill>
              <a:srgbClr val="F4F6F9"/>
            </a:solidFill>
            <a:prstDash val="solid"/>
          </a:ln>
        </p:spPr>
      </p:sp>
      <p:sp>
        <p:nvSpPr>
          <p:cNvPr id="7" name="Text 5"/>
          <p:cNvSpPr/>
          <p:nvPr/>
        </p:nvSpPr>
        <p:spPr>
          <a:xfrm>
            <a:off x="658368" y="1426464"/>
            <a:ext cx="4572000" cy="219456"/>
          </a:xfrm>
          <a:prstGeom prst="rect">
            <a:avLst/>
          </a:prstGeom>
          <a:noFill/>
          <a:ln/>
        </p:spPr>
        <p:txBody>
          <a:bodyPr wrap="square" lIns="0" tIns="0" rIns="0" bIns="0" rtlCol="0" anchor="ctr"/>
          <a:lstStyle/>
          <a:p>
            <a:pPr indent="0" marL="0">
              <a:buNone/>
            </a:pPr>
            <a:r>
              <a:rPr lang="en-US" sz="850" dirty="0">
                <a:solidFill>
                  <a:srgbClr val="6B7C8F"/>
                </a:solidFill>
                <a:latin typeface="Calibri" pitchFamily="34" charset="0"/>
                <a:ea typeface="Calibri" pitchFamily="34" charset="-122"/>
                <a:cs typeface="Calibri" pitchFamily="34" charset="-120"/>
              </a:rPr>
              <a:t>autoval-ai.local  —  API Status: Online</a:t>
            </a:r>
            <a:endParaRPr lang="en-US" sz="850" dirty="0"/>
          </a:p>
        </p:txBody>
      </p:sp>
      <p:sp>
        <p:nvSpPr>
          <p:cNvPr id="8" name="Shape 6"/>
          <p:cNvSpPr/>
          <p:nvPr/>
        </p:nvSpPr>
        <p:spPr>
          <a:xfrm>
            <a:off x="457200" y="1700784"/>
            <a:ext cx="5029200" cy="475488"/>
          </a:xfrm>
          <a:prstGeom prst="rect">
            <a:avLst/>
          </a:prstGeom>
          <a:solidFill>
            <a:srgbClr val="1B3A6B"/>
          </a:solidFill>
          <a:ln w="12700">
            <a:solidFill>
              <a:srgbClr val="1B3A6B"/>
            </a:solidFill>
            <a:prstDash val="solid"/>
          </a:ln>
        </p:spPr>
      </p:sp>
      <p:sp>
        <p:nvSpPr>
          <p:cNvPr id="9" name="Text 7"/>
          <p:cNvSpPr/>
          <p:nvPr/>
        </p:nvSpPr>
        <p:spPr>
          <a:xfrm>
            <a:off x="621792" y="1755648"/>
            <a:ext cx="4700016" cy="34747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AutoVal-AI — Predict Your Car's Market Value in Pakistan</a:t>
            </a:r>
            <a:endParaRPr lang="en-US" sz="950" dirty="0"/>
          </a:p>
        </p:txBody>
      </p:sp>
      <p:sp>
        <p:nvSpPr>
          <p:cNvPr id="10" name="Shape 8"/>
          <p:cNvSpPr/>
          <p:nvPr/>
        </p:nvSpPr>
        <p:spPr>
          <a:xfrm>
            <a:off x="566928" y="2286000"/>
            <a:ext cx="1481328" cy="329184"/>
          </a:xfrm>
          <a:prstGeom prst="rect">
            <a:avLst/>
          </a:prstGeom>
          <a:solidFill>
            <a:srgbClr val="F4F6F9"/>
          </a:solidFill>
          <a:ln w="12700">
            <a:solidFill>
              <a:srgbClr val="F4F6F9"/>
            </a:solidFill>
            <a:prstDash val="solid"/>
          </a:ln>
        </p:spPr>
      </p:sp>
      <p:sp>
        <p:nvSpPr>
          <p:cNvPr id="11" name="Text 9"/>
          <p:cNvSpPr/>
          <p:nvPr/>
        </p:nvSpPr>
        <p:spPr>
          <a:xfrm>
            <a:off x="640080" y="2340864"/>
            <a:ext cx="1335024" cy="219456"/>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Brand</a:t>
            </a:r>
            <a:endParaRPr lang="en-US" sz="800" dirty="0"/>
          </a:p>
        </p:txBody>
      </p:sp>
      <p:sp>
        <p:nvSpPr>
          <p:cNvPr id="12" name="Shape 10"/>
          <p:cNvSpPr/>
          <p:nvPr/>
        </p:nvSpPr>
        <p:spPr>
          <a:xfrm>
            <a:off x="2157984" y="2286000"/>
            <a:ext cx="1481328" cy="329184"/>
          </a:xfrm>
          <a:prstGeom prst="rect">
            <a:avLst/>
          </a:prstGeom>
          <a:solidFill>
            <a:srgbClr val="F4F6F9"/>
          </a:solidFill>
          <a:ln w="12700">
            <a:solidFill>
              <a:srgbClr val="F4F6F9"/>
            </a:solidFill>
            <a:prstDash val="solid"/>
          </a:ln>
        </p:spPr>
      </p:sp>
      <p:sp>
        <p:nvSpPr>
          <p:cNvPr id="13" name="Text 11"/>
          <p:cNvSpPr/>
          <p:nvPr/>
        </p:nvSpPr>
        <p:spPr>
          <a:xfrm>
            <a:off x="2231136" y="2340864"/>
            <a:ext cx="1335024" cy="219456"/>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Model</a:t>
            </a:r>
            <a:endParaRPr lang="en-US" sz="800" dirty="0"/>
          </a:p>
        </p:txBody>
      </p:sp>
      <p:sp>
        <p:nvSpPr>
          <p:cNvPr id="14" name="Shape 12"/>
          <p:cNvSpPr/>
          <p:nvPr/>
        </p:nvSpPr>
        <p:spPr>
          <a:xfrm>
            <a:off x="3749040" y="2286000"/>
            <a:ext cx="1481328" cy="329184"/>
          </a:xfrm>
          <a:prstGeom prst="rect">
            <a:avLst/>
          </a:prstGeom>
          <a:solidFill>
            <a:srgbClr val="F4F6F9"/>
          </a:solidFill>
          <a:ln w="12700">
            <a:solidFill>
              <a:srgbClr val="F4F6F9"/>
            </a:solidFill>
            <a:prstDash val="solid"/>
          </a:ln>
        </p:spPr>
      </p:sp>
      <p:sp>
        <p:nvSpPr>
          <p:cNvPr id="15" name="Text 13"/>
          <p:cNvSpPr/>
          <p:nvPr/>
        </p:nvSpPr>
        <p:spPr>
          <a:xfrm>
            <a:off x="3822192" y="2340864"/>
            <a:ext cx="1335024" cy="219456"/>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Year</a:t>
            </a:r>
            <a:endParaRPr lang="en-US" sz="800" dirty="0"/>
          </a:p>
        </p:txBody>
      </p:sp>
      <p:sp>
        <p:nvSpPr>
          <p:cNvPr id="16" name="Shape 14"/>
          <p:cNvSpPr/>
          <p:nvPr/>
        </p:nvSpPr>
        <p:spPr>
          <a:xfrm>
            <a:off x="566928" y="2743200"/>
            <a:ext cx="1481328" cy="329184"/>
          </a:xfrm>
          <a:prstGeom prst="rect">
            <a:avLst/>
          </a:prstGeom>
          <a:solidFill>
            <a:srgbClr val="F4F6F9"/>
          </a:solidFill>
          <a:ln w="12700">
            <a:solidFill>
              <a:srgbClr val="F4F6F9"/>
            </a:solidFill>
            <a:prstDash val="solid"/>
          </a:ln>
        </p:spPr>
      </p:sp>
      <p:sp>
        <p:nvSpPr>
          <p:cNvPr id="17" name="Text 15"/>
          <p:cNvSpPr/>
          <p:nvPr/>
        </p:nvSpPr>
        <p:spPr>
          <a:xfrm>
            <a:off x="640080" y="2798064"/>
            <a:ext cx="1335024" cy="219456"/>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Fuel Type</a:t>
            </a:r>
            <a:endParaRPr lang="en-US" sz="800" dirty="0"/>
          </a:p>
        </p:txBody>
      </p:sp>
      <p:sp>
        <p:nvSpPr>
          <p:cNvPr id="18" name="Shape 16"/>
          <p:cNvSpPr/>
          <p:nvPr/>
        </p:nvSpPr>
        <p:spPr>
          <a:xfrm>
            <a:off x="2157984" y="2743200"/>
            <a:ext cx="1481328" cy="329184"/>
          </a:xfrm>
          <a:prstGeom prst="rect">
            <a:avLst/>
          </a:prstGeom>
          <a:solidFill>
            <a:srgbClr val="F4F6F9"/>
          </a:solidFill>
          <a:ln w="12700">
            <a:solidFill>
              <a:srgbClr val="F4F6F9"/>
            </a:solidFill>
            <a:prstDash val="solid"/>
          </a:ln>
        </p:spPr>
      </p:sp>
      <p:sp>
        <p:nvSpPr>
          <p:cNvPr id="19" name="Text 17"/>
          <p:cNvSpPr/>
          <p:nvPr/>
        </p:nvSpPr>
        <p:spPr>
          <a:xfrm>
            <a:off x="2231136" y="2798064"/>
            <a:ext cx="1335024" cy="219456"/>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Transmission</a:t>
            </a:r>
            <a:endParaRPr lang="en-US" sz="800" dirty="0"/>
          </a:p>
        </p:txBody>
      </p:sp>
      <p:sp>
        <p:nvSpPr>
          <p:cNvPr id="20" name="Shape 18"/>
          <p:cNvSpPr/>
          <p:nvPr/>
        </p:nvSpPr>
        <p:spPr>
          <a:xfrm>
            <a:off x="3749040" y="2743200"/>
            <a:ext cx="1481328" cy="329184"/>
          </a:xfrm>
          <a:prstGeom prst="rect">
            <a:avLst/>
          </a:prstGeom>
          <a:solidFill>
            <a:srgbClr val="F4F6F9"/>
          </a:solidFill>
          <a:ln w="12700">
            <a:solidFill>
              <a:srgbClr val="F4F6F9"/>
            </a:solidFill>
            <a:prstDash val="solid"/>
          </a:ln>
        </p:spPr>
      </p:sp>
      <p:sp>
        <p:nvSpPr>
          <p:cNvPr id="21" name="Text 19"/>
          <p:cNvSpPr/>
          <p:nvPr/>
        </p:nvSpPr>
        <p:spPr>
          <a:xfrm>
            <a:off x="3822192" y="2798064"/>
            <a:ext cx="1335024" cy="219456"/>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Engine CC</a:t>
            </a:r>
            <a:endParaRPr lang="en-US" sz="800" dirty="0"/>
          </a:p>
        </p:txBody>
      </p:sp>
      <p:sp>
        <p:nvSpPr>
          <p:cNvPr id="22" name="Shape 20"/>
          <p:cNvSpPr/>
          <p:nvPr/>
        </p:nvSpPr>
        <p:spPr>
          <a:xfrm>
            <a:off x="566928" y="3200400"/>
            <a:ext cx="1481328" cy="329184"/>
          </a:xfrm>
          <a:prstGeom prst="rect">
            <a:avLst/>
          </a:prstGeom>
          <a:solidFill>
            <a:srgbClr val="F4F6F9"/>
          </a:solidFill>
          <a:ln w="12700">
            <a:solidFill>
              <a:srgbClr val="F4F6F9"/>
            </a:solidFill>
            <a:prstDash val="solid"/>
          </a:ln>
        </p:spPr>
      </p:sp>
      <p:sp>
        <p:nvSpPr>
          <p:cNvPr id="23" name="Text 21"/>
          <p:cNvSpPr/>
          <p:nvPr/>
        </p:nvSpPr>
        <p:spPr>
          <a:xfrm>
            <a:off x="640080" y="3255264"/>
            <a:ext cx="1335024" cy="219456"/>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Condition</a:t>
            </a:r>
            <a:endParaRPr lang="en-US" sz="800" dirty="0"/>
          </a:p>
        </p:txBody>
      </p:sp>
      <p:sp>
        <p:nvSpPr>
          <p:cNvPr id="24" name="Shape 22"/>
          <p:cNvSpPr/>
          <p:nvPr/>
        </p:nvSpPr>
        <p:spPr>
          <a:xfrm>
            <a:off x="2157984" y="3200400"/>
            <a:ext cx="1481328" cy="329184"/>
          </a:xfrm>
          <a:prstGeom prst="rect">
            <a:avLst/>
          </a:prstGeom>
          <a:solidFill>
            <a:srgbClr val="F4F6F9"/>
          </a:solidFill>
          <a:ln w="12700">
            <a:solidFill>
              <a:srgbClr val="F4F6F9"/>
            </a:solidFill>
            <a:prstDash val="solid"/>
          </a:ln>
        </p:spPr>
      </p:sp>
      <p:sp>
        <p:nvSpPr>
          <p:cNvPr id="25" name="Text 23"/>
          <p:cNvSpPr/>
          <p:nvPr/>
        </p:nvSpPr>
        <p:spPr>
          <a:xfrm>
            <a:off x="2231136" y="3255264"/>
            <a:ext cx="1335024" cy="219456"/>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City</a:t>
            </a:r>
            <a:endParaRPr lang="en-US" sz="800" dirty="0"/>
          </a:p>
        </p:txBody>
      </p:sp>
      <p:sp>
        <p:nvSpPr>
          <p:cNvPr id="26" name="Shape 24"/>
          <p:cNvSpPr/>
          <p:nvPr/>
        </p:nvSpPr>
        <p:spPr>
          <a:xfrm>
            <a:off x="3749040" y="3200400"/>
            <a:ext cx="1481328" cy="329184"/>
          </a:xfrm>
          <a:prstGeom prst="rect">
            <a:avLst/>
          </a:prstGeom>
          <a:solidFill>
            <a:srgbClr val="F4F6F9"/>
          </a:solidFill>
          <a:ln w="12700">
            <a:solidFill>
              <a:srgbClr val="F4F6F9"/>
            </a:solidFill>
            <a:prstDash val="solid"/>
          </a:ln>
        </p:spPr>
      </p:sp>
      <p:sp>
        <p:nvSpPr>
          <p:cNvPr id="27" name="Text 25"/>
          <p:cNvSpPr/>
          <p:nvPr/>
        </p:nvSpPr>
        <p:spPr>
          <a:xfrm>
            <a:off x="3822192" y="3255264"/>
            <a:ext cx="1335024" cy="219456"/>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Mileage KM</a:t>
            </a:r>
            <a:endParaRPr lang="en-US" sz="800" dirty="0"/>
          </a:p>
        </p:txBody>
      </p:sp>
      <p:sp>
        <p:nvSpPr>
          <p:cNvPr id="28" name="Shape 26"/>
          <p:cNvSpPr/>
          <p:nvPr/>
        </p:nvSpPr>
        <p:spPr>
          <a:xfrm>
            <a:off x="1298448" y="3694176"/>
            <a:ext cx="2468880" cy="365760"/>
          </a:xfrm>
          <a:prstGeom prst="rect">
            <a:avLst/>
          </a:prstGeom>
          <a:solidFill>
            <a:srgbClr val="1B3A6B"/>
          </a:solidFill>
          <a:ln w="12700">
            <a:solidFill>
              <a:srgbClr val="1B3A6B"/>
            </a:solidFill>
            <a:prstDash val="solid"/>
          </a:ln>
        </p:spPr>
      </p:sp>
      <p:sp>
        <p:nvSpPr>
          <p:cNvPr id="29" name="Text 27"/>
          <p:cNvSpPr/>
          <p:nvPr/>
        </p:nvSpPr>
        <p:spPr>
          <a:xfrm>
            <a:off x="1298448" y="3712464"/>
            <a:ext cx="24688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Predict Price Now</a:t>
            </a:r>
            <a:endParaRPr lang="en-US" sz="1000" dirty="0"/>
          </a:p>
        </p:txBody>
      </p:sp>
      <p:sp>
        <p:nvSpPr>
          <p:cNvPr id="30" name="Shape 28"/>
          <p:cNvSpPr/>
          <p:nvPr/>
        </p:nvSpPr>
        <p:spPr>
          <a:xfrm>
            <a:off x="566928" y="4187952"/>
            <a:ext cx="4809744" cy="621792"/>
          </a:xfrm>
          <a:prstGeom prst="rect">
            <a:avLst/>
          </a:prstGeom>
          <a:solidFill>
            <a:srgbClr val="E8F5EE"/>
          </a:solidFill>
          <a:ln w="12700">
            <a:solidFill>
              <a:srgbClr val="E8F5EE"/>
            </a:solidFill>
            <a:prstDash val="solid"/>
          </a:ln>
        </p:spPr>
      </p:sp>
      <p:sp>
        <p:nvSpPr>
          <p:cNvPr id="31" name="Text 29"/>
          <p:cNvSpPr/>
          <p:nvPr/>
        </p:nvSpPr>
        <p:spPr>
          <a:xfrm>
            <a:off x="713232" y="4297680"/>
            <a:ext cx="4553712" cy="402336"/>
          </a:xfrm>
          <a:prstGeom prst="rect">
            <a:avLst/>
          </a:prstGeom>
          <a:noFill/>
          <a:ln/>
        </p:spPr>
        <p:txBody>
          <a:bodyPr wrap="square" lIns="0" tIns="0" rIns="0" bIns="0" rtlCol="0" anchor="ctr"/>
          <a:lstStyle/>
          <a:p>
            <a:pPr indent="0" marL="0">
              <a:buNone/>
            </a:pPr>
            <a:r>
              <a:rPr lang="en-US" sz="950" b="1" dirty="0">
                <a:solidFill>
                  <a:srgbClr val="1A7A4A"/>
                </a:solidFill>
                <a:latin typeface="Calibri" pitchFamily="34" charset="0"/>
                <a:ea typeface="Calibri" pitchFamily="34" charset="-122"/>
                <a:cs typeface="Calibri" pitchFamily="34" charset="-120"/>
              </a:rPr>
              <a:t>Predicted: PKR 4,668,000  —  Confidence: 91%  —  Range: PKR 4.5M to 4.84M</a:t>
            </a:r>
            <a:endParaRPr lang="en-US" sz="950" dirty="0"/>
          </a:p>
        </p:txBody>
      </p:sp>
      <p:sp>
        <p:nvSpPr>
          <p:cNvPr id="32" name="Text 30"/>
          <p:cNvSpPr/>
          <p:nvPr/>
        </p:nvSpPr>
        <p:spPr>
          <a:xfrm>
            <a:off x="5669280" y="1371600"/>
            <a:ext cx="2926080" cy="274320"/>
          </a:xfrm>
          <a:prstGeom prst="rect">
            <a:avLst/>
          </a:prstGeom>
          <a:noFill/>
          <a:ln/>
        </p:spPr>
        <p:txBody>
          <a:bodyPr wrap="square" lIns="0" tIns="0" rIns="0" bIns="0" rtlCol="0" anchor="ctr"/>
          <a:lstStyle/>
          <a:p>
            <a:pPr indent="0" marL="0">
              <a:buNone/>
            </a:pPr>
            <a:r>
              <a:rPr lang="en-US" sz="1200" b="1" dirty="0">
                <a:solidFill>
                  <a:srgbClr val="1B3A6B"/>
                </a:solidFill>
                <a:latin typeface="Cambria" pitchFamily="34" charset="0"/>
                <a:ea typeface="Cambria" pitchFamily="34" charset="-122"/>
                <a:cs typeface="Cambria" pitchFamily="34" charset="-120"/>
              </a:rPr>
              <a:t>User-Centred Design</a:t>
            </a:r>
            <a:endParaRPr lang="en-US" sz="1200" dirty="0"/>
          </a:p>
        </p:txBody>
      </p:sp>
      <p:sp>
        <p:nvSpPr>
          <p:cNvPr id="33" name="Text 31"/>
          <p:cNvSpPr/>
          <p:nvPr/>
        </p:nvSpPr>
        <p:spPr>
          <a:xfrm>
            <a:off x="5669280" y="1682496"/>
            <a:ext cx="2926080" cy="457200"/>
          </a:xfrm>
          <a:prstGeom prst="rect">
            <a:avLst/>
          </a:prstGeom>
          <a:noFill/>
          <a:ln/>
        </p:spPr>
        <p:txBody>
          <a:bodyPr wrap="square" lIns="0" tIns="0" rIns="0" bIns="0" rtlCol="0" anchor="ctr"/>
          <a:lstStyle/>
          <a:p>
            <a:pPr indent="0" marL="0">
              <a:buNone/>
            </a:pPr>
            <a:r>
              <a:rPr lang="en-US" sz="880" i="1" dirty="0">
                <a:solidFill>
                  <a:srgbClr val="6B7C8F"/>
                </a:solidFill>
                <a:latin typeface="Calibri" pitchFamily="34" charset="0"/>
                <a:ea typeface="Calibri" pitchFamily="34" charset="-122"/>
                <a:cs typeface="Calibri" pitchFamily="34" charset="-120"/>
              </a:rPr>
              <a:t>Norman (2013): Good design feels completely intuitive — the user should not need any instructions to understand what to do.</a:t>
            </a:r>
            <a:endParaRPr lang="en-US" sz="880" dirty="0"/>
          </a:p>
        </p:txBody>
      </p:sp>
      <p:sp>
        <p:nvSpPr>
          <p:cNvPr id="34" name="Shape 32"/>
          <p:cNvSpPr/>
          <p:nvPr/>
        </p:nvSpPr>
        <p:spPr>
          <a:xfrm>
            <a:off x="5669280" y="2212848"/>
            <a:ext cx="2971800" cy="475488"/>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35" name="Text 33"/>
          <p:cNvSpPr/>
          <p:nvPr/>
        </p:nvSpPr>
        <p:spPr>
          <a:xfrm>
            <a:off x="5806440" y="2267712"/>
            <a:ext cx="2743200" cy="201168"/>
          </a:xfrm>
          <a:prstGeom prst="rect">
            <a:avLst/>
          </a:prstGeom>
          <a:noFill/>
          <a:ln/>
        </p:spPr>
        <p:txBody>
          <a:bodyPr wrap="square" lIns="0" tIns="0" rIns="0" bIns="0" rtlCol="0" anchor="ctr"/>
          <a:lstStyle/>
          <a:p>
            <a:pPr indent="0" marL="0">
              <a:buNone/>
            </a:pPr>
            <a:r>
              <a:rPr lang="en-US" sz="1000" b="1" dirty="0">
                <a:solidFill>
                  <a:srgbClr val="1B3A6B"/>
                </a:solidFill>
                <a:latin typeface="Calibri" pitchFamily="34" charset="0"/>
                <a:ea typeface="Calibri" pitchFamily="34" charset="-122"/>
                <a:cs typeface="Calibri" pitchFamily="34" charset="-120"/>
              </a:rPr>
              <a:t>Dropdown menus only</a:t>
            </a:r>
            <a:endParaRPr lang="en-US" sz="1000" dirty="0"/>
          </a:p>
        </p:txBody>
      </p:sp>
      <p:sp>
        <p:nvSpPr>
          <p:cNvPr id="36" name="Text 34"/>
          <p:cNvSpPr/>
          <p:nvPr/>
        </p:nvSpPr>
        <p:spPr>
          <a:xfrm>
            <a:off x="5806440" y="2468880"/>
            <a:ext cx="2743200" cy="201168"/>
          </a:xfrm>
          <a:prstGeom prst="rect">
            <a:avLst/>
          </a:prstGeom>
          <a:noFill/>
          <a:ln/>
        </p:spPr>
        <p:txBody>
          <a:bodyPr wrap="square" lIns="0" tIns="0" rIns="0" bIns="0" rtlCol="0" anchor="ctr"/>
          <a:lstStyle/>
          <a:p>
            <a:pPr indent="0" marL="0">
              <a:buNone/>
            </a:pPr>
            <a:r>
              <a:rPr lang="en-US" sz="820" dirty="0">
                <a:solidFill>
                  <a:srgbClr val="6B7C8F"/>
                </a:solidFill>
                <a:latin typeface="Calibri" pitchFamily="34" charset="0"/>
                <a:ea typeface="Calibri" pitchFamily="34" charset="-122"/>
                <a:cs typeface="Calibri" pitchFamily="34" charset="-120"/>
              </a:rPr>
              <a:t>Prevents entering values the model does not recognise. Eliminates input errors completely.</a:t>
            </a:r>
            <a:endParaRPr lang="en-US" sz="820" dirty="0"/>
          </a:p>
        </p:txBody>
      </p:sp>
      <p:sp>
        <p:nvSpPr>
          <p:cNvPr id="37" name="Shape 35"/>
          <p:cNvSpPr/>
          <p:nvPr/>
        </p:nvSpPr>
        <p:spPr>
          <a:xfrm>
            <a:off x="5669280" y="2761488"/>
            <a:ext cx="2971800" cy="475488"/>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38" name="Text 36"/>
          <p:cNvSpPr/>
          <p:nvPr/>
        </p:nvSpPr>
        <p:spPr>
          <a:xfrm>
            <a:off x="5806440" y="2816352"/>
            <a:ext cx="2743200" cy="201168"/>
          </a:xfrm>
          <a:prstGeom prst="rect">
            <a:avLst/>
          </a:prstGeom>
          <a:noFill/>
          <a:ln/>
        </p:spPr>
        <p:txBody>
          <a:bodyPr wrap="square" lIns="0" tIns="0" rIns="0" bIns="0" rtlCol="0" anchor="ctr"/>
          <a:lstStyle/>
          <a:p>
            <a:pPr indent="0" marL="0">
              <a:buNone/>
            </a:pPr>
            <a:r>
              <a:rPr lang="en-US" sz="1000" b="1" dirty="0">
                <a:solidFill>
                  <a:srgbClr val="1B3A6B"/>
                </a:solidFill>
                <a:latin typeface="Calibri" pitchFamily="34" charset="0"/>
                <a:ea typeface="Calibri" pitchFamily="34" charset="-122"/>
                <a:cs typeface="Calibri" pitchFamily="34" charset="-120"/>
              </a:rPr>
              <a:t>Three-part results</a:t>
            </a:r>
            <a:endParaRPr lang="en-US" sz="1000" dirty="0"/>
          </a:p>
        </p:txBody>
      </p:sp>
      <p:sp>
        <p:nvSpPr>
          <p:cNvPr id="39" name="Text 37"/>
          <p:cNvSpPr/>
          <p:nvPr/>
        </p:nvSpPr>
        <p:spPr>
          <a:xfrm>
            <a:off x="5806440" y="3017520"/>
            <a:ext cx="2743200" cy="201168"/>
          </a:xfrm>
          <a:prstGeom prst="rect">
            <a:avLst/>
          </a:prstGeom>
          <a:noFill/>
          <a:ln/>
        </p:spPr>
        <p:txBody>
          <a:bodyPr wrap="square" lIns="0" tIns="0" rIns="0" bIns="0" rtlCol="0" anchor="ctr"/>
          <a:lstStyle/>
          <a:p>
            <a:pPr indent="0" marL="0">
              <a:buNone/>
            </a:pPr>
            <a:r>
              <a:rPr lang="en-US" sz="820" dirty="0">
                <a:solidFill>
                  <a:srgbClr val="6B7C8F"/>
                </a:solidFill>
                <a:latin typeface="Calibri" pitchFamily="34" charset="0"/>
                <a:ea typeface="Calibri" pitchFamily="34" charset="-122"/>
                <a:cs typeface="Calibri" pitchFamily="34" charset="-120"/>
              </a:rPr>
              <a:t>Price plus confidence percentage plus range — more honest than a single opaque number.</a:t>
            </a:r>
            <a:endParaRPr lang="en-US" sz="820" dirty="0"/>
          </a:p>
        </p:txBody>
      </p:sp>
      <p:sp>
        <p:nvSpPr>
          <p:cNvPr id="40" name="Shape 38"/>
          <p:cNvSpPr/>
          <p:nvPr/>
        </p:nvSpPr>
        <p:spPr>
          <a:xfrm>
            <a:off x="5669280" y="3310128"/>
            <a:ext cx="2971800" cy="475488"/>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41" name="Text 39"/>
          <p:cNvSpPr/>
          <p:nvPr/>
        </p:nvSpPr>
        <p:spPr>
          <a:xfrm>
            <a:off x="5806440" y="3364992"/>
            <a:ext cx="2743200" cy="201168"/>
          </a:xfrm>
          <a:prstGeom prst="rect">
            <a:avLst/>
          </a:prstGeom>
          <a:noFill/>
          <a:ln/>
        </p:spPr>
        <p:txBody>
          <a:bodyPr wrap="square" lIns="0" tIns="0" rIns="0" bIns="0" rtlCol="0" anchor="ctr"/>
          <a:lstStyle/>
          <a:p>
            <a:pPr indent="0" marL="0">
              <a:buNone/>
            </a:pPr>
            <a:r>
              <a:rPr lang="en-US" sz="1000" b="1" dirty="0">
                <a:solidFill>
                  <a:srgbClr val="1B3A6B"/>
                </a:solidFill>
                <a:latin typeface="Calibri" pitchFamily="34" charset="0"/>
                <a:ea typeface="Calibri" pitchFamily="34" charset="-122"/>
                <a:cs typeface="Calibri" pitchFamily="34" charset="-120"/>
              </a:rPr>
              <a:t>How It Works section</a:t>
            </a:r>
            <a:endParaRPr lang="en-US" sz="1000" dirty="0"/>
          </a:p>
        </p:txBody>
      </p:sp>
      <p:sp>
        <p:nvSpPr>
          <p:cNvPr id="42" name="Text 40"/>
          <p:cNvSpPr/>
          <p:nvPr/>
        </p:nvSpPr>
        <p:spPr>
          <a:xfrm>
            <a:off x="5806440" y="3566160"/>
            <a:ext cx="2743200" cy="201168"/>
          </a:xfrm>
          <a:prstGeom prst="rect">
            <a:avLst/>
          </a:prstGeom>
          <a:noFill/>
          <a:ln/>
        </p:spPr>
        <p:txBody>
          <a:bodyPr wrap="square" lIns="0" tIns="0" rIns="0" bIns="0" rtlCol="0" anchor="ctr"/>
          <a:lstStyle/>
          <a:p>
            <a:pPr indent="0" marL="0">
              <a:buNone/>
            </a:pPr>
            <a:r>
              <a:rPr lang="en-US" sz="820" dirty="0">
                <a:solidFill>
                  <a:srgbClr val="6B7C8F"/>
                </a:solidFill>
                <a:latin typeface="Calibri" pitchFamily="34" charset="0"/>
                <a:ea typeface="Calibri" pitchFamily="34" charset="-122"/>
                <a:cs typeface="Calibri" pitchFamily="34" charset="-120"/>
              </a:rPr>
              <a:t>Plain-language AI explanation added after team discussions revealed initial user suspicion of opaque tools.</a:t>
            </a:r>
            <a:endParaRPr lang="en-US" sz="820" dirty="0"/>
          </a:p>
        </p:txBody>
      </p:sp>
      <p:sp>
        <p:nvSpPr>
          <p:cNvPr id="43" name="Shape 41"/>
          <p:cNvSpPr/>
          <p:nvPr/>
        </p:nvSpPr>
        <p:spPr>
          <a:xfrm>
            <a:off x="5669280" y="3858768"/>
            <a:ext cx="2971800" cy="475488"/>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44" name="Text 42"/>
          <p:cNvSpPr/>
          <p:nvPr/>
        </p:nvSpPr>
        <p:spPr>
          <a:xfrm>
            <a:off x="5806440" y="3913632"/>
            <a:ext cx="2743200" cy="201168"/>
          </a:xfrm>
          <a:prstGeom prst="rect">
            <a:avLst/>
          </a:prstGeom>
          <a:noFill/>
          <a:ln/>
        </p:spPr>
        <p:txBody>
          <a:bodyPr wrap="square" lIns="0" tIns="0" rIns="0" bIns="0" rtlCol="0" anchor="ctr"/>
          <a:lstStyle/>
          <a:p>
            <a:pPr indent="0" marL="0">
              <a:buNone/>
            </a:pPr>
            <a:r>
              <a:rPr lang="en-US" sz="1000" b="1" dirty="0">
                <a:solidFill>
                  <a:srgbClr val="1B3A6B"/>
                </a:solidFill>
                <a:latin typeface="Calibri" pitchFamily="34" charset="0"/>
                <a:ea typeface="Calibri" pitchFamily="34" charset="-122"/>
                <a:cs typeface="Calibri" pitchFamily="34" charset="-120"/>
              </a:rPr>
              <a:t>API status indicator</a:t>
            </a:r>
            <a:endParaRPr lang="en-US" sz="1000" dirty="0"/>
          </a:p>
        </p:txBody>
      </p:sp>
      <p:sp>
        <p:nvSpPr>
          <p:cNvPr id="45" name="Text 43"/>
          <p:cNvSpPr/>
          <p:nvPr/>
        </p:nvSpPr>
        <p:spPr>
          <a:xfrm>
            <a:off x="5806440" y="4114800"/>
            <a:ext cx="2743200" cy="201168"/>
          </a:xfrm>
          <a:prstGeom prst="rect">
            <a:avLst/>
          </a:prstGeom>
          <a:noFill/>
          <a:ln/>
        </p:spPr>
        <p:txBody>
          <a:bodyPr wrap="square" lIns="0" tIns="0" rIns="0" bIns="0" rtlCol="0" anchor="ctr"/>
          <a:lstStyle/>
          <a:p>
            <a:pPr indent="0" marL="0">
              <a:buNone/>
            </a:pPr>
            <a:r>
              <a:rPr lang="en-US" sz="820" dirty="0">
                <a:solidFill>
                  <a:srgbClr val="6B7C8F"/>
                </a:solidFill>
                <a:latin typeface="Calibri" pitchFamily="34" charset="0"/>
                <a:ea typeface="Calibri" pitchFamily="34" charset="-122"/>
                <a:cs typeface="Calibri" pitchFamily="34" charset="-120"/>
              </a:rPr>
              <a:t>User sees if backend is online before filling the form — added from sprint review feedback.</a:t>
            </a:r>
            <a:endParaRPr lang="en-US" sz="820" dirty="0"/>
          </a:p>
        </p:txBody>
      </p:sp>
      <p:sp>
        <p:nvSpPr>
          <p:cNvPr id="46" name="Shape 44"/>
          <p:cNvSpPr/>
          <p:nvPr/>
        </p:nvSpPr>
        <p:spPr>
          <a:xfrm>
            <a:off x="5669280" y="4407408"/>
            <a:ext cx="2971800" cy="475488"/>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47" name="Text 45"/>
          <p:cNvSpPr/>
          <p:nvPr/>
        </p:nvSpPr>
        <p:spPr>
          <a:xfrm>
            <a:off x="5806440" y="4462272"/>
            <a:ext cx="2743200" cy="201168"/>
          </a:xfrm>
          <a:prstGeom prst="rect">
            <a:avLst/>
          </a:prstGeom>
          <a:noFill/>
          <a:ln/>
        </p:spPr>
        <p:txBody>
          <a:bodyPr wrap="square" lIns="0" tIns="0" rIns="0" bIns="0" rtlCol="0" anchor="ctr"/>
          <a:lstStyle/>
          <a:p>
            <a:pPr indent="0" marL="0">
              <a:buNone/>
            </a:pPr>
            <a:r>
              <a:rPr lang="en-US" sz="1000" b="1" dirty="0">
                <a:solidFill>
                  <a:srgbClr val="1B3A6B"/>
                </a:solidFill>
                <a:latin typeface="Calibri" pitchFamily="34" charset="0"/>
                <a:ea typeface="Calibri" pitchFamily="34" charset="-122"/>
                <a:cs typeface="Calibri" pitchFamily="34" charset="-120"/>
              </a:rPr>
              <a:t>Mobile responsive</a:t>
            </a:r>
            <a:endParaRPr lang="en-US" sz="1000" dirty="0"/>
          </a:p>
        </p:txBody>
      </p:sp>
      <p:sp>
        <p:nvSpPr>
          <p:cNvPr id="48" name="Text 46"/>
          <p:cNvSpPr/>
          <p:nvPr/>
        </p:nvSpPr>
        <p:spPr>
          <a:xfrm>
            <a:off x="5806440" y="4663440"/>
            <a:ext cx="2743200" cy="201168"/>
          </a:xfrm>
          <a:prstGeom prst="rect">
            <a:avLst/>
          </a:prstGeom>
          <a:noFill/>
          <a:ln/>
        </p:spPr>
        <p:txBody>
          <a:bodyPr wrap="square" lIns="0" tIns="0" rIns="0" bIns="0" rtlCol="0" anchor="ctr"/>
          <a:lstStyle/>
          <a:p>
            <a:pPr indent="0" marL="0">
              <a:buNone/>
            </a:pPr>
            <a:r>
              <a:rPr lang="en-US" sz="820" dirty="0">
                <a:solidFill>
                  <a:srgbClr val="6B7C8F"/>
                </a:solidFill>
                <a:latin typeface="Calibri" pitchFamily="34" charset="0"/>
                <a:ea typeface="Calibri" pitchFamily="34" charset="-122"/>
                <a:cs typeface="Calibri" pitchFamily="34" charset="-120"/>
              </a:rPr>
              <a:t>Tested 320px to 1440px. Majority of Pakistani users access via mobile phone.</a:t>
            </a:r>
            <a:endParaRPr lang="en-US" sz="8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8229600" cy="219456"/>
          </a:xfrm>
          <a:prstGeom prst="rect">
            <a:avLst/>
          </a:prstGeom>
          <a:noFill/>
          <a:ln/>
        </p:spPr>
        <p:txBody>
          <a:bodyPr wrap="square" lIns="0" tIns="0" rIns="0" bIns="0" rtlCol="0" anchor="ctr"/>
          <a:lstStyle/>
          <a:p>
            <a:pPr indent="0" marL="0">
              <a:buNone/>
            </a:pPr>
            <a:r>
              <a:rPr lang="en-US" sz="850" b="1" spc="250" kern="0" dirty="0">
                <a:solidFill>
                  <a:srgbClr val="B5281C"/>
                </a:solidFill>
                <a:latin typeface="Calibri" pitchFamily="34" charset="0"/>
                <a:ea typeface="Calibri" pitchFamily="34" charset="-122"/>
                <a:cs typeface="Calibri" pitchFamily="34" charset="-120"/>
              </a:rPr>
              <a:t>CHAPTER 6 — TESTING AND PROJECT MANAGEMENT</a:t>
            </a:r>
            <a:endParaRPr lang="en-US" sz="85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000" b="1" dirty="0">
                <a:solidFill>
                  <a:srgbClr val="1B3A6B"/>
                </a:solidFill>
                <a:latin typeface="Cambria" pitchFamily="34" charset="0"/>
                <a:ea typeface="Cambria" pitchFamily="34" charset="-122"/>
                <a:cs typeface="Cambria" pitchFamily="34" charset="-120"/>
              </a:rPr>
              <a:t>Testing Strategy and Three Development Challenges</a:t>
            </a:r>
            <a:endParaRPr lang="en-US" sz="3000" dirty="0"/>
          </a:p>
        </p:txBody>
      </p:sp>
      <p:sp>
        <p:nvSpPr>
          <p:cNvPr id="4" name="Shape 2"/>
          <p:cNvSpPr/>
          <p:nvPr/>
        </p:nvSpPr>
        <p:spPr>
          <a:xfrm>
            <a:off x="457200" y="1225296"/>
            <a:ext cx="8229600" cy="20117"/>
          </a:xfrm>
          <a:prstGeom prst="rect">
            <a:avLst/>
          </a:prstGeom>
          <a:solidFill>
            <a:srgbClr val="E8EDF4"/>
          </a:solidFill>
          <a:ln w="12700">
            <a:solidFill>
              <a:srgbClr val="E8EDF4"/>
            </a:solidFill>
            <a:prstDash val="solid"/>
          </a:ln>
        </p:spPr>
      </p:sp>
      <p:sp>
        <p:nvSpPr>
          <p:cNvPr id="5" name="Shape 3"/>
          <p:cNvSpPr/>
          <p:nvPr/>
        </p:nvSpPr>
        <p:spPr>
          <a:xfrm>
            <a:off x="457200" y="1371600"/>
            <a:ext cx="4956048" cy="3566160"/>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6" name="Shape 4"/>
          <p:cNvSpPr/>
          <p:nvPr/>
        </p:nvSpPr>
        <p:spPr>
          <a:xfrm>
            <a:off x="457200" y="1371600"/>
            <a:ext cx="4956048" cy="329184"/>
          </a:xfrm>
          <a:prstGeom prst="rect">
            <a:avLst/>
          </a:prstGeom>
          <a:solidFill>
            <a:srgbClr val="1B3A6B"/>
          </a:solidFill>
          <a:ln w="12700">
            <a:solidFill>
              <a:srgbClr val="1B3A6B"/>
            </a:solidFill>
            <a:prstDash val="solid"/>
          </a:ln>
        </p:spPr>
      </p:sp>
      <p:sp>
        <p:nvSpPr>
          <p:cNvPr id="7" name="Text 5"/>
          <p:cNvSpPr/>
          <p:nvPr/>
        </p:nvSpPr>
        <p:spPr>
          <a:xfrm>
            <a:off x="640080" y="1408176"/>
            <a:ext cx="4590288"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Testing Approach — Sprint 6</a:t>
            </a:r>
            <a:endParaRPr lang="en-US" sz="1100" dirty="0"/>
          </a:p>
        </p:txBody>
      </p:sp>
      <p:sp>
        <p:nvSpPr>
          <p:cNvPr id="8" name="Shape 6"/>
          <p:cNvSpPr/>
          <p:nvPr/>
        </p:nvSpPr>
        <p:spPr>
          <a:xfrm>
            <a:off x="621792" y="1810512"/>
            <a:ext cx="658368" cy="274320"/>
          </a:xfrm>
          <a:prstGeom prst="rect">
            <a:avLst/>
          </a:prstGeom>
          <a:solidFill>
            <a:srgbClr val="0B6E8C"/>
          </a:solidFill>
          <a:ln w="12700">
            <a:solidFill>
              <a:srgbClr val="0B6E8C"/>
            </a:solidFill>
            <a:prstDash val="solid"/>
          </a:ln>
        </p:spPr>
      </p:sp>
      <p:sp>
        <p:nvSpPr>
          <p:cNvPr id="9" name="Text 7"/>
          <p:cNvSpPr/>
          <p:nvPr/>
        </p:nvSpPr>
        <p:spPr>
          <a:xfrm>
            <a:off x="621792" y="1819656"/>
            <a:ext cx="658368"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Hasan</a:t>
            </a:r>
            <a:endParaRPr lang="en-US" sz="850" dirty="0"/>
          </a:p>
        </p:txBody>
      </p:sp>
      <p:sp>
        <p:nvSpPr>
          <p:cNvPr id="10" name="Text 8"/>
          <p:cNvSpPr/>
          <p:nvPr/>
        </p:nvSpPr>
        <p:spPr>
          <a:xfrm>
            <a:off x="1371600" y="1828800"/>
            <a:ext cx="3895344" cy="347472"/>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Flask API tested via direct HTTP requests — confirmed /predict returns sensible values for all valid car inputs.</a:t>
            </a:r>
            <a:endParaRPr lang="en-US" sz="900" dirty="0"/>
          </a:p>
        </p:txBody>
      </p:sp>
      <p:sp>
        <p:nvSpPr>
          <p:cNvPr id="11" name="Shape 9"/>
          <p:cNvSpPr/>
          <p:nvPr/>
        </p:nvSpPr>
        <p:spPr>
          <a:xfrm>
            <a:off x="621792" y="2249424"/>
            <a:ext cx="658368" cy="274320"/>
          </a:xfrm>
          <a:prstGeom prst="rect">
            <a:avLst/>
          </a:prstGeom>
          <a:solidFill>
            <a:srgbClr val="0B6E8C"/>
          </a:solidFill>
          <a:ln w="12700">
            <a:solidFill>
              <a:srgbClr val="0B6E8C"/>
            </a:solidFill>
            <a:prstDash val="solid"/>
          </a:ln>
        </p:spPr>
      </p:sp>
      <p:sp>
        <p:nvSpPr>
          <p:cNvPr id="12" name="Text 10"/>
          <p:cNvSpPr/>
          <p:nvPr/>
        </p:nvSpPr>
        <p:spPr>
          <a:xfrm>
            <a:off x="621792" y="2258568"/>
            <a:ext cx="658368"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Jabber</a:t>
            </a:r>
            <a:endParaRPr lang="en-US" sz="850" dirty="0"/>
          </a:p>
        </p:txBody>
      </p:sp>
      <p:sp>
        <p:nvSpPr>
          <p:cNvPr id="13" name="Text 11"/>
          <p:cNvSpPr/>
          <p:nvPr/>
        </p:nvSpPr>
        <p:spPr>
          <a:xfrm>
            <a:off x="1371600" y="2267712"/>
            <a:ext cx="3895344" cy="347472"/>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Form validation tested — required fields enforced, error messages displayed correctly for all invalid inputs.</a:t>
            </a:r>
            <a:endParaRPr lang="en-US" sz="900" dirty="0"/>
          </a:p>
        </p:txBody>
      </p:sp>
      <p:sp>
        <p:nvSpPr>
          <p:cNvPr id="14" name="Shape 12"/>
          <p:cNvSpPr/>
          <p:nvPr/>
        </p:nvSpPr>
        <p:spPr>
          <a:xfrm>
            <a:off x="621792" y="2688336"/>
            <a:ext cx="658368" cy="274320"/>
          </a:xfrm>
          <a:prstGeom prst="rect">
            <a:avLst/>
          </a:prstGeom>
          <a:solidFill>
            <a:srgbClr val="0B6E8C"/>
          </a:solidFill>
          <a:ln w="12700">
            <a:solidFill>
              <a:srgbClr val="0B6E8C"/>
            </a:solidFill>
            <a:prstDash val="solid"/>
          </a:ln>
        </p:spPr>
      </p:sp>
      <p:sp>
        <p:nvSpPr>
          <p:cNvPr id="15" name="Text 13"/>
          <p:cNvSpPr/>
          <p:nvPr/>
        </p:nvSpPr>
        <p:spPr>
          <a:xfrm>
            <a:off x="621792" y="2697480"/>
            <a:ext cx="658368"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Arham</a:t>
            </a:r>
            <a:endParaRPr lang="en-US" sz="850" dirty="0"/>
          </a:p>
        </p:txBody>
      </p:sp>
      <p:sp>
        <p:nvSpPr>
          <p:cNvPr id="16" name="Text 14"/>
          <p:cNvSpPr/>
          <p:nvPr/>
        </p:nvSpPr>
        <p:spPr>
          <a:xfrm>
            <a:off x="1371600" y="2706624"/>
            <a:ext cx="3895344" cy="347472"/>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Complete system tested end-to-end with 20+ real car inputs across brands, models, years, mileage and cities.</a:t>
            </a:r>
            <a:endParaRPr lang="en-US" sz="900" dirty="0"/>
          </a:p>
        </p:txBody>
      </p:sp>
      <p:sp>
        <p:nvSpPr>
          <p:cNvPr id="17" name="Shape 15"/>
          <p:cNvSpPr/>
          <p:nvPr/>
        </p:nvSpPr>
        <p:spPr>
          <a:xfrm>
            <a:off x="621792" y="3127248"/>
            <a:ext cx="658368" cy="274320"/>
          </a:xfrm>
          <a:prstGeom prst="rect">
            <a:avLst/>
          </a:prstGeom>
          <a:solidFill>
            <a:srgbClr val="0B6E8C"/>
          </a:solidFill>
          <a:ln w="12700">
            <a:solidFill>
              <a:srgbClr val="0B6E8C"/>
            </a:solidFill>
            <a:prstDash val="solid"/>
          </a:ln>
        </p:spPr>
      </p:sp>
      <p:sp>
        <p:nvSpPr>
          <p:cNvPr id="18" name="Text 16"/>
          <p:cNvSpPr/>
          <p:nvPr/>
        </p:nvSpPr>
        <p:spPr>
          <a:xfrm>
            <a:off x="621792" y="3136392"/>
            <a:ext cx="658368"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All</a:t>
            </a:r>
            <a:endParaRPr lang="en-US" sz="850" dirty="0"/>
          </a:p>
        </p:txBody>
      </p:sp>
      <p:sp>
        <p:nvSpPr>
          <p:cNvPr id="19" name="Text 17"/>
          <p:cNvSpPr/>
          <p:nvPr/>
        </p:nvSpPr>
        <p:spPr>
          <a:xfrm>
            <a:off x="1371600" y="3145536"/>
            <a:ext cx="3895344" cy="347472"/>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Error handling verified — missing fields, invalid values and offline API all handled without crashing.</a:t>
            </a:r>
            <a:endParaRPr lang="en-US" sz="900" dirty="0"/>
          </a:p>
        </p:txBody>
      </p:sp>
      <p:sp>
        <p:nvSpPr>
          <p:cNvPr id="20" name="Shape 18"/>
          <p:cNvSpPr/>
          <p:nvPr/>
        </p:nvSpPr>
        <p:spPr>
          <a:xfrm>
            <a:off x="621792" y="3602736"/>
            <a:ext cx="4626864" cy="237744"/>
          </a:xfrm>
          <a:prstGeom prst="rect">
            <a:avLst/>
          </a:prstGeom>
          <a:solidFill>
            <a:srgbClr val="1A7A4A"/>
          </a:solidFill>
          <a:ln w="12700">
            <a:solidFill>
              <a:srgbClr val="1A7A4A"/>
            </a:solidFill>
            <a:prstDash val="solid"/>
          </a:ln>
        </p:spPr>
      </p:sp>
      <p:sp>
        <p:nvSpPr>
          <p:cNvPr id="21" name="Text 19"/>
          <p:cNvSpPr/>
          <p:nvPr/>
        </p:nvSpPr>
        <p:spPr>
          <a:xfrm>
            <a:off x="713232" y="3621024"/>
            <a:ext cx="4480560" cy="20116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Sample Test Cases — All Results Consistent with Market Values</a:t>
            </a:r>
            <a:endParaRPr lang="en-US" sz="900" dirty="0"/>
          </a:p>
        </p:txBody>
      </p:sp>
      <p:sp>
        <p:nvSpPr>
          <p:cNvPr id="22" name="Text 20"/>
          <p:cNvSpPr/>
          <p:nvPr/>
        </p:nvSpPr>
        <p:spPr>
          <a:xfrm>
            <a:off x="621792" y="3895344"/>
            <a:ext cx="4626864" cy="219456"/>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1.  Toyota Corolla 2019  —  45,000 km  —  Karachi  —  PKR 4,668,000</a:t>
            </a:r>
            <a:endParaRPr lang="en-US" sz="880" dirty="0"/>
          </a:p>
        </p:txBody>
      </p:sp>
      <p:sp>
        <p:nvSpPr>
          <p:cNvPr id="23" name="Text 21"/>
          <p:cNvSpPr/>
          <p:nvPr/>
        </p:nvSpPr>
        <p:spPr>
          <a:xfrm>
            <a:off x="621792" y="4133088"/>
            <a:ext cx="4626864" cy="219456"/>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2.  Honda Civic 2020  —  30,000 km  —  Lahore  —  Consistent with market rate</a:t>
            </a:r>
            <a:endParaRPr lang="en-US" sz="880" dirty="0"/>
          </a:p>
        </p:txBody>
      </p:sp>
      <p:sp>
        <p:nvSpPr>
          <p:cNvPr id="24" name="Text 22"/>
          <p:cNvSpPr/>
          <p:nvPr/>
        </p:nvSpPr>
        <p:spPr>
          <a:xfrm>
            <a:off x="621792" y="4370832"/>
            <a:ext cx="4626864" cy="219456"/>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3.  Suzuki Alto 2021  —  15,000 km  —  Islamabad  —  Consistent with market rate</a:t>
            </a:r>
            <a:endParaRPr lang="en-US" sz="880" dirty="0"/>
          </a:p>
        </p:txBody>
      </p:sp>
      <p:sp>
        <p:nvSpPr>
          <p:cNvPr id="25" name="Text 23"/>
          <p:cNvSpPr/>
          <p:nvPr/>
        </p:nvSpPr>
        <p:spPr>
          <a:xfrm>
            <a:off x="621792" y="4608576"/>
            <a:ext cx="4626864" cy="219456"/>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4.  Toyota Prado 2018  —  80,000 km  —  Karachi  —  Consistent with market rate</a:t>
            </a:r>
            <a:endParaRPr lang="en-US" sz="880" dirty="0"/>
          </a:p>
        </p:txBody>
      </p:sp>
      <p:sp>
        <p:nvSpPr>
          <p:cNvPr id="26" name="Shape 24"/>
          <p:cNvSpPr/>
          <p:nvPr/>
        </p:nvSpPr>
        <p:spPr>
          <a:xfrm>
            <a:off x="5577840" y="1371600"/>
            <a:ext cx="3090672" cy="1060704"/>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27" name="Shape 25"/>
          <p:cNvSpPr/>
          <p:nvPr/>
        </p:nvSpPr>
        <p:spPr>
          <a:xfrm>
            <a:off x="5577840" y="1371600"/>
            <a:ext cx="50292" cy="1060704"/>
          </a:xfrm>
          <a:prstGeom prst="rect">
            <a:avLst/>
          </a:prstGeom>
          <a:solidFill>
            <a:srgbClr val="B8860B"/>
          </a:solidFill>
          <a:ln w="12700">
            <a:solidFill>
              <a:srgbClr val="B8860B"/>
            </a:solidFill>
            <a:prstDash val="solid"/>
          </a:ln>
        </p:spPr>
      </p:sp>
      <p:sp>
        <p:nvSpPr>
          <p:cNvPr id="28" name="Text 26"/>
          <p:cNvSpPr/>
          <p:nvPr/>
        </p:nvSpPr>
        <p:spPr>
          <a:xfrm>
            <a:off x="5760720" y="1426464"/>
            <a:ext cx="2816352" cy="256032"/>
          </a:xfrm>
          <a:prstGeom prst="rect">
            <a:avLst/>
          </a:prstGeom>
          <a:noFill/>
          <a:ln/>
        </p:spPr>
        <p:txBody>
          <a:bodyPr wrap="square" lIns="0" tIns="0" rIns="0" bIns="0"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1.  Messy Dataset</a:t>
            </a:r>
            <a:endParaRPr lang="en-US" sz="1100" dirty="0"/>
          </a:p>
        </p:txBody>
      </p:sp>
      <p:sp>
        <p:nvSpPr>
          <p:cNvPr id="29" name="Text 27"/>
          <p:cNvSpPr/>
          <p:nvPr/>
        </p:nvSpPr>
        <p:spPr>
          <a:xfrm>
            <a:off x="5760720" y="1700784"/>
            <a:ext cx="2816352" cy="329184"/>
          </a:xfrm>
          <a:prstGeom prst="rect">
            <a:avLst/>
          </a:prstGeom>
          <a:noFill/>
          <a:ln/>
        </p:spPr>
        <p:txBody>
          <a:bodyPr wrap="square" lIns="0" tIns="0" rIns="0" bIns="0" rtlCol="0" anchor="ctr"/>
          <a:lstStyle/>
          <a:p>
            <a:pPr indent="0" marL="0">
              <a:buNone/>
            </a:pPr>
            <a:r>
              <a:rPr lang="en-US" sz="850" dirty="0">
                <a:solidFill>
                  <a:srgbClr val="6B7C8F"/>
                </a:solidFill>
                <a:latin typeface="Calibri" pitchFamily="34" charset="0"/>
                <a:ea typeface="Calibri" pitchFamily="34" charset="-122"/>
                <a:cs typeface="Calibri" pitchFamily="34" charset="-120"/>
              </a:rPr>
              <a:t>Problem: Column names wrong, missing values in critical fields, data types stored incorrectly throughout the raw OLX file.</a:t>
            </a:r>
            <a:endParaRPr lang="en-US" sz="850" dirty="0"/>
          </a:p>
        </p:txBody>
      </p:sp>
      <p:sp>
        <p:nvSpPr>
          <p:cNvPr id="30" name="Text 28"/>
          <p:cNvSpPr/>
          <p:nvPr/>
        </p:nvSpPr>
        <p:spPr>
          <a:xfrm>
            <a:off x="5760720" y="2048256"/>
            <a:ext cx="2816352" cy="329184"/>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Fix: Arham built a systematic Colab cleaning pipeline — column rename, type fix, null removal, all documented and repeatable.</a:t>
            </a:r>
            <a:endParaRPr lang="en-US" sz="850" dirty="0"/>
          </a:p>
        </p:txBody>
      </p:sp>
      <p:sp>
        <p:nvSpPr>
          <p:cNvPr id="31" name="Shape 29"/>
          <p:cNvSpPr/>
          <p:nvPr/>
        </p:nvSpPr>
        <p:spPr>
          <a:xfrm>
            <a:off x="5577840" y="2560320"/>
            <a:ext cx="3090672" cy="1060704"/>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32" name="Shape 30"/>
          <p:cNvSpPr/>
          <p:nvPr/>
        </p:nvSpPr>
        <p:spPr>
          <a:xfrm>
            <a:off x="5577840" y="2560320"/>
            <a:ext cx="50292" cy="1060704"/>
          </a:xfrm>
          <a:prstGeom prst="rect">
            <a:avLst/>
          </a:prstGeom>
          <a:solidFill>
            <a:srgbClr val="0B6E8C"/>
          </a:solidFill>
          <a:ln w="12700">
            <a:solidFill>
              <a:srgbClr val="0B6E8C"/>
            </a:solidFill>
            <a:prstDash val="solid"/>
          </a:ln>
        </p:spPr>
      </p:sp>
      <p:sp>
        <p:nvSpPr>
          <p:cNvPr id="33" name="Text 31"/>
          <p:cNvSpPr/>
          <p:nvPr/>
        </p:nvSpPr>
        <p:spPr>
          <a:xfrm>
            <a:off x="5760720" y="2615184"/>
            <a:ext cx="2816352" cy="256032"/>
          </a:xfrm>
          <a:prstGeom prst="rect">
            <a:avLst/>
          </a:prstGeom>
          <a:noFill/>
          <a:ln/>
        </p:spPr>
        <p:txBody>
          <a:bodyPr wrap="square" lIns="0" tIns="0" rIns="0" bIns="0" rtlCol="0" anchor="ctr"/>
          <a:lstStyle/>
          <a:p>
            <a:pPr indent="0" marL="0">
              <a:buNone/>
            </a:pPr>
            <a:r>
              <a:rPr lang="en-US" sz="1100" b="1" dirty="0">
                <a:solidFill>
                  <a:srgbClr val="0B6E8C"/>
                </a:solidFill>
                <a:latin typeface="Calibri" pitchFamily="34" charset="0"/>
                <a:ea typeface="Calibri" pitchFamily="34" charset="-122"/>
                <a:cs typeface="Calibri" pitchFamily="34" charset="-120"/>
              </a:rPr>
              <a:t>2.  Model Selection</a:t>
            </a:r>
            <a:endParaRPr lang="en-US" sz="1100" dirty="0"/>
          </a:p>
        </p:txBody>
      </p:sp>
      <p:sp>
        <p:nvSpPr>
          <p:cNvPr id="34" name="Text 32"/>
          <p:cNvSpPr/>
          <p:nvPr/>
        </p:nvSpPr>
        <p:spPr>
          <a:xfrm>
            <a:off x="5760720" y="2889504"/>
            <a:ext cx="2816352" cy="329184"/>
          </a:xfrm>
          <a:prstGeom prst="rect">
            <a:avLst/>
          </a:prstGeom>
          <a:noFill/>
          <a:ln/>
        </p:spPr>
        <p:txBody>
          <a:bodyPr wrap="square" lIns="0" tIns="0" rIns="0" bIns="0" rtlCol="0" anchor="ctr"/>
          <a:lstStyle/>
          <a:p>
            <a:pPr indent="0" marL="0">
              <a:buNone/>
            </a:pPr>
            <a:r>
              <a:rPr lang="en-US" sz="850" dirty="0">
                <a:solidFill>
                  <a:srgbClr val="6B7C8F"/>
                </a:solidFill>
                <a:latin typeface="Calibri" pitchFamily="34" charset="0"/>
                <a:ea typeface="Calibri" pitchFamily="34" charset="-122"/>
                <a:cs typeface="Calibri" pitchFamily="34" charset="-120"/>
              </a:rPr>
              <a:t>Problem: Team assumed Random Forest would be the final model going into Sprint 3 — it was not the best.</a:t>
            </a:r>
            <a:endParaRPr lang="en-US" sz="850" dirty="0"/>
          </a:p>
        </p:txBody>
      </p:sp>
      <p:sp>
        <p:nvSpPr>
          <p:cNvPr id="35" name="Text 33"/>
          <p:cNvSpPr/>
          <p:nvPr/>
        </p:nvSpPr>
        <p:spPr>
          <a:xfrm>
            <a:off x="5760720" y="3236976"/>
            <a:ext cx="2816352" cy="329184"/>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Fix: Gradient Boosting best on all three metrics. Agile structure made switching a simple sprint decision, not a crisis.</a:t>
            </a:r>
            <a:endParaRPr lang="en-US" sz="850" dirty="0"/>
          </a:p>
        </p:txBody>
      </p:sp>
      <p:sp>
        <p:nvSpPr>
          <p:cNvPr id="36" name="Shape 34"/>
          <p:cNvSpPr/>
          <p:nvPr/>
        </p:nvSpPr>
        <p:spPr>
          <a:xfrm>
            <a:off x="5577840" y="3749040"/>
            <a:ext cx="3090672" cy="1060704"/>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37" name="Shape 35"/>
          <p:cNvSpPr/>
          <p:nvPr/>
        </p:nvSpPr>
        <p:spPr>
          <a:xfrm>
            <a:off x="5577840" y="3749040"/>
            <a:ext cx="50292" cy="1060704"/>
          </a:xfrm>
          <a:prstGeom prst="rect">
            <a:avLst/>
          </a:prstGeom>
          <a:solidFill>
            <a:srgbClr val="B5281C"/>
          </a:solidFill>
          <a:ln w="12700">
            <a:solidFill>
              <a:srgbClr val="B5281C"/>
            </a:solidFill>
            <a:prstDash val="solid"/>
          </a:ln>
        </p:spPr>
      </p:sp>
      <p:sp>
        <p:nvSpPr>
          <p:cNvPr id="38" name="Text 36"/>
          <p:cNvSpPr/>
          <p:nvPr/>
        </p:nvSpPr>
        <p:spPr>
          <a:xfrm>
            <a:off x="5760720" y="3803904"/>
            <a:ext cx="2816352" cy="256032"/>
          </a:xfrm>
          <a:prstGeom prst="rect">
            <a:avLst/>
          </a:prstGeom>
          <a:noFill/>
          <a:ln/>
        </p:spPr>
        <p:txBody>
          <a:bodyPr wrap="square" lIns="0" tIns="0" rIns="0" bIns="0" rtlCol="0" anchor="ctr"/>
          <a:lstStyle/>
          <a:p>
            <a:pPr indent="0" marL="0">
              <a:buNone/>
            </a:pPr>
            <a:r>
              <a:rPr lang="en-US" sz="1100" b="1" dirty="0">
                <a:solidFill>
                  <a:srgbClr val="B5281C"/>
                </a:solidFill>
                <a:latin typeface="Calibri" pitchFamily="34" charset="0"/>
                <a:ea typeface="Calibri" pitchFamily="34" charset="-122"/>
                <a:cs typeface="Calibri" pitchFamily="34" charset="-120"/>
              </a:rPr>
              <a:t>3.  CORS Error</a:t>
            </a:r>
            <a:endParaRPr lang="en-US" sz="1100" dirty="0"/>
          </a:p>
        </p:txBody>
      </p:sp>
      <p:sp>
        <p:nvSpPr>
          <p:cNvPr id="39" name="Text 37"/>
          <p:cNvSpPr/>
          <p:nvPr/>
        </p:nvSpPr>
        <p:spPr>
          <a:xfrm>
            <a:off x="5760720" y="4078224"/>
            <a:ext cx="2816352" cy="329184"/>
          </a:xfrm>
          <a:prstGeom prst="rect">
            <a:avLst/>
          </a:prstGeom>
          <a:noFill/>
          <a:ln/>
        </p:spPr>
        <p:txBody>
          <a:bodyPr wrap="square" lIns="0" tIns="0" rIns="0" bIns="0" rtlCol="0" anchor="ctr"/>
          <a:lstStyle/>
          <a:p>
            <a:pPr indent="0" marL="0">
              <a:buNone/>
            </a:pPr>
            <a:r>
              <a:rPr lang="en-US" sz="850" dirty="0">
                <a:solidFill>
                  <a:srgbClr val="6B7C8F"/>
                </a:solidFill>
                <a:latin typeface="Calibri" pitchFamily="34" charset="0"/>
                <a:ea typeface="Calibri" pitchFamily="34" charset="-122"/>
                <a:cs typeface="Calibri" pitchFamily="34" charset="-120"/>
              </a:rPr>
              <a:t>Problem: Browser blocked Flask API request when Jabber first connected the frontend to backend in Sprint 6.</a:t>
            </a:r>
            <a:endParaRPr lang="en-US" sz="850" dirty="0"/>
          </a:p>
        </p:txBody>
      </p:sp>
      <p:sp>
        <p:nvSpPr>
          <p:cNvPr id="40" name="Text 38"/>
          <p:cNvSpPr/>
          <p:nvPr/>
        </p:nvSpPr>
        <p:spPr>
          <a:xfrm>
            <a:off x="5760720" y="4425696"/>
            <a:ext cx="2816352" cy="329184"/>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Fix: Added Flask-CORS to the backend. Key lesson: test frontend-backend integration from Sprint 5, not Sprint 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8229600" cy="219456"/>
          </a:xfrm>
          <a:prstGeom prst="rect">
            <a:avLst/>
          </a:prstGeom>
          <a:noFill/>
          <a:ln/>
        </p:spPr>
        <p:txBody>
          <a:bodyPr wrap="square" lIns="0" tIns="0" rIns="0" bIns="0" rtlCol="0" anchor="ctr"/>
          <a:lstStyle/>
          <a:p>
            <a:pPr indent="0" marL="0">
              <a:buNone/>
            </a:pPr>
            <a:r>
              <a:rPr lang="en-US" sz="850" b="1" spc="250" kern="0" dirty="0">
                <a:solidFill>
                  <a:srgbClr val="5B2D8E"/>
                </a:solidFill>
                <a:latin typeface="Calibri" pitchFamily="34" charset="0"/>
                <a:ea typeface="Calibri" pitchFamily="34" charset="-122"/>
                <a:cs typeface="Calibri" pitchFamily="34" charset="-120"/>
              </a:rPr>
              <a:t>CHAPTER 6 — PROJECT MANAGEMENT</a:t>
            </a:r>
            <a:endParaRPr lang="en-US" sz="85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000" b="1" dirty="0">
                <a:solidFill>
                  <a:srgbClr val="1B3A6B"/>
                </a:solidFill>
                <a:latin typeface="Cambria" pitchFamily="34" charset="0"/>
                <a:ea typeface="Cambria" pitchFamily="34" charset="-122"/>
                <a:cs typeface="Cambria" pitchFamily="34" charset="-120"/>
              </a:rPr>
              <a:t>Jira Sprint Report — 8 Sprints, 54 Tasks, 100% Complete</a:t>
            </a:r>
            <a:endParaRPr lang="en-US" sz="3000" dirty="0"/>
          </a:p>
        </p:txBody>
      </p:sp>
      <p:sp>
        <p:nvSpPr>
          <p:cNvPr id="4" name="Shape 2"/>
          <p:cNvSpPr/>
          <p:nvPr/>
        </p:nvSpPr>
        <p:spPr>
          <a:xfrm>
            <a:off x="457200" y="1225296"/>
            <a:ext cx="8229600" cy="20117"/>
          </a:xfrm>
          <a:prstGeom prst="rect">
            <a:avLst/>
          </a:prstGeom>
          <a:solidFill>
            <a:srgbClr val="E8EDF4"/>
          </a:solidFill>
          <a:ln w="12700">
            <a:solidFill>
              <a:srgbClr val="E8EDF4"/>
            </a:solidFill>
            <a:prstDash val="solid"/>
          </a:ln>
        </p:spPr>
      </p:sp>
      <p:sp>
        <p:nvSpPr>
          <p:cNvPr id="5" name="Shape 3"/>
          <p:cNvSpPr/>
          <p:nvPr/>
        </p:nvSpPr>
        <p:spPr>
          <a:xfrm>
            <a:off x="457200" y="1371600"/>
            <a:ext cx="6492240" cy="310896"/>
          </a:xfrm>
          <a:prstGeom prst="rect">
            <a:avLst/>
          </a:prstGeom>
          <a:solidFill>
            <a:srgbClr val="1B3A6B"/>
          </a:solidFill>
          <a:ln w="12700">
            <a:solidFill>
              <a:srgbClr val="1B3A6B"/>
            </a:solidFill>
            <a:prstDash val="solid"/>
          </a:ln>
        </p:spPr>
      </p:sp>
      <p:sp>
        <p:nvSpPr>
          <p:cNvPr id="6" name="Text 4"/>
          <p:cNvSpPr/>
          <p:nvPr/>
        </p:nvSpPr>
        <p:spPr>
          <a:xfrm>
            <a:off x="566928" y="1408176"/>
            <a:ext cx="749808" cy="23774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Sprint</a:t>
            </a:r>
            <a:endParaRPr lang="en-US" sz="900" dirty="0"/>
          </a:p>
        </p:txBody>
      </p:sp>
      <p:sp>
        <p:nvSpPr>
          <p:cNvPr id="7" name="Text 5"/>
          <p:cNvSpPr/>
          <p:nvPr/>
        </p:nvSpPr>
        <p:spPr>
          <a:xfrm>
            <a:off x="1371600" y="1408176"/>
            <a:ext cx="1243584" cy="23774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Period</a:t>
            </a:r>
            <a:endParaRPr lang="en-US" sz="900" dirty="0"/>
          </a:p>
        </p:txBody>
      </p:sp>
      <p:sp>
        <p:nvSpPr>
          <p:cNvPr id="8" name="Text 6"/>
          <p:cNvSpPr/>
          <p:nvPr/>
        </p:nvSpPr>
        <p:spPr>
          <a:xfrm>
            <a:off x="2670048" y="1408176"/>
            <a:ext cx="3886200" cy="23774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Goal</a:t>
            </a:r>
            <a:endParaRPr lang="en-US" sz="900" dirty="0"/>
          </a:p>
        </p:txBody>
      </p:sp>
      <p:sp>
        <p:nvSpPr>
          <p:cNvPr id="9" name="Text 7"/>
          <p:cNvSpPr/>
          <p:nvPr/>
        </p:nvSpPr>
        <p:spPr>
          <a:xfrm>
            <a:off x="6620256" y="1408176"/>
            <a:ext cx="457200" cy="237744"/>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Pts</a:t>
            </a:r>
            <a:endParaRPr lang="en-US" sz="900" dirty="0"/>
          </a:p>
        </p:txBody>
      </p:sp>
      <p:sp>
        <p:nvSpPr>
          <p:cNvPr id="10" name="Shape 8"/>
          <p:cNvSpPr/>
          <p:nvPr/>
        </p:nvSpPr>
        <p:spPr>
          <a:xfrm>
            <a:off x="457200" y="1700784"/>
            <a:ext cx="6492240" cy="329184"/>
          </a:xfrm>
          <a:prstGeom prst="rect">
            <a:avLst/>
          </a:prstGeom>
          <a:solidFill>
            <a:srgbClr val="FFFFFF"/>
          </a:solidFill>
          <a:ln w="12700">
            <a:solidFill>
              <a:srgbClr val="FFFFFF"/>
            </a:solidFill>
            <a:prstDash val="solid"/>
          </a:ln>
        </p:spPr>
      </p:sp>
      <p:sp>
        <p:nvSpPr>
          <p:cNvPr id="11" name="Text 9"/>
          <p:cNvSpPr/>
          <p:nvPr/>
        </p:nvSpPr>
        <p:spPr>
          <a:xfrm>
            <a:off x="566928" y="1755648"/>
            <a:ext cx="749808" cy="237744"/>
          </a:xfrm>
          <a:prstGeom prst="rect">
            <a:avLst/>
          </a:prstGeom>
          <a:noFill/>
          <a:ln/>
        </p:spPr>
        <p:txBody>
          <a:bodyPr wrap="square" lIns="0" tIns="0" rIns="0" bIns="0" rtlCol="0" anchor="ctr"/>
          <a:lstStyle/>
          <a:p>
            <a:pPr indent="0" marL="0">
              <a:buNone/>
            </a:pPr>
            <a:r>
              <a:rPr lang="en-US" sz="880" dirty="0">
                <a:solidFill>
                  <a:srgbClr val="5B2D8E"/>
                </a:solidFill>
                <a:latin typeface="Calibri" pitchFamily="34" charset="0"/>
                <a:ea typeface="Calibri" pitchFamily="34" charset="-122"/>
                <a:cs typeface="Calibri" pitchFamily="34" charset="-120"/>
              </a:rPr>
              <a:t>Sprint 1</a:t>
            </a:r>
            <a:endParaRPr lang="en-US" sz="880" dirty="0"/>
          </a:p>
        </p:txBody>
      </p:sp>
      <p:sp>
        <p:nvSpPr>
          <p:cNvPr id="12" name="Text 10"/>
          <p:cNvSpPr/>
          <p:nvPr/>
        </p:nvSpPr>
        <p:spPr>
          <a:xfrm>
            <a:off x="1371600" y="1755648"/>
            <a:ext cx="1243584" cy="237744"/>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6 Sep–20 Oct 2025</a:t>
            </a:r>
            <a:endParaRPr lang="en-US" sz="880" dirty="0"/>
          </a:p>
        </p:txBody>
      </p:sp>
      <p:sp>
        <p:nvSpPr>
          <p:cNvPr id="13" name="Text 11"/>
          <p:cNvSpPr/>
          <p:nvPr/>
        </p:nvSpPr>
        <p:spPr>
          <a:xfrm>
            <a:off x="2670048" y="1755648"/>
            <a:ext cx="3886200" cy="237744"/>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Setup, SDLC quiz, topic selection, tool configuration</a:t>
            </a:r>
            <a:endParaRPr lang="en-US" sz="880" dirty="0"/>
          </a:p>
        </p:txBody>
      </p:sp>
      <p:sp>
        <p:nvSpPr>
          <p:cNvPr id="14" name="Text 12"/>
          <p:cNvSpPr/>
          <p:nvPr/>
        </p:nvSpPr>
        <p:spPr>
          <a:xfrm>
            <a:off x="6620256" y="1755648"/>
            <a:ext cx="457200" cy="237744"/>
          </a:xfrm>
          <a:prstGeom prst="rect">
            <a:avLst/>
          </a:prstGeom>
          <a:noFill/>
          <a:ln/>
        </p:spPr>
        <p:txBody>
          <a:bodyPr wrap="square" lIns="0" tIns="0" rIns="0" bIns="0" rtlCol="0" anchor="ctr"/>
          <a:lstStyle/>
          <a:p>
            <a:pPr indent="0" marL="0">
              <a:buNone/>
            </a:pPr>
            <a:r>
              <a:rPr lang="en-US" sz="880" b="1" dirty="0">
                <a:solidFill>
                  <a:srgbClr val="1B3A6B"/>
                </a:solidFill>
                <a:latin typeface="Calibri" pitchFamily="34" charset="0"/>
                <a:ea typeface="Calibri" pitchFamily="34" charset="-122"/>
                <a:cs typeface="Calibri" pitchFamily="34" charset="-120"/>
              </a:rPr>
              <a:t>11</a:t>
            </a:r>
            <a:endParaRPr lang="en-US" sz="880" dirty="0"/>
          </a:p>
        </p:txBody>
      </p:sp>
      <p:sp>
        <p:nvSpPr>
          <p:cNvPr id="15" name="Shape 13"/>
          <p:cNvSpPr/>
          <p:nvPr/>
        </p:nvSpPr>
        <p:spPr>
          <a:xfrm>
            <a:off x="457200" y="2048256"/>
            <a:ext cx="6492240" cy="329184"/>
          </a:xfrm>
          <a:prstGeom prst="rect">
            <a:avLst/>
          </a:prstGeom>
          <a:solidFill>
            <a:srgbClr val="F4F6F9"/>
          </a:solidFill>
          <a:ln w="12700">
            <a:solidFill>
              <a:srgbClr val="F4F6F9"/>
            </a:solidFill>
            <a:prstDash val="solid"/>
          </a:ln>
        </p:spPr>
      </p:sp>
      <p:sp>
        <p:nvSpPr>
          <p:cNvPr id="16" name="Text 14"/>
          <p:cNvSpPr/>
          <p:nvPr/>
        </p:nvSpPr>
        <p:spPr>
          <a:xfrm>
            <a:off x="566928" y="2103120"/>
            <a:ext cx="749808" cy="237744"/>
          </a:xfrm>
          <a:prstGeom prst="rect">
            <a:avLst/>
          </a:prstGeom>
          <a:noFill/>
          <a:ln/>
        </p:spPr>
        <p:txBody>
          <a:bodyPr wrap="square" lIns="0" tIns="0" rIns="0" bIns="0" rtlCol="0" anchor="ctr"/>
          <a:lstStyle/>
          <a:p>
            <a:pPr indent="0" marL="0">
              <a:buNone/>
            </a:pPr>
            <a:r>
              <a:rPr lang="en-US" sz="880" dirty="0">
                <a:solidFill>
                  <a:srgbClr val="5B2D8E"/>
                </a:solidFill>
                <a:latin typeface="Calibri" pitchFamily="34" charset="0"/>
                <a:ea typeface="Calibri" pitchFamily="34" charset="-122"/>
                <a:cs typeface="Calibri" pitchFamily="34" charset="-120"/>
              </a:rPr>
              <a:t>Sprint 2</a:t>
            </a:r>
            <a:endParaRPr lang="en-US" sz="880" dirty="0"/>
          </a:p>
        </p:txBody>
      </p:sp>
      <p:sp>
        <p:nvSpPr>
          <p:cNvPr id="17" name="Text 15"/>
          <p:cNvSpPr/>
          <p:nvPr/>
        </p:nvSpPr>
        <p:spPr>
          <a:xfrm>
            <a:off x="1371600" y="2103120"/>
            <a:ext cx="1243584" cy="237744"/>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20 Oct–6 Nov 2025</a:t>
            </a:r>
            <a:endParaRPr lang="en-US" sz="880" dirty="0"/>
          </a:p>
        </p:txBody>
      </p:sp>
      <p:sp>
        <p:nvSpPr>
          <p:cNvPr id="18" name="Text 16"/>
          <p:cNvSpPr/>
          <p:nvPr/>
        </p:nvSpPr>
        <p:spPr>
          <a:xfrm>
            <a:off x="2670048" y="2103120"/>
            <a:ext cx="3886200" cy="237744"/>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OLX dataset, cleaning pipeline, EDA, feature engineering</a:t>
            </a:r>
            <a:endParaRPr lang="en-US" sz="880" dirty="0"/>
          </a:p>
        </p:txBody>
      </p:sp>
      <p:sp>
        <p:nvSpPr>
          <p:cNvPr id="19" name="Text 17"/>
          <p:cNvSpPr/>
          <p:nvPr/>
        </p:nvSpPr>
        <p:spPr>
          <a:xfrm>
            <a:off x="6620256" y="2103120"/>
            <a:ext cx="457200" cy="237744"/>
          </a:xfrm>
          <a:prstGeom prst="rect">
            <a:avLst/>
          </a:prstGeom>
          <a:noFill/>
          <a:ln/>
        </p:spPr>
        <p:txBody>
          <a:bodyPr wrap="square" lIns="0" tIns="0" rIns="0" bIns="0" rtlCol="0" anchor="ctr"/>
          <a:lstStyle/>
          <a:p>
            <a:pPr indent="0" marL="0">
              <a:buNone/>
            </a:pPr>
            <a:r>
              <a:rPr lang="en-US" sz="880" b="1" dirty="0">
                <a:solidFill>
                  <a:srgbClr val="1B3A6B"/>
                </a:solidFill>
                <a:latin typeface="Calibri" pitchFamily="34" charset="0"/>
                <a:ea typeface="Calibri" pitchFamily="34" charset="-122"/>
                <a:cs typeface="Calibri" pitchFamily="34" charset="-120"/>
              </a:rPr>
              <a:t>25</a:t>
            </a:r>
            <a:endParaRPr lang="en-US" sz="880" dirty="0"/>
          </a:p>
        </p:txBody>
      </p:sp>
      <p:sp>
        <p:nvSpPr>
          <p:cNvPr id="20" name="Shape 18"/>
          <p:cNvSpPr/>
          <p:nvPr/>
        </p:nvSpPr>
        <p:spPr>
          <a:xfrm>
            <a:off x="457200" y="2395728"/>
            <a:ext cx="6492240" cy="329184"/>
          </a:xfrm>
          <a:prstGeom prst="rect">
            <a:avLst/>
          </a:prstGeom>
          <a:solidFill>
            <a:srgbClr val="FFFFFF"/>
          </a:solidFill>
          <a:ln w="12700">
            <a:solidFill>
              <a:srgbClr val="FFFFFF"/>
            </a:solidFill>
            <a:prstDash val="solid"/>
          </a:ln>
        </p:spPr>
      </p:sp>
      <p:sp>
        <p:nvSpPr>
          <p:cNvPr id="21" name="Text 19"/>
          <p:cNvSpPr/>
          <p:nvPr/>
        </p:nvSpPr>
        <p:spPr>
          <a:xfrm>
            <a:off x="566928" y="2450592"/>
            <a:ext cx="749808" cy="237744"/>
          </a:xfrm>
          <a:prstGeom prst="rect">
            <a:avLst/>
          </a:prstGeom>
          <a:noFill/>
          <a:ln/>
        </p:spPr>
        <p:txBody>
          <a:bodyPr wrap="square" lIns="0" tIns="0" rIns="0" bIns="0" rtlCol="0" anchor="ctr"/>
          <a:lstStyle/>
          <a:p>
            <a:pPr indent="0" marL="0">
              <a:buNone/>
            </a:pPr>
            <a:r>
              <a:rPr lang="en-US" sz="880" dirty="0">
                <a:solidFill>
                  <a:srgbClr val="5B2D8E"/>
                </a:solidFill>
                <a:latin typeface="Calibri" pitchFamily="34" charset="0"/>
                <a:ea typeface="Calibri" pitchFamily="34" charset="-122"/>
                <a:cs typeface="Calibri" pitchFamily="34" charset="-120"/>
              </a:rPr>
              <a:t>Sprint 3</a:t>
            </a:r>
            <a:endParaRPr lang="en-US" sz="880" dirty="0"/>
          </a:p>
        </p:txBody>
      </p:sp>
      <p:sp>
        <p:nvSpPr>
          <p:cNvPr id="22" name="Text 20"/>
          <p:cNvSpPr/>
          <p:nvPr/>
        </p:nvSpPr>
        <p:spPr>
          <a:xfrm>
            <a:off x="1371600" y="2450592"/>
            <a:ext cx="1243584" cy="237744"/>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8 Nov–24 Nov 2025</a:t>
            </a:r>
            <a:endParaRPr lang="en-US" sz="880" dirty="0"/>
          </a:p>
        </p:txBody>
      </p:sp>
      <p:sp>
        <p:nvSpPr>
          <p:cNvPr id="23" name="Text 21"/>
          <p:cNvSpPr/>
          <p:nvPr/>
        </p:nvSpPr>
        <p:spPr>
          <a:xfrm>
            <a:off x="2670048" y="2450592"/>
            <a:ext cx="3886200" cy="237744"/>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Train Linear Regression, Random Forest, Gradient Boosting</a:t>
            </a:r>
            <a:endParaRPr lang="en-US" sz="880" dirty="0"/>
          </a:p>
        </p:txBody>
      </p:sp>
      <p:sp>
        <p:nvSpPr>
          <p:cNvPr id="24" name="Text 22"/>
          <p:cNvSpPr/>
          <p:nvPr/>
        </p:nvSpPr>
        <p:spPr>
          <a:xfrm>
            <a:off x="6620256" y="2450592"/>
            <a:ext cx="457200" cy="237744"/>
          </a:xfrm>
          <a:prstGeom prst="rect">
            <a:avLst/>
          </a:prstGeom>
          <a:noFill/>
          <a:ln/>
        </p:spPr>
        <p:txBody>
          <a:bodyPr wrap="square" lIns="0" tIns="0" rIns="0" bIns="0" rtlCol="0" anchor="ctr"/>
          <a:lstStyle/>
          <a:p>
            <a:pPr indent="0" marL="0">
              <a:buNone/>
            </a:pPr>
            <a:r>
              <a:rPr lang="en-US" sz="880" b="1" dirty="0">
                <a:solidFill>
                  <a:srgbClr val="1B3A6B"/>
                </a:solidFill>
                <a:latin typeface="Calibri" pitchFamily="34" charset="0"/>
                <a:ea typeface="Calibri" pitchFamily="34" charset="-122"/>
                <a:cs typeface="Calibri" pitchFamily="34" charset="-120"/>
              </a:rPr>
              <a:t>28</a:t>
            </a:r>
            <a:endParaRPr lang="en-US" sz="880" dirty="0"/>
          </a:p>
        </p:txBody>
      </p:sp>
      <p:sp>
        <p:nvSpPr>
          <p:cNvPr id="25" name="Shape 23"/>
          <p:cNvSpPr/>
          <p:nvPr/>
        </p:nvSpPr>
        <p:spPr>
          <a:xfrm>
            <a:off x="457200" y="2743200"/>
            <a:ext cx="6492240" cy="329184"/>
          </a:xfrm>
          <a:prstGeom prst="rect">
            <a:avLst/>
          </a:prstGeom>
          <a:solidFill>
            <a:srgbClr val="F4F6F9"/>
          </a:solidFill>
          <a:ln w="12700">
            <a:solidFill>
              <a:srgbClr val="F4F6F9"/>
            </a:solidFill>
            <a:prstDash val="solid"/>
          </a:ln>
        </p:spPr>
      </p:sp>
      <p:sp>
        <p:nvSpPr>
          <p:cNvPr id="26" name="Text 24"/>
          <p:cNvSpPr/>
          <p:nvPr/>
        </p:nvSpPr>
        <p:spPr>
          <a:xfrm>
            <a:off x="566928" y="2798064"/>
            <a:ext cx="749808" cy="237744"/>
          </a:xfrm>
          <a:prstGeom prst="rect">
            <a:avLst/>
          </a:prstGeom>
          <a:noFill/>
          <a:ln/>
        </p:spPr>
        <p:txBody>
          <a:bodyPr wrap="square" lIns="0" tIns="0" rIns="0" bIns="0" rtlCol="0" anchor="ctr"/>
          <a:lstStyle/>
          <a:p>
            <a:pPr indent="0" marL="0">
              <a:buNone/>
            </a:pPr>
            <a:r>
              <a:rPr lang="en-US" sz="880" dirty="0">
                <a:solidFill>
                  <a:srgbClr val="5B2D8E"/>
                </a:solidFill>
                <a:latin typeface="Calibri" pitchFamily="34" charset="0"/>
                <a:ea typeface="Calibri" pitchFamily="34" charset="-122"/>
                <a:cs typeface="Calibri" pitchFamily="34" charset="-120"/>
              </a:rPr>
              <a:t>Sprint 4</a:t>
            </a:r>
            <a:endParaRPr lang="en-US" sz="880" dirty="0"/>
          </a:p>
        </p:txBody>
      </p:sp>
      <p:sp>
        <p:nvSpPr>
          <p:cNvPr id="27" name="Text 25"/>
          <p:cNvSpPr/>
          <p:nvPr/>
        </p:nvSpPr>
        <p:spPr>
          <a:xfrm>
            <a:off x="1371600" y="2798064"/>
            <a:ext cx="1243584" cy="237744"/>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25 Nov–5 Dec 2025</a:t>
            </a:r>
            <a:endParaRPr lang="en-US" sz="880" dirty="0"/>
          </a:p>
        </p:txBody>
      </p:sp>
      <p:sp>
        <p:nvSpPr>
          <p:cNvPr id="28" name="Text 26"/>
          <p:cNvSpPr/>
          <p:nvPr/>
        </p:nvSpPr>
        <p:spPr>
          <a:xfrm>
            <a:off x="2670048" y="2798064"/>
            <a:ext cx="3886200" cy="237744"/>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Build Flask API, integrate model artifacts, local testing</a:t>
            </a:r>
            <a:endParaRPr lang="en-US" sz="880" dirty="0"/>
          </a:p>
        </p:txBody>
      </p:sp>
      <p:sp>
        <p:nvSpPr>
          <p:cNvPr id="29" name="Text 27"/>
          <p:cNvSpPr/>
          <p:nvPr/>
        </p:nvSpPr>
        <p:spPr>
          <a:xfrm>
            <a:off x="6620256" y="2798064"/>
            <a:ext cx="457200" cy="237744"/>
          </a:xfrm>
          <a:prstGeom prst="rect">
            <a:avLst/>
          </a:prstGeom>
          <a:noFill/>
          <a:ln/>
        </p:spPr>
        <p:txBody>
          <a:bodyPr wrap="square" lIns="0" tIns="0" rIns="0" bIns="0" rtlCol="0" anchor="ctr"/>
          <a:lstStyle/>
          <a:p>
            <a:pPr indent="0" marL="0">
              <a:buNone/>
            </a:pPr>
            <a:r>
              <a:rPr lang="en-US" sz="880" b="1" dirty="0">
                <a:solidFill>
                  <a:srgbClr val="1B3A6B"/>
                </a:solidFill>
                <a:latin typeface="Calibri" pitchFamily="34" charset="0"/>
                <a:ea typeface="Calibri" pitchFamily="34" charset="-122"/>
                <a:cs typeface="Calibri" pitchFamily="34" charset="-120"/>
              </a:rPr>
              <a:t>16</a:t>
            </a:r>
            <a:endParaRPr lang="en-US" sz="880" dirty="0"/>
          </a:p>
        </p:txBody>
      </p:sp>
      <p:sp>
        <p:nvSpPr>
          <p:cNvPr id="30" name="Shape 28"/>
          <p:cNvSpPr/>
          <p:nvPr/>
        </p:nvSpPr>
        <p:spPr>
          <a:xfrm>
            <a:off x="457200" y="3090672"/>
            <a:ext cx="6492240" cy="329184"/>
          </a:xfrm>
          <a:prstGeom prst="rect">
            <a:avLst/>
          </a:prstGeom>
          <a:solidFill>
            <a:srgbClr val="FFFFFF"/>
          </a:solidFill>
          <a:ln w="12700">
            <a:solidFill>
              <a:srgbClr val="FFFFFF"/>
            </a:solidFill>
            <a:prstDash val="solid"/>
          </a:ln>
        </p:spPr>
      </p:sp>
      <p:sp>
        <p:nvSpPr>
          <p:cNvPr id="31" name="Text 29"/>
          <p:cNvSpPr/>
          <p:nvPr/>
        </p:nvSpPr>
        <p:spPr>
          <a:xfrm>
            <a:off x="566928" y="3145536"/>
            <a:ext cx="749808" cy="237744"/>
          </a:xfrm>
          <a:prstGeom prst="rect">
            <a:avLst/>
          </a:prstGeom>
          <a:noFill/>
          <a:ln/>
        </p:spPr>
        <p:txBody>
          <a:bodyPr wrap="square" lIns="0" tIns="0" rIns="0" bIns="0" rtlCol="0" anchor="ctr"/>
          <a:lstStyle/>
          <a:p>
            <a:pPr indent="0" marL="0">
              <a:buNone/>
            </a:pPr>
            <a:r>
              <a:rPr lang="en-US" sz="880" dirty="0">
                <a:solidFill>
                  <a:srgbClr val="5B2D8E"/>
                </a:solidFill>
                <a:latin typeface="Calibri" pitchFamily="34" charset="0"/>
                <a:ea typeface="Calibri" pitchFamily="34" charset="-122"/>
                <a:cs typeface="Calibri" pitchFamily="34" charset="-120"/>
              </a:rPr>
              <a:t>Sprint 5</a:t>
            </a:r>
            <a:endParaRPr lang="en-US" sz="880" dirty="0"/>
          </a:p>
        </p:txBody>
      </p:sp>
      <p:sp>
        <p:nvSpPr>
          <p:cNvPr id="32" name="Text 30"/>
          <p:cNvSpPr/>
          <p:nvPr/>
        </p:nvSpPr>
        <p:spPr>
          <a:xfrm>
            <a:off x="1371600" y="3145536"/>
            <a:ext cx="1243584" cy="237744"/>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5 Dec–25 Dec 2025</a:t>
            </a:r>
            <a:endParaRPr lang="en-US" sz="880" dirty="0"/>
          </a:p>
        </p:txBody>
      </p:sp>
      <p:sp>
        <p:nvSpPr>
          <p:cNvPr id="33" name="Text 31"/>
          <p:cNvSpPr/>
          <p:nvPr/>
        </p:nvSpPr>
        <p:spPr>
          <a:xfrm>
            <a:off x="2670048" y="3145536"/>
            <a:ext cx="3886200" cy="237744"/>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Build complete HTML, CSS and JavaScript frontend website</a:t>
            </a:r>
            <a:endParaRPr lang="en-US" sz="880" dirty="0"/>
          </a:p>
        </p:txBody>
      </p:sp>
      <p:sp>
        <p:nvSpPr>
          <p:cNvPr id="34" name="Text 32"/>
          <p:cNvSpPr/>
          <p:nvPr/>
        </p:nvSpPr>
        <p:spPr>
          <a:xfrm>
            <a:off x="6620256" y="3145536"/>
            <a:ext cx="457200" cy="237744"/>
          </a:xfrm>
          <a:prstGeom prst="rect">
            <a:avLst/>
          </a:prstGeom>
          <a:noFill/>
          <a:ln/>
        </p:spPr>
        <p:txBody>
          <a:bodyPr wrap="square" lIns="0" tIns="0" rIns="0" bIns="0" rtlCol="0" anchor="ctr"/>
          <a:lstStyle/>
          <a:p>
            <a:pPr indent="0" marL="0">
              <a:buNone/>
            </a:pPr>
            <a:r>
              <a:rPr lang="en-US" sz="880" b="1" dirty="0">
                <a:solidFill>
                  <a:srgbClr val="1B3A6B"/>
                </a:solidFill>
                <a:latin typeface="Calibri" pitchFamily="34" charset="0"/>
                <a:ea typeface="Calibri" pitchFamily="34" charset="-122"/>
                <a:cs typeface="Calibri" pitchFamily="34" charset="-120"/>
              </a:rPr>
              <a:t>24</a:t>
            </a:r>
            <a:endParaRPr lang="en-US" sz="880" dirty="0"/>
          </a:p>
        </p:txBody>
      </p:sp>
      <p:sp>
        <p:nvSpPr>
          <p:cNvPr id="35" name="Shape 33"/>
          <p:cNvSpPr/>
          <p:nvPr/>
        </p:nvSpPr>
        <p:spPr>
          <a:xfrm>
            <a:off x="457200" y="3438144"/>
            <a:ext cx="6492240" cy="329184"/>
          </a:xfrm>
          <a:prstGeom prst="rect">
            <a:avLst/>
          </a:prstGeom>
          <a:solidFill>
            <a:srgbClr val="F4F6F9"/>
          </a:solidFill>
          <a:ln w="12700">
            <a:solidFill>
              <a:srgbClr val="F4F6F9"/>
            </a:solidFill>
            <a:prstDash val="solid"/>
          </a:ln>
        </p:spPr>
      </p:sp>
      <p:sp>
        <p:nvSpPr>
          <p:cNvPr id="36" name="Text 34"/>
          <p:cNvSpPr/>
          <p:nvPr/>
        </p:nvSpPr>
        <p:spPr>
          <a:xfrm>
            <a:off x="566928" y="3493008"/>
            <a:ext cx="749808" cy="237744"/>
          </a:xfrm>
          <a:prstGeom prst="rect">
            <a:avLst/>
          </a:prstGeom>
          <a:noFill/>
          <a:ln/>
        </p:spPr>
        <p:txBody>
          <a:bodyPr wrap="square" lIns="0" tIns="0" rIns="0" bIns="0" rtlCol="0" anchor="ctr"/>
          <a:lstStyle/>
          <a:p>
            <a:pPr indent="0" marL="0">
              <a:buNone/>
            </a:pPr>
            <a:r>
              <a:rPr lang="en-US" sz="880" dirty="0">
                <a:solidFill>
                  <a:srgbClr val="5B2D8E"/>
                </a:solidFill>
                <a:latin typeface="Calibri" pitchFamily="34" charset="0"/>
                <a:ea typeface="Calibri" pitchFamily="34" charset="-122"/>
                <a:cs typeface="Calibri" pitchFamily="34" charset="-120"/>
              </a:rPr>
              <a:t>Sprint 6</a:t>
            </a:r>
            <a:endParaRPr lang="en-US" sz="880" dirty="0"/>
          </a:p>
        </p:txBody>
      </p:sp>
      <p:sp>
        <p:nvSpPr>
          <p:cNvPr id="37" name="Text 35"/>
          <p:cNvSpPr/>
          <p:nvPr/>
        </p:nvSpPr>
        <p:spPr>
          <a:xfrm>
            <a:off x="1371600" y="3493008"/>
            <a:ext cx="1243584" cy="237744"/>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26 Dec–20 Jan 2026</a:t>
            </a:r>
            <a:endParaRPr lang="en-US" sz="880" dirty="0"/>
          </a:p>
        </p:txBody>
      </p:sp>
      <p:sp>
        <p:nvSpPr>
          <p:cNvPr id="38" name="Text 36"/>
          <p:cNvSpPr/>
          <p:nvPr/>
        </p:nvSpPr>
        <p:spPr>
          <a:xfrm>
            <a:off x="2670048" y="3493008"/>
            <a:ext cx="3886200" cy="237744"/>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Connect frontend to Flask API, full system integration</a:t>
            </a:r>
            <a:endParaRPr lang="en-US" sz="880" dirty="0"/>
          </a:p>
        </p:txBody>
      </p:sp>
      <p:sp>
        <p:nvSpPr>
          <p:cNvPr id="39" name="Text 37"/>
          <p:cNvSpPr/>
          <p:nvPr/>
        </p:nvSpPr>
        <p:spPr>
          <a:xfrm>
            <a:off x="6620256" y="3493008"/>
            <a:ext cx="457200" cy="237744"/>
          </a:xfrm>
          <a:prstGeom prst="rect">
            <a:avLst/>
          </a:prstGeom>
          <a:noFill/>
          <a:ln/>
        </p:spPr>
        <p:txBody>
          <a:bodyPr wrap="square" lIns="0" tIns="0" rIns="0" bIns="0" rtlCol="0" anchor="ctr"/>
          <a:lstStyle/>
          <a:p>
            <a:pPr indent="0" marL="0">
              <a:buNone/>
            </a:pPr>
            <a:r>
              <a:rPr lang="en-US" sz="880" b="1" dirty="0">
                <a:solidFill>
                  <a:srgbClr val="1B3A6B"/>
                </a:solidFill>
                <a:latin typeface="Calibri" pitchFamily="34" charset="0"/>
                <a:ea typeface="Calibri" pitchFamily="34" charset="-122"/>
                <a:cs typeface="Calibri" pitchFamily="34" charset="-120"/>
              </a:rPr>
              <a:t>20</a:t>
            </a:r>
            <a:endParaRPr lang="en-US" sz="880" dirty="0"/>
          </a:p>
        </p:txBody>
      </p:sp>
      <p:sp>
        <p:nvSpPr>
          <p:cNvPr id="40" name="Shape 38"/>
          <p:cNvSpPr/>
          <p:nvPr/>
        </p:nvSpPr>
        <p:spPr>
          <a:xfrm>
            <a:off x="457200" y="3785616"/>
            <a:ext cx="6492240" cy="329184"/>
          </a:xfrm>
          <a:prstGeom prst="rect">
            <a:avLst/>
          </a:prstGeom>
          <a:solidFill>
            <a:srgbClr val="FFFFFF"/>
          </a:solidFill>
          <a:ln w="12700">
            <a:solidFill>
              <a:srgbClr val="FFFFFF"/>
            </a:solidFill>
            <a:prstDash val="solid"/>
          </a:ln>
        </p:spPr>
      </p:sp>
      <p:sp>
        <p:nvSpPr>
          <p:cNvPr id="41" name="Text 39"/>
          <p:cNvSpPr/>
          <p:nvPr/>
        </p:nvSpPr>
        <p:spPr>
          <a:xfrm>
            <a:off x="566928" y="3840480"/>
            <a:ext cx="749808" cy="237744"/>
          </a:xfrm>
          <a:prstGeom prst="rect">
            <a:avLst/>
          </a:prstGeom>
          <a:noFill/>
          <a:ln/>
        </p:spPr>
        <p:txBody>
          <a:bodyPr wrap="square" lIns="0" tIns="0" rIns="0" bIns="0" rtlCol="0" anchor="ctr"/>
          <a:lstStyle/>
          <a:p>
            <a:pPr indent="0" marL="0">
              <a:buNone/>
            </a:pPr>
            <a:r>
              <a:rPr lang="en-US" sz="880" dirty="0">
                <a:solidFill>
                  <a:srgbClr val="5B2D8E"/>
                </a:solidFill>
                <a:latin typeface="Calibri" pitchFamily="34" charset="0"/>
                <a:ea typeface="Calibri" pitchFamily="34" charset="-122"/>
                <a:cs typeface="Calibri" pitchFamily="34" charset="-120"/>
              </a:rPr>
              <a:t>Sprint 7</a:t>
            </a:r>
            <a:endParaRPr lang="en-US" sz="880" dirty="0"/>
          </a:p>
        </p:txBody>
      </p:sp>
      <p:sp>
        <p:nvSpPr>
          <p:cNvPr id="42" name="Text 40"/>
          <p:cNvSpPr/>
          <p:nvPr/>
        </p:nvSpPr>
        <p:spPr>
          <a:xfrm>
            <a:off x="1371600" y="3840480"/>
            <a:ext cx="1243584" cy="237744"/>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20 Jan–31 Mar 2026</a:t>
            </a:r>
            <a:endParaRPr lang="en-US" sz="880" dirty="0"/>
          </a:p>
        </p:txBody>
      </p:sp>
      <p:sp>
        <p:nvSpPr>
          <p:cNvPr id="43" name="Text 41"/>
          <p:cNvSpPr/>
          <p:nvPr/>
        </p:nvSpPr>
        <p:spPr>
          <a:xfrm>
            <a:off x="2670048" y="3840480"/>
            <a:ext cx="3886200" cy="237744"/>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Final polish, GitHub cleanup, demo run, slides</a:t>
            </a:r>
            <a:endParaRPr lang="en-US" sz="880" dirty="0"/>
          </a:p>
        </p:txBody>
      </p:sp>
      <p:sp>
        <p:nvSpPr>
          <p:cNvPr id="44" name="Text 42"/>
          <p:cNvSpPr/>
          <p:nvPr/>
        </p:nvSpPr>
        <p:spPr>
          <a:xfrm>
            <a:off x="6620256" y="3840480"/>
            <a:ext cx="457200" cy="237744"/>
          </a:xfrm>
          <a:prstGeom prst="rect">
            <a:avLst/>
          </a:prstGeom>
          <a:noFill/>
          <a:ln/>
        </p:spPr>
        <p:txBody>
          <a:bodyPr wrap="square" lIns="0" tIns="0" rIns="0" bIns="0" rtlCol="0" anchor="ctr"/>
          <a:lstStyle/>
          <a:p>
            <a:pPr indent="0" marL="0">
              <a:buNone/>
            </a:pPr>
            <a:r>
              <a:rPr lang="en-US" sz="880" b="1" dirty="0">
                <a:solidFill>
                  <a:srgbClr val="1B3A6B"/>
                </a:solidFill>
                <a:latin typeface="Calibri" pitchFamily="34" charset="0"/>
                <a:ea typeface="Calibri" pitchFamily="34" charset="-122"/>
                <a:cs typeface="Calibri" pitchFamily="34" charset="-120"/>
              </a:rPr>
              <a:t>15</a:t>
            </a:r>
            <a:endParaRPr lang="en-US" sz="880" dirty="0"/>
          </a:p>
        </p:txBody>
      </p:sp>
      <p:sp>
        <p:nvSpPr>
          <p:cNvPr id="45" name="Shape 43"/>
          <p:cNvSpPr/>
          <p:nvPr/>
        </p:nvSpPr>
        <p:spPr>
          <a:xfrm>
            <a:off x="457200" y="4133088"/>
            <a:ext cx="6492240" cy="329184"/>
          </a:xfrm>
          <a:prstGeom prst="rect">
            <a:avLst/>
          </a:prstGeom>
          <a:solidFill>
            <a:srgbClr val="F4F6F9"/>
          </a:solidFill>
          <a:ln w="12700">
            <a:solidFill>
              <a:srgbClr val="F4F6F9"/>
            </a:solidFill>
            <a:prstDash val="solid"/>
          </a:ln>
        </p:spPr>
      </p:sp>
      <p:sp>
        <p:nvSpPr>
          <p:cNvPr id="46" name="Text 44"/>
          <p:cNvSpPr/>
          <p:nvPr/>
        </p:nvSpPr>
        <p:spPr>
          <a:xfrm>
            <a:off x="566928" y="4187952"/>
            <a:ext cx="749808" cy="237744"/>
          </a:xfrm>
          <a:prstGeom prst="rect">
            <a:avLst/>
          </a:prstGeom>
          <a:noFill/>
          <a:ln/>
        </p:spPr>
        <p:txBody>
          <a:bodyPr wrap="square" lIns="0" tIns="0" rIns="0" bIns="0" rtlCol="0" anchor="ctr"/>
          <a:lstStyle/>
          <a:p>
            <a:pPr indent="0" marL="0">
              <a:buNone/>
            </a:pPr>
            <a:r>
              <a:rPr lang="en-US" sz="880" dirty="0">
                <a:solidFill>
                  <a:srgbClr val="5B2D8E"/>
                </a:solidFill>
                <a:latin typeface="Calibri" pitchFamily="34" charset="0"/>
                <a:ea typeface="Calibri" pitchFamily="34" charset="-122"/>
                <a:cs typeface="Calibri" pitchFamily="34" charset="-120"/>
              </a:rPr>
              <a:t>Sprint 8</a:t>
            </a:r>
            <a:endParaRPr lang="en-US" sz="880" dirty="0"/>
          </a:p>
        </p:txBody>
      </p:sp>
      <p:sp>
        <p:nvSpPr>
          <p:cNvPr id="47" name="Text 45"/>
          <p:cNvSpPr/>
          <p:nvPr/>
        </p:nvSpPr>
        <p:spPr>
          <a:xfrm>
            <a:off x="1371600" y="4187952"/>
            <a:ext cx="1243584" cy="237744"/>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1 Apr–30 Apr 2026</a:t>
            </a:r>
            <a:endParaRPr lang="en-US" sz="880" dirty="0"/>
          </a:p>
        </p:txBody>
      </p:sp>
      <p:sp>
        <p:nvSpPr>
          <p:cNvPr id="48" name="Text 46"/>
          <p:cNvSpPr/>
          <p:nvPr/>
        </p:nvSpPr>
        <p:spPr>
          <a:xfrm>
            <a:off x="2670048" y="4187952"/>
            <a:ext cx="3886200" cy="237744"/>
          </a:xfrm>
          <a:prstGeom prst="rect">
            <a:avLst/>
          </a:prstGeom>
          <a:noFill/>
          <a:ln/>
        </p:spPr>
        <p:txBody>
          <a:bodyPr wrap="square" lIns="0" tIns="0" rIns="0" bIns="0" rtlCol="0" anchor="ctr"/>
          <a:lstStyle/>
          <a:p>
            <a:pPr indent="0" marL="0">
              <a:buNone/>
            </a:pPr>
            <a:r>
              <a:rPr lang="en-US" sz="880" dirty="0">
                <a:solidFill>
                  <a:srgbClr val="2C3E50"/>
                </a:solidFill>
                <a:latin typeface="Calibri" pitchFamily="34" charset="0"/>
                <a:ea typeface="Calibri" pitchFamily="34" charset="-122"/>
                <a:cs typeface="Calibri" pitchFamily="34" charset="-120"/>
              </a:rPr>
              <a:t>Team report and four individual reflective statements</a:t>
            </a:r>
            <a:endParaRPr lang="en-US" sz="880" dirty="0"/>
          </a:p>
        </p:txBody>
      </p:sp>
      <p:sp>
        <p:nvSpPr>
          <p:cNvPr id="49" name="Text 47"/>
          <p:cNvSpPr/>
          <p:nvPr/>
        </p:nvSpPr>
        <p:spPr>
          <a:xfrm>
            <a:off x="6620256" y="4187952"/>
            <a:ext cx="457200" cy="237744"/>
          </a:xfrm>
          <a:prstGeom prst="rect">
            <a:avLst/>
          </a:prstGeom>
          <a:noFill/>
          <a:ln/>
        </p:spPr>
        <p:txBody>
          <a:bodyPr wrap="square" lIns="0" tIns="0" rIns="0" bIns="0" rtlCol="0" anchor="ctr"/>
          <a:lstStyle/>
          <a:p>
            <a:pPr indent="0" marL="0">
              <a:buNone/>
            </a:pPr>
            <a:r>
              <a:rPr lang="en-US" sz="880" b="1" dirty="0">
                <a:solidFill>
                  <a:srgbClr val="1B3A6B"/>
                </a:solidFill>
                <a:latin typeface="Calibri" pitchFamily="34" charset="0"/>
                <a:ea typeface="Calibri" pitchFamily="34" charset="-122"/>
                <a:cs typeface="Calibri" pitchFamily="34" charset="-120"/>
              </a:rPr>
              <a:t>34</a:t>
            </a:r>
            <a:endParaRPr lang="en-US" sz="880" dirty="0"/>
          </a:p>
        </p:txBody>
      </p:sp>
      <p:sp>
        <p:nvSpPr>
          <p:cNvPr id="50" name="Shape 48"/>
          <p:cNvSpPr/>
          <p:nvPr/>
        </p:nvSpPr>
        <p:spPr>
          <a:xfrm>
            <a:off x="457200" y="4480560"/>
            <a:ext cx="6492240" cy="292608"/>
          </a:xfrm>
          <a:prstGeom prst="rect">
            <a:avLst/>
          </a:prstGeom>
          <a:solidFill>
            <a:srgbClr val="1B3A6B"/>
          </a:solidFill>
          <a:ln w="12700">
            <a:solidFill>
              <a:srgbClr val="1B3A6B"/>
            </a:solidFill>
            <a:prstDash val="solid"/>
          </a:ln>
        </p:spPr>
      </p:sp>
      <p:sp>
        <p:nvSpPr>
          <p:cNvPr id="51" name="Text 49"/>
          <p:cNvSpPr/>
          <p:nvPr/>
        </p:nvSpPr>
        <p:spPr>
          <a:xfrm>
            <a:off x="566928" y="4517136"/>
            <a:ext cx="1828800" cy="21945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Total</a:t>
            </a:r>
            <a:endParaRPr lang="en-US" sz="900" dirty="0"/>
          </a:p>
        </p:txBody>
      </p:sp>
      <p:sp>
        <p:nvSpPr>
          <p:cNvPr id="52" name="Text 50"/>
          <p:cNvSpPr/>
          <p:nvPr/>
        </p:nvSpPr>
        <p:spPr>
          <a:xfrm>
            <a:off x="6565392" y="4517136"/>
            <a:ext cx="502920" cy="219456"/>
          </a:xfrm>
          <a:prstGeom prst="rect">
            <a:avLst/>
          </a:prstGeom>
          <a:noFill/>
          <a:ln/>
        </p:spPr>
        <p:txBody>
          <a:bodyPr wrap="square" lIns="0" tIns="0" rIns="0" bIns="0" rtlCol="0" anchor="ctr"/>
          <a:lstStyle/>
          <a:p>
            <a:pPr indent="0" marL="0">
              <a:buNone/>
            </a:pPr>
            <a:r>
              <a:rPr lang="en-US" sz="900" b="1" dirty="0">
                <a:solidFill>
                  <a:srgbClr val="B8860B"/>
                </a:solidFill>
                <a:latin typeface="Calibri" pitchFamily="34" charset="0"/>
                <a:ea typeface="Calibri" pitchFamily="34" charset="-122"/>
                <a:cs typeface="Calibri" pitchFamily="34" charset="-120"/>
              </a:rPr>
              <a:t>173 pts</a:t>
            </a:r>
            <a:endParaRPr lang="en-US" sz="900" dirty="0"/>
          </a:p>
        </p:txBody>
      </p:sp>
      <p:sp>
        <p:nvSpPr>
          <p:cNvPr id="53" name="Shape 51"/>
          <p:cNvSpPr/>
          <p:nvPr/>
        </p:nvSpPr>
        <p:spPr>
          <a:xfrm>
            <a:off x="7114032" y="1371600"/>
            <a:ext cx="1554480" cy="731520"/>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54" name="Shape 52"/>
          <p:cNvSpPr/>
          <p:nvPr/>
        </p:nvSpPr>
        <p:spPr>
          <a:xfrm>
            <a:off x="7114032" y="1371600"/>
            <a:ext cx="1554480" cy="50292"/>
          </a:xfrm>
          <a:prstGeom prst="rect">
            <a:avLst/>
          </a:prstGeom>
          <a:solidFill>
            <a:srgbClr val="1B3A6B"/>
          </a:solidFill>
          <a:ln w="12700">
            <a:solidFill>
              <a:srgbClr val="1B3A6B"/>
            </a:solidFill>
            <a:prstDash val="solid"/>
          </a:ln>
        </p:spPr>
      </p:sp>
      <p:sp>
        <p:nvSpPr>
          <p:cNvPr id="55" name="Text 53"/>
          <p:cNvSpPr/>
          <p:nvPr/>
        </p:nvSpPr>
        <p:spPr>
          <a:xfrm>
            <a:off x="7114032" y="1481328"/>
            <a:ext cx="1554480" cy="347472"/>
          </a:xfrm>
          <a:prstGeom prst="rect">
            <a:avLst/>
          </a:prstGeom>
          <a:noFill/>
          <a:ln/>
        </p:spPr>
        <p:txBody>
          <a:bodyPr wrap="square" lIns="0" tIns="0" rIns="0" bIns="0" rtlCol="0" anchor="ctr"/>
          <a:lstStyle/>
          <a:p>
            <a:pPr algn="ctr" indent="0" marL="0">
              <a:buNone/>
            </a:pPr>
            <a:r>
              <a:rPr lang="en-US" sz="2200" b="1" dirty="0">
                <a:solidFill>
                  <a:srgbClr val="1B3A6B"/>
                </a:solidFill>
                <a:latin typeface="Cambria" pitchFamily="34" charset="0"/>
                <a:ea typeface="Cambria" pitchFamily="34" charset="-122"/>
                <a:cs typeface="Cambria" pitchFamily="34" charset="-120"/>
              </a:rPr>
              <a:t>54</a:t>
            </a:r>
            <a:endParaRPr lang="en-US" sz="2200" dirty="0"/>
          </a:p>
        </p:txBody>
      </p:sp>
      <p:sp>
        <p:nvSpPr>
          <p:cNvPr id="56" name="Text 54"/>
          <p:cNvSpPr/>
          <p:nvPr/>
        </p:nvSpPr>
        <p:spPr>
          <a:xfrm>
            <a:off x="7114032" y="1847088"/>
            <a:ext cx="1554480" cy="201168"/>
          </a:xfrm>
          <a:prstGeom prst="rect">
            <a:avLst/>
          </a:prstGeom>
          <a:noFill/>
          <a:ln/>
        </p:spPr>
        <p:txBody>
          <a:bodyPr wrap="square" lIns="0" tIns="0" rIns="0" bIns="0" rtlCol="0" anchor="ctr"/>
          <a:lstStyle/>
          <a:p>
            <a:pPr algn="ctr" indent="0" marL="0">
              <a:buNone/>
            </a:pPr>
            <a:r>
              <a:rPr lang="en-US" sz="850" dirty="0">
                <a:solidFill>
                  <a:srgbClr val="6B7C8F"/>
                </a:solidFill>
                <a:latin typeface="Calibri" pitchFamily="34" charset="0"/>
                <a:ea typeface="Calibri" pitchFamily="34" charset="-122"/>
                <a:cs typeface="Calibri" pitchFamily="34" charset="-120"/>
              </a:rPr>
              <a:t>Jira Tasks</a:t>
            </a:r>
            <a:endParaRPr lang="en-US" sz="850" dirty="0"/>
          </a:p>
        </p:txBody>
      </p:sp>
      <p:sp>
        <p:nvSpPr>
          <p:cNvPr id="57" name="Shape 55"/>
          <p:cNvSpPr/>
          <p:nvPr/>
        </p:nvSpPr>
        <p:spPr>
          <a:xfrm>
            <a:off x="7114032" y="2212848"/>
            <a:ext cx="1554480" cy="731520"/>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58" name="Shape 56"/>
          <p:cNvSpPr/>
          <p:nvPr/>
        </p:nvSpPr>
        <p:spPr>
          <a:xfrm>
            <a:off x="7114032" y="2212848"/>
            <a:ext cx="1554480" cy="50292"/>
          </a:xfrm>
          <a:prstGeom prst="rect">
            <a:avLst/>
          </a:prstGeom>
          <a:solidFill>
            <a:srgbClr val="5B2D8E"/>
          </a:solidFill>
          <a:ln w="12700">
            <a:solidFill>
              <a:srgbClr val="5B2D8E"/>
            </a:solidFill>
            <a:prstDash val="solid"/>
          </a:ln>
        </p:spPr>
      </p:sp>
      <p:sp>
        <p:nvSpPr>
          <p:cNvPr id="59" name="Text 57"/>
          <p:cNvSpPr/>
          <p:nvPr/>
        </p:nvSpPr>
        <p:spPr>
          <a:xfrm>
            <a:off x="7114032" y="2322576"/>
            <a:ext cx="1554480" cy="347472"/>
          </a:xfrm>
          <a:prstGeom prst="rect">
            <a:avLst/>
          </a:prstGeom>
          <a:noFill/>
          <a:ln/>
        </p:spPr>
        <p:txBody>
          <a:bodyPr wrap="square" lIns="0" tIns="0" rIns="0" bIns="0" rtlCol="0" anchor="ctr"/>
          <a:lstStyle/>
          <a:p>
            <a:pPr algn="ctr" indent="0" marL="0">
              <a:buNone/>
            </a:pPr>
            <a:r>
              <a:rPr lang="en-US" sz="2200" b="1" dirty="0">
                <a:solidFill>
                  <a:srgbClr val="5B2D8E"/>
                </a:solidFill>
                <a:latin typeface="Cambria" pitchFamily="34" charset="0"/>
                <a:ea typeface="Cambria" pitchFamily="34" charset="-122"/>
                <a:cs typeface="Cambria" pitchFamily="34" charset="-120"/>
              </a:rPr>
              <a:t>8</a:t>
            </a:r>
            <a:endParaRPr lang="en-US" sz="2200" dirty="0"/>
          </a:p>
        </p:txBody>
      </p:sp>
      <p:sp>
        <p:nvSpPr>
          <p:cNvPr id="60" name="Text 58"/>
          <p:cNvSpPr/>
          <p:nvPr/>
        </p:nvSpPr>
        <p:spPr>
          <a:xfrm>
            <a:off x="7114032" y="2688336"/>
            <a:ext cx="1554480" cy="201168"/>
          </a:xfrm>
          <a:prstGeom prst="rect">
            <a:avLst/>
          </a:prstGeom>
          <a:noFill/>
          <a:ln/>
        </p:spPr>
        <p:txBody>
          <a:bodyPr wrap="square" lIns="0" tIns="0" rIns="0" bIns="0" rtlCol="0" anchor="ctr"/>
          <a:lstStyle/>
          <a:p>
            <a:pPr algn="ctr" indent="0" marL="0">
              <a:buNone/>
            </a:pPr>
            <a:r>
              <a:rPr lang="en-US" sz="850" dirty="0">
                <a:solidFill>
                  <a:srgbClr val="6B7C8F"/>
                </a:solidFill>
                <a:latin typeface="Calibri" pitchFamily="34" charset="0"/>
                <a:ea typeface="Calibri" pitchFamily="34" charset="-122"/>
                <a:cs typeface="Calibri" pitchFamily="34" charset="-120"/>
              </a:rPr>
              <a:t>Epics</a:t>
            </a:r>
            <a:endParaRPr lang="en-US" sz="850" dirty="0"/>
          </a:p>
        </p:txBody>
      </p:sp>
      <p:sp>
        <p:nvSpPr>
          <p:cNvPr id="61" name="Shape 59"/>
          <p:cNvSpPr/>
          <p:nvPr/>
        </p:nvSpPr>
        <p:spPr>
          <a:xfrm>
            <a:off x="7114032" y="3054096"/>
            <a:ext cx="1554480" cy="731520"/>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62" name="Shape 60"/>
          <p:cNvSpPr/>
          <p:nvPr/>
        </p:nvSpPr>
        <p:spPr>
          <a:xfrm>
            <a:off x="7114032" y="3054096"/>
            <a:ext cx="1554480" cy="50292"/>
          </a:xfrm>
          <a:prstGeom prst="rect">
            <a:avLst/>
          </a:prstGeom>
          <a:solidFill>
            <a:srgbClr val="0B6E8C"/>
          </a:solidFill>
          <a:ln w="12700">
            <a:solidFill>
              <a:srgbClr val="0B6E8C"/>
            </a:solidFill>
            <a:prstDash val="solid"/>
          </a:ln>
        </p:spPr>
      </p:sp>
      <p:sp>
        <p:nvSpPr>
          <p:cNvPr id="63" name="Text 61"/>
          <p:cNvSpPr/>
          <p:nvPr/>
        </p:nvSpPr>
        <p:spPr>
          <a:xfrm>
            <a:off x="7114032" y="3163824"/>
            <a:ext cx="1554480" cy="347472"/>
          </a:xfrm>
          <a:prstGeom prst="rect">
            <a:avLst/>
          </a:prstGeom>
          <a:noFill/>
          <a:ln/>
        </p:spPr>
        <p:txBody>
          <a:bodyPr wrap="square" lIns="0" tIns="0" rIns="0" bIns="0" rtlCol="0" anchor="ctr"/>
          <a:lstStyle/>
          <a:p>
            <a:pPr algn="ctr" indent="0" marL="0">
              <a:buNone/>
            </a:pPr>
            <a:r>
              <a:rPr lang="en-US" sz="2200" b="1" dirty="0">
                <a:solidFill>
                  <a:srgbClr val="0B6E8C"/>
                </a:solidFill>
                <a:latin typeface="Cambria" pitchFamily="34" charset="0"/>
                <a:ea typeface="Cambria" pitchFamily="34" charset="-122"/>
                <a:cs typeface="Cambria" pitchFamily="34" charset="-120"/>
              </a:rPr>
              <a:t>173</a:t>
            </a:r>
            <a:endParaRPr lang="en-US" sz="2200" dirty="0"/>
          </a:p>
        </p:txBody>
      </p:sp>
      <p:sp>
        <p:nvSpPr>
          <p:cNvPr id="64" name="Text 62"/>
          <p:cNvSpPr/>
          <p:nvPr/>
        </p:nvSpPr>
        <p:spPr>
          <a:xfrm>
            <a:off x="7114032" y="3529584"/>
            <a:ext cx="1554480" cy="201168"/>
          </a:xfrm>
          <a:prstGeom prst="rect">
            <a:avLst/>
          </a:prstGeom>
          <a:noFill/>
          <a:ln/>
        </p:spPr>
        <p:txBody>
          <a:bodyPr wrap="square" lIns="0" tIns="0" rIns="0" bIns="0" rtlCol="0" anchor="ctr"/>
          <a:lstStyle/>
          <a:p>
            <a:pPr algn="ctr" indent="0" marL="0">
              <a:buNone/>
            </a:pPr>
            <a:r>
              <a:rPr lang="en-US" sz="850" dirty="0">
                <a:solidFill>
                  <a:srgbClr val="6B7C8F"/>
                </a:solidFill>
                <a:latin typeface="Calibri" pitchFamily="34" charset="0"/>
                <a:ea typeface="Calibri" pitchFamily="34" charset="-122"/>
                <a:cs typeface="Calibri" pitchFamily="34" charset="-120"/>
              </a:rPr>
              <a:t>Story Points</a:t>
            </a:r>
            <a:endParaRPr lang="en-US" sz="850" dirty="0"/>
          </a:p>
        </p:txBody>
      </p:sp>
      <p:sp>
        <p:nvSpPr>
          <p:cNvPr id="65" name="Shape 63"/>
          <p:cNvSpPr/>
          <p:nvPr/>
        </p:nvSpPr>
        <p:spPr>
          <a:xfrm>
            <a:off x="7114032" y="3895344"/>
            <a:ext cx="1554480" cy="731520"/>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66" name="Shape 64"/>
          <p:cNvSpPr/>
          <p:nvPr/>
        </p:nvSpPr>
        <p:spPr>
          <a:xfrm>
            <a:off x="7114032" y="3895344"/>
            <a:ext cx="1554480" cy="50292"/>
          </a:xfrm>
          <a:prstGeom prst="rect">
            <a:avLst/>
          </a:prstGeom>
          <a:solidFill>
            <a:srgbClr val="1A7A4A"/>
          </a:solidFill>
          <a:ln w="12700">
            <a:solidFill>
              <a:srgbClr val="1A7A4A"/>
            </a:solidFill>
            <a:prstDash val="solid"/>
          </a:ln>
        </p:spPr>
      </p:sp>
      <p:sp>
        <p:nvSpPr>
          <p:cNvPr id="67" name="Text 65"/>
          <p:cNvSpPr/>
          <p:nvPr/>
        </p:nvSpPr>
        <p:spPr>
          <a:xfrm>
            <a:off x="7114032" y="4005072"/>
            <a:ext cx="1554480" cy="347472"/>
          </a:xfrm>
          <a:prstGeom prst="rect">
            <a:avLst/>
          </a:prstGeom>
          <a:noFill/>
          <a:ln/>
        </p:spPr>
        <p:txBody>
          <a:bodyPr wrap="square" lIns="0" tIns="0" rIns="0" bIns="0" rtlCol="0" anchor="ctr"/>
          <a:lstStyle/>
          <a:p>
            <a:pPr algn="ctr" indent="0" marL="0">
              <a:buNone/>
            </a:pPr>
            <a:r>
              <a:rPr lang="en-US" sz="2200" b="1" dirty="0">
                <a:solidFill>
                  <a:srgbClr val="1A7A4A"/>
                </a:solidFill>
                <a:latin typeface="Cambria" pitchFamily="34" charset="0"/>
                <a:ea typeface="Cambria" pitchFamily="34" charset="-122"/>
                <a:cs typeface="Cambria" pitchFamily="34" charset="-120"/>
              </a:rPr>
              <a:t>100%</a:t>
            </a:r>
            <a:endParaRPr lang="en-US" sz="2200" dirty="0"/>
          </a:p>
        </p:txBody>
      </p:sp>
      <p:sp>
        <p:nvSpPr>
          <p:cNvPr id="68" name="Text 66"/>
          <p:cNvSpPr/>
          <p:nvPr/>
        </p:nvSpPr>
        <p:spPr>
          <a:xfrm>
            <a:off x="7114032" y="4370832"/>
            <a:ext cx="1554480" cy="201168"/>
          </a:xfrm>
          <a:prstGeom prst="rect">
            <a:avLst/>
          </a:prstGeom>
          <a:noFill/>
          <a:ln/>
        </p:spPr>
        <p:txBody>
          <a:bodyPr wrap="square" lIns="0" tIns="0" rIns="0" bIns="0" rtlCol="0" anchor="ctr"/>
          <a:lstStyle/>
          <a:p>
            <a:pPr algn="ctr" indent="0" marL="0">
              <a:buNone/>
            </a:pPr>
            <a:r>
              <a:rPr lang="en-US" sz="850" dirty="0">
                <a:solidFill>
                  <a:srgbClr val="6B7C8F"/>
                </a:solidFill>
                <a:latin typeface="Calibri" pitchFamily="34" charset="0"/>
                <a:ea typeface="Calibri" pitchFamily="34" charset="-122"/>
                <a:cs typeface="Calibri" pitchFamily="34" charset="-120"/>
              </a:rPr>
              <a:t>Completion</a:t>
            </a:r>
            <a:endParaRPr lang="en-US" sz="850" dirty="0"/>
          </a:p>
        </p:txBody>
      </p:sp>
      <p:sp>
        <p:nvSpPr>
          <p:cNvPr id="69" name="Text 67"/>
          <p:cNvSpPr/>
          <p:nvPr/>
        </p:nvSpPr>
        <p:spPr>
          <a:xfrm>
            <a:off x="457200" y="4901184"/>
            <a:ext cx="8229600" cy="182880"/>
          </a:xfrm>
          <a:prstGeom prst="rect">
            <a:avLst/>
          </a:prstGeom>
          <a:noFill/>
          <a:ln/>
        </p:spPr>
        <p:txBody>
          <a:bodyPr wrap="square" lIns="0" tIns="0" rIns="0" bIns="0" rtlCol="0" anchor="ctr"/>
          <a:lstStyle/>
          <a:p>
            <a:pPr indent="0" marL="0">
              <a:buNone/>
            </a:pPr>
            <a:r>
              <a:rPr lang="en-US" sz="800" i="1" dirty="0">
                <a:solidFill>
                  <a:srgbClr val="6B7C8F"/>
                </a:solidFill>
                <a:latin typeface="Calibri" pitchFamily="34" charset="0"/>
                <a:ea typeface="Calibri" pitchFamily="34" charset="-122"/>
                <a:cs typeface="Calibri" pitchFamily="34" charset="-120"/>
              </a:rPr>
              <a:t>Schwaber and Sutherland (2020): Sprint planning, reviews and retrospectives are the three ceremonies that make Scrum work. We followed all three throughout.</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8229600" cy="219456"/>
          </a:xfrm>
          <a:prstGeom prst="rect">
            <a:avLst/>
          </a:prstGeom>
          <a:noFill/>
          <a:ln/>
        </p:spPr>
        <p:txBody>
          <a:bodyPr wrap="square" lIns="0" tIns="0" rIns="0" bIns="0" rtlCol="0" anchor="ctr"/>
          <a:lstStyle/>
          <a:p>
            <a:pPr indent="0" marL="0">
              <a:buNone/>
            </a:pPr>
            <a:r>
              <a:rPr lang="en-US" sz="850" b="1" spc="250" kern="0" dirty="0">
                <a:solidFill>
                  <a:srgbClr val="B8860B"/>
                </a:solidFill>
                <a:latin typeface="Calibri" pitchFamily="34" charset="0"/>
                <a:ea typeface="Calibri" pitchFamily="34" charset="-122"/>
                <a:cs typeface="Calibri" pitchFamily="34" charset="-120"/>
              </a:rPr>
              <a:t>CHAPTER 3 — PRODUCT DEVELOPMENT</a:t>
            </a:r>
            <a:endParaRPr lang="en-US" sz="85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000" b="1" dirty="0">
                <a:solidFill>
                  <a:srgbClr val="1B3A6B"/>
                </a:solidFill>
                <a:latin typeface="Cambria" pitchFamily="34" charset="0"/>
                <a:ea typeface="Cambria" pitchFamily="34" charset="-122"/>
                <a:cs typeface="Cambria" pitchFamily="34" charset="-120"/>
              </a:rPr>
              <a:t>Product Lifecycle Mapping and Four Key Lessons</a:t>
            </a:r>
            <a:endParaRPr lang="en-US" sz="3000" dirty="0"/>
          </a:p>
        </p:txBody>
      </p:sp>
      <p:sp>
        <p:nvSpPr>
          <p:cNvPr id="4" name="Shape 2"/>
          <p:cNvSpPr/>
          <p:nvPr/>
        </p:nvSpPr>
        <p:spPr>
          <a:xfrm>
            <a:off x="457200" y="1225296"/>
            <a:ext cx="8229600" cy="20117"/>
          </a:xfrm>
          <a:prstGeom prst="rect">
            <a:avLst/>
          </a:prstGeom>
          <a:solidFill>
            <a:srgbClr val="E8EDF4"/>
          </a:solidFill>
          <a:ln w="12700">
            <a:solidFill>
              <a:srgbClr val="E8EDF4"/>
            </a:solidFill>
            <a:prstDash val="solid"/>
          </a:ln>
        </p:spPr>
      </p:sp>
      <p:sp>
        <p:nvSpPr>
          <p:cNvPr id="5" name="Shape 3"/>
          <p:cNvSpPr/>
          <p:nvPr/>
        </p:nvSpPr>
        <p:spPr>
          <a:xfrm>
            <a:off x="457200" y="1371600"/>
            <a:ext cx="8229600" cy="1170432"/>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6" name="Text 4"/>
          <p:cNvSpPr/>
          <p:nvPr/>
        </p:nvSpPr>
        <p:spPr>
          <a:xfrm>
            <a:off x="640080" y="1444752"/>
            <a:ext cx="7863840" cy="256032"/>
          </a:xfrm>
          <a:prstGeom prst="rect">
            <a:avLst/>
          </a:prstGeom>
          <a:noFill/>
          <a:ln/>
        </p:spPr>
        <p:txBody>
          <a:bodyPr wrap="square" lIns="0" tIns="0" rIns="0" bIns="0" rtlCol="0" anchor="ctr"/>
          <a:lstStyle/>
          <a:p>
            <a:pPr indent="0" marL="0">
              <a:buNone/>
            </a:pPr>
            <a:r>
              <a:rPr lang="en-US" sz="1000" b="1" dirty="0">
                <a:solidFill>
                  <a:srgbClr val="1B3A6B"/>
                </a:solidFill>
                <a:latin typeface="Calibri" pitchFamily="34" charset="0"/>
                <a:ea typeface="Calibri" pitchFamily="34" charset="-122"/>
                <a:cs typeface="Calibri" pitchFamily="34" charset="-120"/>
              </a:rPr>
              <a:t>Product Lifecycle — Ulrich and Eppinger (2015): stages from idea to delivery mapped directly onto our sprint structure</a:t>
            </a:r>
            <a:endParaRPr lang="en-US" sz="1000" dirty="0"/>
          </a:p>
        </p:txBody>
      </p:sp>
      <p:sp>
        <p:nvSpPr>
          <p:cNvPr id="7" name="Shape 5"/>
          <p:cNvSpPr/>
          <p:nvPr/>
        </p:nvSpPr>
        <p:spPr>
          <a:xfrm>
            <a:off x="566928" y="1773936"/>
            <a:ext cx="1225296" cy="585216"/>
          </a:xfrm>
          <a:prstGeom prst="rect">
            <a:avLst/>
          </a:prstGeom>
          <a:solidFill>
            <a:srgbClr val="FFFFFF"/>
          </a:solidFill>
          <a:ln w="12700">
            <a:solidFill>
              <a:srgbClr val="FFFFFF"/>
            </a:solidFill>
            <a:prstDash val="solid"/>
          </a:ln>
        </p:spPr>
      </p:sp>
      <p:sp>
        <p:nvSpPr>
          <p:cNvPr id="8" name="Text 6"/>
          <p:cNvSpPr/>
          <p:nvPr/>
        </p:nvSpPr>
        <p:spPr>
          <a:xfrm>
            <a:off x="621792" y="1792224"/>
            <a:ext cx="1115568" cy="310896"/>
          </a:xfrm>
          <a:prstGeom prst="rect">
            <a:avLst/>
          </a:prstGeom>
          <a:noFill/>
          <a:ln/>
        </p:spPr>
        <p:txBody>
          <a:bodyPr wrap="square" lIns="0" tIns="0" rIns="0" bIns="0" rtlCol="0" anchor="ctr"/>
          <a:lstStyle/>
          <a:p>
            <a:pPr algn="ctr" indent="0" marL="0">
              <a:buNone/>
            </a:pPr>
            <a:r>
              <a:rPr lang="en-US" sz="850" b="1" dirty="0">
                <a:solidFill>
                  <a:srgbClr val="1B3A6B"/>
                </a:solidFill>
                <a:latin typeface="Calibri" pitchFamily="34" charset="0"/>
                <a:ea typeface="Calibri" pitchFamily="34" charset="-122"/>
                <a:cs typeface="Calibri" pitchFamily="34" charset="-120"/>
              </a:rPr>
              <a:t>Requirements</a:t>
            </a:r>
            <a:endParaRPr lang="en-US" sz="850" dirty="0"/>
          </a:p>
        </p:txBody>
      </p:sp>
      <p:sp>
        <p:nvSpPr>
          <p:cNvPr id="9" name="Text 7"/>
          <p:cNvSpPr/>
          <p:nvPr/>
        </p:nvSpPr>
        <p:spPr>
          <a:xfrm>
            <a:off x="621792" y="2103120"/>
            <a:ext cx="1115568" cy="201168"/>
          </a:xfrm>
          <a:prstGeom prst="rect">
            <a:avLst/>
          </a:prstGeom>
          <a:noFill/>
          <a:ln/>
        </p:spPr>
        <p:txBody>
          <a:bodyPr wrap="square" lIns="0" tIns="0" rIns="0" bIns="0" rtlCol="0" anchor="ctr"/>
          <a:lstStyle/>
          <a:p>
            <a:pPr algn="ctr" indent="0" marL="0">
              <a:buNone/>
            </a:pPr>
            <a:r>
              <a:rPr lang="en-US" sz="750" dirty="0">
                <a:solidFill>
                  <a:srgbClr val="6B7C8F"/>
                </a:solidFill>
                <a:latin typeface="Calibri" pitchFamily="34" charset="0"/>
                <a:ea typeface="Calibri" pitchFamily="34" charset="-122"/>
                <a:cs typeface="Calibri" pitchFamily="34" charset="-120"/>
              </a:rPr>
              <a:t>Sprint 1</a:t>
            </a:r>
            <a:endParaRPr lang="en-US" sz="750" dirty="0"/>
          </a:p>
        </p:txBody>
      </p:sp>
      <p:sp>
        <p:nvSpPr>
          <p:cNvPr id="10" name="Shape 8"/>
          <p:cNvSpPr/>
          <p:nvPr/>
        </p:nvSpPr>
        <p:spPr>
          <a:xfrm>
            <a:off x="1938528" y="1773936"/>
            <a:ext cx="1225296" cy="585216"/>
          </a:xfrm>
          <a:prstGeom prst="rect">
            <a:avLst/>
          </a:prstGeom>
          <a:solidFill>
            <a:srgbClr val="FFFFFF"/>
          </a:solidFill>
          <a:ln w="12700">
            <a:solidFill>
              <a:srgbClr val="FFFFFF"/>
            </a:solidFill>
            <a:prstDash val="solid"/>
          </a:ln>
        </p:spPr>
      </p:sp>
      <p:sp>
        <p:nvSpPr>
          <p:cNvPr id="11" name="Text 9"/>
          <p:cNvSpPr/>
          <p:nvPr/>
        </p:nvSpPr>
        <p:spPr>
          <a:xfrm>
            <a:off x="1993392" y="1792224"/>
            <a:ext cx="1115568" cy="310896"/>
          </a:xfrm>
          <a:prstGeom prst="rect">
            <a:avLst/>
          </a:prstGeom>
          <a:noFill/>
          <a:ln/>
        </p:spPr>
        <p:txBody>
          <a:bodyPr wrap="square" lIns="0" tIns="0" rIns="0" bIns="0" rtlCol="0" anchor="ctr"/>
          <a:lstStyle/>
          <a:p>
            <a:pPr algn="ctr" indent="0" marL="0">
              <a:buNone/>
            </a:pPr>
            <a:r>
              <a:rPr lang="en-US" sz="850" b="1" dirty="0">
                <a:solidFill>
                  <a:srgbClr val="0B6E8C"/>
                </a:solidFill>
                <a:latin typeface="Calibri" pitchFamily="34" charset="0"/>
                <a:ea typeface="Calibri" pitchFamily="34" charset="-122"/>
                <a:cs typeface="Calibri" pitchFamily="34" charset="-120"/>
              </a:rPr>
              <a:t>Design and</a:t>
            </a:r>
            <a:endParaRPr lang="en-US" sz="850" dirty="0"/>
          </a:p>
          <a:p>
            <a:pPr algn="ctr" indent="0" marL="0">
              <a:buNone/>
            </a:pPr>
            <a:r>
              <a:rPr lang="en-US" sz="850" b="1" dirty="0">
                <a:solidFill>
                  <a:srgbClr val="0B6E8C"/>
                </a:solidFill>
                <a:latin typeface="Calibri" pitchFamily="34" charset="0"/>
                <a:ea typeface="Calibri" pitchFamily="34" charset="-122"/>
                <a:cs typeface="Calibri" pitchFamily="34" charset="-120"/>
              </a:rPr>
              <a:t>Exploration</a:t>
            </a:r>
            <a:endParaRPr lang="en-US" sz="850" dirty="0"/>
          </a:p>
        </p:txBody>
      </p:sp>
      <p:sp>
        <p:nvSpPr>
          <p:cNvPr id="12" name="Text 10"/>
          <p:cNvSpPr/>
          <p:nvPr/>
        </p:nvSpPr>
        <p:spPr>
          <a:xfrm>
            <a:off x="1993392" y="2103120"/>
            <a:ext cx="1115568" cy="201168"/>
          </a:xfrm>
          <a:prstGeom prst="rect">
            <a:avLst/>
          </a:prstGeom>
          <a:noFill/>
          <a:ln/>
        </p:spPr>
        <p:txBody>
          <a:bodyPr wrap="square" lIns="0" tIns="0" rIns="0" bIns="0" rtlCol="0" anchor="ctr"/>
          <a:lstStyle/>
          <a:p>
            <a:pPr algn="ctr" indent="0" marL="0">
              <a:buNone/>
            </a:pPr>
            <a:r>
              <a:rPr lang="en-US" sz="750" dirty="0">
                <a:solidFill>
                  <a:srgbClr val="6B7C8F"/>
                </a:solidFill>
                <a:latin typeface="Calibri" pitchFamily="34" charset="0"/>
                <a:ea typeface="Calibri" pitchFamily="34" charset="-122"/>
                <a:cs typeface="Calibri" pitchFamily="34" charset="-120"/>
              </a:rPr>
              <a:t>Sprints 2–3</a:t>
            </a:r>
            <a:endParaRPr lang="en-US" sz="750" dirty="0"/>
          </a:p>
        </p:txBody>
      </p:sp>
      <p:sp>
        <p:nvSpPr>
          <p:cNvPr id="13" name="Shape 11"/>
          <p:cNvSpPr/>
          <p:nvPr/>
        </p:nvSpPr>
        <p:spPr>
          <a:xfrm>
            <a:off x="3310128" y="1773936"/>
            <a:ext cx="1225296" cy="585216"/>
          </a:xfrm>
          <a:prstGeom prst="rect">
            <a:avLst/>
          </a:prstGeom>
          <a:solidFill>
            <a:srgbClr val="FFFFFF"/>
          </a:solidFill>
          <a:ln w="12700">
            <a:solidFill>
              <a:srgbClr val="FFFFFF"/>
            </a:solidFill>
            <a:prstDash val="solid"/>
          </a:ln>
        </p:spPr>
      </p:sp>
      <p:sp>
        <p:nvSpPr>
          <p:cNvPr id="14" name="Text 12"/>
          <p:cNvSpPr/>
          <p:nvPr/>
        </p:nvSpPr>
        <p:spPr>
          <a:xfrm>
            <a:off x="3364992" y="1792224"/>
            <a:ext cx="1115568" cy="310896"/>
          </a:xfrm>
          <a:prstGeom prst="rect">
            <a:avLst/>
          </a:prstGeom>
          <a:noFill/>
          <a:ln/>
        </p:spPr>
        <p:txBody>
          <a:bodyPr wrap="square" lIns="0" tIns="0" rIns="0" bIns="0" rtlCol="0" anchor="ctr"/>
          <a:lstStyle/>
          <a:p>
            <a:pPr algn="ctr" indent="0" marL="0">
              <a:buNone/>
            </a:pPr>
            <a:r>
              <a:rPr lang="en-US" sz="850" b="1" dirty="0">
                <a:solidFill>
                  <a:srgbClr val="B8860B"/>
                </a:solidFill>
                <a:latin typeface="Calibri" pitchFamily="34" charset="0"/>
                <a:ea typeface="Calibri" pitchFamily="34" charset="-122"/>
                <a:cs typeface="Calibri" pitchFamily="34" charset="-120"/>
              </a:rPr>
              <a:t>Implementation</a:t>
            </a:r>
            <a:endParaRPr lang="en-US" sz="850" dirty="0"/>
          </a:p>
        </p:txBody>
      </p:sp>
      <p:sp>
        <p:nvSpPr>
          <p:cNvPr id="15" name="Text 13"/>
          <p:cNvSpPr/>
          <p:nvPr/>
        </p:nvSpPr>
        <p:spPr>
          <a:xfrm>
            <a:off x="3364992" y="2103120"/>
            <a:ext cx="1115568" cy="201168"/>
          </a:xfrm>
          <a:prstGeom prst="rect">
            <a:avLst/>
          </a:prstGeom>
          <a:noFill/>
          <a:ln/>
        </p:spPr>
        <p:txBody>
          <a:bodyPr wrap="square" lIns="0" tIns="0" rIns="0" bIns="0" rtlCol="0" anchor="ctr"/>
          <a:lstStyle/>
          <a:p>
            <a:pPr algn="ctr" indent="0" marL="0">
              <a:buNone/>
            </a:pPr>
            <a:r>
              <a:rPr lang="en-US" sz="750" dirty="0">
                <a:solidFill>
                  <a:srgbClr val="6B7C8F"/>
                </a:solidFill>
                <a:latin typeface="Calibri" pitchFamily="34" charset="0"/>
                <a:ea typeface="Calibri" pitchFamily="34" charset="-122"/>
                <a:cs typeface="Calibri" pitchFamily="34" charset="-120"/>
              </a:rPr>
              <a:t>Sprints 4–5</a:t>
            </a:r>
            <a:endParaRPr lang="en-US" sz="750" dirty="0"/>
          </a:p>
        </p:txBody>
      </p:sp>
      <p:sp>
        <p:nvSpPr>
          <p:cNvPr id="16" name="Shape 14"/>
          <p:cNvSpPr/>
          <p:nvPr/>
        </p:nvSpPr>
        <p:spPr>
          <a:xfrm>
            <a:off x="4681728" y="1773936"/>
            <a:ext cx="1225296" cy="585216"/>
          </a:xfrm>
          <a:prstGeom prst="rect">
            <a:avLst/>
          </a:prstGeom>
          <a:solidFill>
            <a:srgbClr val="FFFFFF"/>
          </a:solidFill>
          <a:ln w="12700">
            <a:solidFill>
              <a:srgbClr val="FFFFFF"/>
            </a:solidFill>
            <a:prstDash val="solid"/>
          </a:ln>
        </p:spPr>
      </p:sp>
      <p:sp>
        <p:nvSpPr>
          <p:cNvPr id="17" name="Text 15"/>
          <p:cNvSpPr/>
          <p:nvPr/>
        </p:nvSpPr>
        <p:spPr>
          <a:xfrm>
            <a:off x="4736592" y="1792224"/>
            <a:ext cx="1115568" cy="310896"/>
          </a:xfrm>
          <a:prstGeom prst="rect">
            <a:avLst/>
          </a:prstGeom>
          <a:noFill/>
          <a:ln/>
        </p:spPr>
        <p:txBody>
          <a:bodyPr wrap="square" lIns="0" tIns="0" rIns="0" bIns="0" rtlCol="0" anchor="ctr"/>
          <a:lstStyle/>
          <a:p>
            <a:pPr algn="ctr" indent="0" marL="0">
              <a:buNone/>
            </a:pPr>
            <a:r>
              <a:rPr lang="en-US" sz="850" b="1" dirty="0">
                <a:solidFill>
                  <a:srgbClr val="B5281C"/>
                </a:solidFill>
                <a:latin typeface="Calibri" pitchFamily="34" charset="0"/>
                <a:ea typeface="Calibri" pitchFamily="34" charset="-122"/>
                <a:cs typeface="Calibri" pitchFamily="34" charset="-120"/>
              </a:rPr>
              <a:t>Testing</a:t>
            </a:r>
            <a:endParaRPr lang="en-US" sz="850" dirty="0"/>
          </a:p>
        </p:txBody>
      </p:sp>
      <p:sp>
        <p:nvSpPr>
          <p:cNvPr id="18" name="Text 16"/>
          <p:cNvSpPr/>
          <p:nvPr/>
        </p:nvSpPr>
        <p:spPr>
          <a:xfrm>
            <a:off x="4736592" y="2103120"/>
            <a:ext cx="1115568" cy="201168"/>
          </a:xfrm>
          <a:prstGeom prst="rect">
            <a:avLst/>
          </a:prstGeom>
          <a:noFill/>
          <a:ln/>
        </p:spPr>
        <p:txBody>
          <a:bodyPr wrap="square" lIns="0" tIns="0" rIns="0" bIns="0" rtlCol="0" anchor="ctr"/>
          <a:lstStyle/>
          <a:p>
            <a:pPr algn="ctr" indent="0" marL="0">
              <a:buNone/>
            </a:pPr>
            <a:r>
              <a:rPr lang="en-US" sz="750" dirty="0">
                <a:solidFill>
                  <a:srgbClr val="6B7C8F"/>
                </a:solidFill>
                <a:latin typeface="Calibri" pitchFamily="34" charset="0"/>
                <a:ea typeface="Calibri" pitchFamily="34" charset="-122"/>
                <a:cs typeface="Calibri" pitchFamily="34" charset="-120"/>
              </a:rPr>
              <a:t>Sprint 6</a:t>
            </a:r>
            <a:endParaRPr lang="en-US" sz="750" dirty="0"/>
          </a:p>
        </p:txBody>
      </p:sp>
      <p:sp>
        <p:nvSpPr>
          <p:cNvPr id="19" name="Shape 17"/>
          <p:cNvSpPr/>
          <p:nvPr/>
        </p:nvSpPr>
        <p:spPr>
          <a:xfrm>
            <a:off x="6053328" y="1773936"/>
            <a:ext cx="1225296" cy="585216"/>
          </a:xfrm>
          <a:prstGeom prst="rect">
            <a:avLst/>
          </a:prstGeom>
          <a:solidFill>
            <a:srgbClr val="FFFFFF"/>
          </a:solidFill>
          <a:ln w="12700">
            <a:solidFill>
              <a:srgbClr val="FFFFFF"/>
            </a:solidFill>
            <a:prstDash val="solid"/>
          </a:ln>
        </p:spPr>
      </p:sp>
      <p:sp>
        <p:nvSpPr>
          <p:cNvPr id="20" name="Text 18"/>
          <p:cNvSpPr/>
          <p:nvPr/>
        </p:nvSpPr>
        <p:spPr>
          <a:xfrm>
            <a:off x="6108192" y="1792224"/>
            <a:ext cx="1115568" cy="310896"/>
          </a:xfrm>
          <a:prstGeom prst="rect">
            <a:avLst/>
          </a:prstGeom>
          <a:noFill/>
          <a:ln/>
        </p:spPr>
        <p:txBody>
          <a:bodyPr wrap="square" lIns="0" tIns="0" rIns="0" bIns="0" rtlCol="0" anchor="ctr"/>
          <a:lstStyle/>
          <a:p>
            <a:pPr algn="ctr" indent="0" marL="0">
              <a:buNone/>
            </a:pPr>
            <a:r>
              <a:rPr lang="en-US" sz="850" b="1" dirty="0">
                <a:solidFill>
                  <a:srgbClr val="5B2D8E"/>
                </a:solidFill>
                <a:latin typeface="Calibri" pitchFamily="34" charset="0"/>
                <a:ea typeface="Calibri" pitchFamily="34" charset="-122"/>
                <a:cs typeface="Calibri" pitchFamily="34" charset="-120"/>
              </a:rPr>
              <a:t>Polish</a:t>
            </a:r>
            <a:endParaRPr lang="en-US" sz="850" dirty="0"/>
          </a:p>
        </p:txBody>
      </p:sp>
      <p:sp>
        <p:nvSpPr>
          <p:cNvPr id="21" name="Text 19"/>
          <p:cNvSpPr/>
          <p:nvPr/>
        </p:nvSpPr>
        <p:spPr>
          <a:xfrm>
            <a:off x="6108192" y="2103120"/>
            <a:ext cx="1115568" cy="201168"/>
          </a:xfrm>
          <a:prstGeom prst="rect">
            <a:avLst/>
          </a:prstGeom>
          <a:noFill/>
          <a:ln/>
        </p:spPr>
        <p:txBody>
          <a:bodyPr wrap="square" lIns="0" tIns="0" rIns="0" bIns="0" rtlCol="0" anchor="ctr"/>
          <a:lstStyle/>
          <a:p>
            <a:pPr algn="ctr" indent="0" marL="0">
              <a:buNone/>
            </a:pPr>
            <a:r>
              <a:rPr lang="en-US" sz="750" dirty="0">
                <a:solidFill>
                  <a:srgbClr val="6B7C8F"/>
                </a:solidFill>
                <a:latin typeface="Calibri" pitchFamily="34" charset="0"/>
                <a:ea typeface="Calibri" pitchFamily="34" charset="-122"/>
                <a:cs typeface="Calibri" pitchFamily="34" charset="-120"/>
              </a:rPr>
              <a:t>Sprint 7</a:t>
            </a:r>
            <a:endParaRPr lang="en-US" sz="750" dirty="0"/>
          </a:p>
        </p:txBody>
      </p:sp>
      <p:sp>
        <p:nvSpPr>
          <p:cNvPr id="22" name="Shape 20"/>
          <p:cNvSpPr/>
          <p:nvPr/>
        </p:nvSpPr>
        <p:spPr>
          <a:xfrm>
            <a:off x="7424928" y="1773936"/>
            <a:ext cx="1225296" cy="585216"/>
          </a:xfrm>
          <a:prstGeom prst="rect">
            <a:avLst/>
          </a:prstGeom>
          <a:solidFill>
            <a:srgbClr val="FFFFFF"/>
          </a:solidFill>
          <a:ln w="12700">
            <a:solidFill>
              <a:srgbClr val="FFFFFF"/>
            </a:solidFill>
            <a:prstDash val="solid"/>
          </a:ln>
        </p:spPr>
      </p:sp>
      <p:sp>
        <p:nvSpPr>
          <p:cNvPr id="23" name="Text 21"/>
          <p:cNvSpPr/>
          <p:nvPr/>
        </p:nvSpPr>
        <p:spPr>
          <a:xfrm>
            <a:off x="7479792" y="1792224"/>
            <a:ext cx="1115568" cy="310896"/>
          </a:xfrm>
          <a:prstGeom prst="rect">
            <a:avLst/>
          </a:prstGeom>
          <a:noFill/>
          <a:ln/>
        </p:spPr>
        <p:txBody>
          <a:bodyPr wrap="square" lIns="0" tIns="0" rIns="0" bIns="0" rtlCol="0" anchor="ctr"/>
          <a:lstStyle/>
          <a:p>
            <a:pPr algn="ctr" indent="0" marL="0">
              <a:buNone/>
            </a:pPr>
            <a:r>
              <a:rPr lang="en-US" sz="850" b="1" dirty="0">
                <a:solidFill>
                  <a:srgbClr val="1A7A4A"/>
                </a:solidFill>
                <a:latin typeface="Calibri" pitchFamily="34" charset="0"/>
                <a:ea typeface="Calibri" pitchFamily="34" charset="-122"/>
                <a:cs typeface="Calibri" pitchFamily="34" charset="-120"/>
              </a:rPr>
              <a:t>Documentation</a:t>
            </a:r>
            <a:endParaRPr lang="en-US" sz="850" dirty="0"/>
          </a:p>
        </p:txBody>
      </p:sp>
      <p:sp>
        <p:nvSpPr>
          <p:cNvPr id="24" name="Text 22"/>
          <p:cNvSpPr/>
          <p:nvPr/>
        </p:nvSpPr>
        <p:spPr>
          <a:xfrm>
            <a:off x="7479792" y="2103120"/>
            <a:ext cx="1115568" cy="201168"/>
          </a:xfrm>
          <a:prstGeom prst="rect">
            <a:avLst/>
          </a:prstGeom>
          <a:noFill/>
          <a:ln/>
        </p:spPr>
        <p:txBody>
          <a:bodyPr wrap="square" lIns="0" tIns="0" rIns="0" bIns="0" rtlCol="0" anchor="ctr"/>
          <a:lstStyle/>
          <a:p>
            <a:pPr algn="ctr" indent="0" marL="0">
              <a:buNone/>
            </a:pPr>
            <a:r>
              <a:rPr lang="en-US" sz="750" dirty="0">
                <a:solidFill>
                  <a:srgbClr val="6B7C8F"/>
                </a:solidFill>
                <a:latin typeface="Calibri" pitchFamily="34" charset="0"/>
                <a:ea typeface="Calibri" pitchFamily="34" charset="-122"/>
                <a:cs typeface="Calibri" pitchFamily="34" charset="-120"/>
              </a:rPr>
              <a:t>Sprint 8</a:t>
            </a:r>
            <a:endParaRPr lang="en-US" sz="750" dirty="0"/>
          </a:p>
        </p:txBody>
      </p:sp>
      <p:sp>
        <p:nvSpPr>
          <p:cNvPr id="25" name="Text 23"/>
          <p:cNvSpPr/>
          <p:nvPr/>
        </p:nvSpPr>
        <p:spPr>
          <a:xfrm>
            <a:off x="457200" y="2706624"/>
            <a:ext cx="4572000" cy="292608"/>
          </a:xfrm>
          <a:prstGeom prst="rect">
            <a:avLst/>
          </a:prstGeom>
          <a:noFill/>
          <a:ln/>
        </p:spPr>
        <p:txBody>
          <a:bodyPr wrap="square" lIns="0" tIns="0" rIns="0" bIns="0" rtlCol="0" anchor="ctr"/>
          <a:lstStyle/>
          <a:p>
            <a:pPr indent="0" marL="0">
              <a:buNone/>
            </a:pPr>
            <a:r>
              <a:rPr lang="en-US" sz="1300" b="1" dirty="0">
                <a:solidFill>
                  <a:srgbClr val="1B3A6B"/>
                </a:solidFill>
                <a:latin typeface="Cambria" pitchFamily="34" charset="0"/>
                <a:ea typeface="Cambria" pitchFamily="34" charset="-122"/>
                <a:cs typeface="Cambria" pitchFamily="34" charset="-120"/>
              </a:rPr>
              <a:t>Four Key Lessons Learned</a:t>
            </a:r>
            <a:endParaRPr lang="en-US" sz="1300" dirty="0"/>
          </a:p>
        </p:txBody>
      </p:sp>
      <p:sp>
        <p:nvSpPr>
          <p:cNvPr id="26" name="Shape 24"/>
          <p:cNvSpPr/>
          <p:nvPr/>
        </p:nvSpPr>
        <p:spPr>
          <a:xfrm>
            <a:off x="457200" y="3072384"/>
            <a:ext cx="329184" cy="329184"/>
          </a:xfrm>
          <a:prstGeom prst="ellipse">
            <a:avLst/>
          </a:prstGeom>
          <a:solidFill>
            <a:srgbClr val="1B3A6B"/>
          </a:solidFill>
          <a:ln w="12700">
            <a:solidFill>
              <a:srgbClr val="1B3A6B"/>
            </a:solidFill>
            <a:prstDash val="solid"/>
          </a:ln>
        </p:spPr>
      </p:sp>
      <p:sp>
        <p:nvSpPr>
          <p:cNvPr id="27" name="Text 25"/>
          <p:cNvSpPr/>
          <p:nvPr/>
        </p:nvSpPr>
        <p:spPr>
          <a:xfrm>
            <a:off x="457200" y="3090672"/>
            <a:ext cx="32918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8" name="Text 26"/>
          <p:cNvSpPr/>
          <p:nvPr/>
        </p:nvSpPr>
        <p:spPr>
          <a:xfrm>
            <a:off x="932688" y="3072384"/>
            <a:ext cx="2286000" cy="274320"/>
          </a:xfrm>
          <a:prstGeom prst="rect">
            <a:avLst/>
          </a:prstGeom>
          <a:noFill/>
          <a:ln/>
        </p:spPr>
        <p:txBody>
          <a:bodyPr wrap="square" lIns="0" tIns="0" rIns="0" bIns="0" rtlCol="0" anchor="ctr"/>
          <a:lstStyle/>
          <a:p>
            <a:pPr indent="0" marL="0">
              <a:buNone/>
            </a:pPr>
            <a:r>
              <a:rPr lang="en-US" sz="1000" b="1" dirty="0">
                <a:solidFill>
                  <a:srgbClr val="1B3A6B"/>
                </a:solidFill>
                <a:latin typeface="Calibri" pitchFamily="34" charset="0"/>
                <a:ea typeface="Calibri" pitchFamily="34" charset="-122"/>
                <a:cs typeface="Calibri" pitchFamily="34" charset="-120"/>
              </a:rPr>
              <a:t>Clear role definition from day one:</a:t>
            </a:r>
            <a:endParaRPr lang="en-US" sz="1000" dirty="0"/>
          </a:p>
        </p:txBody>
      </p:sp>
      <p:sp>
        <p:nvSpPr>
          <p:cNvPr id="29" name="Text 27"/>
          <p:cNvSpPr/>
          <p:nvPr/>
        </p:nvSpPr>
        <p:spPr>
          <a:xfrm>
            <a:off x="3273552" y="3072384"/>
            <a:ext cx="5394960" cy="347472"/>
          </a:xfrm>
          <a:prstGeom prst="rect">
            <a:avLst/>
          </a:prstGeom>
          <a:noFill/>
          <a:ln/>
        </p:spPr>
        <p:txBody>
          <a:bodyPr wrap="square" lIns="0" tIns="0" rIns="0" bIns="0" rtlCol="0" anchor="ctr"/>
          <a:lstStyle/>
          <a:p>
            <a:pPr indent="0" marL="0">
              <a:buNone/>
            </a:pPr>
            <a:r>
              <a:rPr lang="en-US" sz="900" dirty="0">
                <a:solidFill>
                  <a:srgbClr val="6B7C8F"/>
                </a:solidFill>
                <a:latin typeface="Calibri" pitchFamily="34" charset="0"/>
                <a:ea typeface="Calibri" pitchFamily="34" charset="-122"/>
                <a:cs typeface="Calibri" pitchFamily="34" charset="-120"/>
              </a:rPr>
              <a:t>Because everyone knew exactly what they were responsible for from Sprint 1, there was almost no overlap or duplication of work throughout the entire eight-month project.</a:t>
            </a:r>
            <a:endParaRPr lang="en-US" sz="900" dirty="0"/>
          </a:p>
        </p:txBody>
      </p:sp>
      <p:sp>
        <p:nvSpPr>
          <p:cNvPr id="30" name="Shape 28"/>
          <p:cNvSpPr/>
          <p:nvPr/>
        </p:nvSpPr>
        <p:spPr>
          <a:xfrm>
            <a:off x="457200" y="3529584"/>
            <a:ext cx="329184" cy="329184"/>
          </a:xfrm>
          <a:prstGeom prst="ellipse">
            <a:avLst/>
          </a:prstGeom>
          <a:solidFill>
            <a:srgbClr val="1B3A6B"/>
          </a:solidFill>
          <a:ln w="12700">
            <a:solidFill>
              <a:srgbClr val="1B3A6B"/>
            </a:solidFill>
            <a:prstDash val="solid"/>
          </a:ln>
        </p:spPr>
      </p:sp>
      <p:sp>
        <p:nvSpPr>
          <p:cNvPr id="31" name="Text 29"/>
          <p:cNvSpPr/>
          <p:nvPr/>
        </p:nvSpPr>
        <p:spPr>
          <a:xfrm>
            <a:off x="457200" y="3547872"/>
            <a:ext cx="32918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30"/>
          <p:cNvSpPr/>
          <p:nvPr/>
        </p:nvSpPr>
        <p:spPr>
          <a:xfrm>
            <a:off x="932688" y="3529584"/>
            <a:ext cx="2286000" cy="274320"/>
          </a:xfrm>
          <a:prstGeom prst="rect">
            <a:avLst/>
          </a:prstGeom>
          <a:noFill/>
          <a:ln/>
        </p:spPr>
        <p:txBody>
          <a:bodyPr wrap="square" lIns="0" tIns="0" rIns="0" bIns="0" rtlCol="0" anchor="ctr"/>
          <a:lstStyle/>
          <a:p>
            <a:pPr indent="0" marL="0">
              <a:buNone/>
            </a:pPr>
            <a:r>
              <a:rPr lang="en-US" sz="1000" b="1" dirty="0">
                <a:solidFill>
                  <a:srgbClr val="1B3A6B"/>
                </a:solidFill>
                <a:latin typeface="Calibri" pitchFamily="34" charset="0"/>
                <a:ea typeface="Calibri" pitchFamily="34" charset="-122"/>
                <a:cs typeface="Calibri" pitchFamily="34" charset="-120"/>
              </a:rPr>
              <a:t>Jira as single source of truth:</a:t>
            </a:r>
            <a:endParaRPr lang="en-US" sz="1000" dirty="0"/>
          </a:p>
        </p:txBody>
      </p:sp>
      <p:sp>
        <p:nvSpPr>
          <p:cNvPr id="33" name="Text 31"/>
          <p:cNvSpPr/>
          <p:nvPr/>
        </p:nvSpPr>
        <p:spPr>
          <a:xfrm>
            <a:off x="3273552" y="3529584"/>
            <a:ext cx="5394960" cy="347472"/>
          </a:xfrm>
          <a:prstGeom prst="rect">
            <a:avLst/>
          </a:prstGeom>
          <a:noFill/>
          <a:ln/>
        </p:spPr>
        <p:txBody>
          <a:bodyPr wrap="square" lIns="0" tIns="0" rIns="0" bIns="0" rtlCol="0" anchor="ctr"/>
          <a:lstStyle/>
          <a:p>
            <a:pPr indent="0" marL="0">
              <a:buNone/>
            </a:pPr>
            <a:r>
              <a:rPr lang="en-US" sz="900" dirty="0">
                <a:solidFill>
                  <a:srgbClr val="6B7C8F"/>
                </a:solidFill>
                <a:latin typeface="Calibri" pitchFamily="34" charset="0"/>
                <a:ea typeface="Calibri" pitchFamily="34" charset="-122"/>
                <a:cs typeface="Calibri" pitchFamily="34" charset="-120"/>
              </a:rPr>
              <a:t>Consistent board use meant no missed tasks, no duplicated work and no ambiguity. Anyone could check the board and see the complete state of the project at any time.</a:t>
            </a:r>
            <a:endParaRPr lang="en-US" sz="900" dirty="0"/>
          </a:p>
        </p:txBody>
      </p:sp>
      <p:sp>
        <p:nvSpPr>
          <p:cNvPr id="34" name="Shape 32"/>
          <p:cNvSpPr/>
          <p:nvPr/>
        </p:nvSpPr>
        <p:spPr>
          <a:xfrm>
            <a:off x="457200" y="3986784"/>
            <a:ext cx="329184" cy="329184"/>
          </a:xfrm>
          <a:prstGeom prst="ellipse">
            <a:avLst/>
          </a:prstGeom>
          <a:solidFill>
            <a:srgbClr val="1B3A6B"/>
          </a:solidFill>
          <a:ln w="12700">
            <a:solidFill>
              <a:srgbClr val="1B3A6B"/>
            </a:solidFill>
            <a:prstDash val="solid"/>
          </a:ln>
        </p:spPr>
      </p:sp>
      <p:sp>
        <p:nvSpPr>
          <p:cNvPr id="35" name="Text 33"/>
          <p:cNvSpPr/>
          <p:nvPr/>
        </p:nvSpPr>
        <p:spPr>
          <a:xfrm>
            <a:off x="457200" y="4005072"/>
            <a:ext cx="32918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6" name="Text 34"/>
          <p:cNvSpPr/>
          <p:nvPr/>
        </p:nvSpPr>
        <p:spPr>
          <a:xfrm>
            <a:off x="932688" y="3986784"/>
            <a:ext cx="2286000" cy="274320"/>
          </a:xfrm>
          <a:prstGeom prst="rect">
            <a:avLst/>
          </a:prstGeom>
          <a:noFill/>
          <a:ln/>
        </p:spPr>
        <p:txBody>
          <a:bodyPr wrap="square" lIns="0" tIns="0" rIns="0" bIns="0" rtlCol="0" anchor="ctr"/>
          <a:lstStyle/>
          <a:p>
            <a:pPr indent="0" marL="0">
              <a:buNone/>
            </a:pPr>
            <a:r>
              <a:rPr lang="en-US" sz="1000" b="1" dirty="0">
                <a:solidFill>
                  <a:srgbClr val="1B3A6B"/>
                </a:solidFill>
                <a:latin typeface="Calibri" pitchFamily="34" charset="0"/>
                <a:ea typeface="Calibri" pitchFamily="34" charset="-122"/>
                <a:cs typeface="Calibri" pitchFamily="34" charset="-120"/>
              </a:rPr>
              <a:t>Data quality matters more than model sophistication:</a:t>
            </a:r>
            <a:endParaRPr lang="en-US" sz="1000" dirty="0"/>
          </a:p>
        </p:txBody>
      </p:sp>
      <p:sp>
        <p:nvSpPr>
          <p:cNvPr id="37" name="Text 35"/>
          <p:cNvSpPr/>
          <p:nvPr/>
        </p:nvSpPr>
        <p:spPr>
          <a:xfrm>
            <a:off x="3273552" y="3986784"/>
            <a:ext cx="5394960" cy="347472"/>
          </a:xfrm>
          <a:prstGeom prst="rect">
            <a:avLst/>
          </a:prstGeom>
          <a:noFill/>
          <a:ln/>
        </p:spPr>
        <p:txBody>
          <a:bodyPr wrap="square" lIns="0" tIns="0" rIns="0" bIns="0" rtlCol="0" anchor="ctr"/>
          <a:lstStyle/>
          <a:p>
            <a:pPr indent="0" marL="0">
              <a:buNone/>
            </a:pPr>
            <a:r>
              <a:rPr lang="en-US" sz="900" dirty="0">
                <a:solidFill>
                  <a:srgbClr val="6B7C8F"/>
                </a:solidFill>
                <a:latin typeface="Calibri" pitchFamily="34" charset="0"/>
                <a:ea typeface="Calibri" pitchFamily="34" charset="-122"/>
                <a:cs typeface="Calibri" pitchFamily="34" charset="-120"/>
              </a:rPr>
              <a:t>Arham's Sprint 2 preprocessing work directly produced Hasan's Sprint 3 R squared of 0.9504. Rushing the cleaning stage would have significantly reduced model accuracy.</a:t>
            </a:r>
            <a:endParaRPr lang="en-US" sz="900" dirty="0"/>
          </a:p>
        </p:txBody>
      </p:sp>
      <p:sp>
        <p:nvSpPr>
          <p:cNvPr id="38" name="Shape 36"/>
          <p:cNvSpPr/>
          <p:nvPr/>
        </p:nvSpPr>
        <p:spPr>
          <a:xfrm>
            <a:off x="457200" y="4443984"/>
            <a:ext cx="329184" cy="329184"/>
          </a:xfrm>
          <a:prstGeom prst="ellipse">
            <a:avLst/>
          </a:prstGeom>
          <a:solidFill>
            <a:srgbClr val="1B3A6B"/>
          </a:solidFill>
          <a:ln w="12700">
            <a:solidFill>
              <a:srgbClr val="1B3A6B"/>
            </a:solidFill>
            <a:prstDash val="solid"/>
          </a:ln>
        </p:spPr>
      </p:sp>
      <p:sp>
        <p:nvSpPr>
          <p:cNvPr id="39" name="Text 37"/>
          <p:cNvSpPr/>
          <p:nvPr/>
        </p:nvSpPr>
        <p:spPr>
          <a:xfrm>
            <a:off x="457200" y="4462272"/>
            <a:ext cx="32918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0" name="Text 38"/>
          <p:cNvSpPr/>
          <p:nvPr/>
        </p:nvSpPr>
        <p:spPr>
          <a:xfrm>
            <a:off x="932688" y="4443984"/>
            <a:ext cx="2286000" cy="274320"/>
          </a:xfrm>
          <a:prstGeom prst="rect">
            <a:avLst/>
          </a:prstGeom>
          <a:noFill/>
          <a:ln/>
        </p:spPr>
        <p:txBody>
          <a:bodyPr wrap="square" lIns="0" tIns="0" rIns="0" bIns="0" rtlCol="0" anchor="ctr"/>
          <a:lstStyle/>
          <a:p>
            <a:pPr indent="0" marL="0">
              <a:buNone/>
            </a:pPr>
            <a:r>
              <a:rPr lang="en-US" sz="1000" b="1" dirty="0">
                <a:solidFill>
                  <a:srgbClr val="1B3A6B"/>
                </a:solidFill>
                <a:latin typeface="Calibri" pitchFamily="34" charset="0"/>
                <a:ea typeface="Calibri" pitchFamily="34" charset="-122"/>
                <a:cs typeface="Calibri" pitchFamily="34" charset="-120"/>
              </a:rPr>
              <a:t>Test integration early in the sprint cycle:</a:t>
            </a:r>
            <a:endParaRPr lang="en-US" sz="1000" dirty="0"/>
          </a:p>
        </p:txBody>
      </p:sp>
      <p:sp>
        <p:nvSpPr>
          <p:cNvPr id="41" name="Text 39"/>
          <p:cNvSpPr/>
          <p:nvPr/>
        </p:nvSpPr>
        <p:spPr>
          <a:xfrm>
            <a:off x="3273552" y="4443984"/>
            <a:ext cx="5394960" cy="347472"/>
          </a:xfrm>
          <a:prstGeom prst="rect">
            <a:avLst/>
          </a:prstGeom>
          <a:noFill/>
          <a:ln/>
        </p:spPr>
        <p:txBody>
          <a:bodyPr wrap="square" lIns="0" tIns="0" rIns="0" bIns="0" rtlCol="0" anchor="ctr"/>
          <a:lstStyle/>
          <a:p>
            <a:pPr indent="0" marL="0">
              <a:buNone/>
            </a:pPr>
            <a:r>
              <a:rPr lang="en-US" sz="900" dirty="0">
                <a:solidFill>
                  <a:srgbClr val="6B7C8F"/>
                </a:solidFill>
                <a:latin typeface="Calibri" pitchFamily="34" charset="0"/>
                <a:ea typeface="Calibri" pitchFamily="34" charset="-122"/>
                <a:cs typeface="Calibri" pitchFamily="34" charset="-120"/>
              </a:rPr>
              <a:t>The CORS error in Sprint 6 cost debugging time. Testing the frontend-backend connection from Sprint 5 onwards would have been significantly less stressful for the team.</a:t>
            </a:r>
            <a:endParaRPr lang="en-US" sz="900" dirty="0"/>
          </a:p>
        </p:txBody>
      </p:sp>
      <p:sp>
        <p:nvSpPr>
          <p:cNvPr id="42" name="Text 40"/>
          <p:cNvSpPr/>
          <p:nvPr/>
        </p:nvSpPr>
        <p:spPr>
          <a:xfrm>
            <a:off x="457200" y="4901184"/>
            <a:ext cx="8229600" cy="182880"/>
          </a:xfrm>
          <a:prstGeom prst="rect">
            <a:avLst/>
          </a:prstGeom>
          <a:noFill/>
          <a:ln/>
        </p:spPr>
        <p:txBody>
          <a:bodyPr wrap="square" lIns="0" tIns="0" rIns="0" bIns="0" rtlCol="0" anchor="ctr"/>
          <a:lstStyle/>
          <a:p>
            <a:pPr indent="0" marL="0">
              <a:buNone/>
            </a:pPr>
            <a:r>
              <a:rPr lang="en-US" sz="800" i="1" dirty="0">
                <a:solidFill>
                  <a:srgbClr val="6B7C8F"/>
                </a:solidFill>
                <a:latin typeface="Calibri" pitchFamily="34" charset="0"/>
                <a:ea typeface="Calibri" pitchFamily="34" charset="-122"/>
                <a:cs typeface="Calibri" pitchFamily="34" charset="-120"/>
              </a:rPr>
              <a:t>Communication: Jira (project key AVA) as central task board — WhatsApp for daily updates, screenshots, quick questions and blocking issues.</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8229600" cy="219456"/>
          </a:xfrm>
          <a:prstGeom prst="rect">
            <a:avLst/>
          </a:prstGeom>
          <a:noFill/>
          <a:ln/>
        </p:spPr>
        <p:txBody>
          <a:bodyPr wrap="square" lIns="0" tIns="0" rIns="0" bIns="0" rtlCol="0" anchor="ctr"/>
          <a:lstStyle/>
          <a:p>
            <a:pPr indent="0" marL="0">
              <a:buNone/>
            </a:pPr>
            <a:r>
              <a:rPr lang="en-US" sz="850" b="1" spc="250" kern="0" dirty="0">
                <a:solidFill>
                  <a:srgbClr val="2C3E50"/>
                </a:solidFill>
                <a:latin typeface="Calibri" pitchFamily="34" charset="0"/>
                <a:ea typeface="Calibri" pitchFamily="34" charset="-122"/>
                <a:cs typeface="Calibri" pitchFamily="34" charset="-120"/>
              </a:rPr>
              <a:t>CHAPTER 7 — LEGAL, ETHICAL AND PROFESSIONAL ISSUES</a:t>
            </a:r>
            <a:endParaRPr lang="en-US" sz="85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000" b="1" dirty="0">
                <a:solidFill>
                  <a:srgbClr val="1B3A6B"/>
                </a:solidFill>
                <a:latin typeface="Cambria" pitchFamily="34" charset="0"/>
                <a:ea typeface="Cambria" pitchFamily="34" charset="-122"/>
                <a:cs typeface="Cambria" pitchFamily="34" charset="-120"/>
              </a:rPr>
              <a:t>Responsible AI — Built In From the Start</a:t>
            </a:r>
            <a:endParaRPr lang="en-US" sz="3000" dirty="0"/>
          </a:p>
        </p:txBody>
      </p:sp>
      <p:sp>
        <p:nvSpPr>
          <p:cNvPr id="4" name="Shape 2"/>
          <p:cNvSpPr/>
          <p:nvPr/>
        </p:nvSpPr>
        <p:spPr>
          <a:xfrm>
            <a:off x="457200" y="1225296"/>
            <a:ext cx="8229600" cy="20117"/>
          </a:xfrm>
          <a:prstGeom prst="rect">
            <a:avLst/>
          </a:prstGeom>
          <a:solidFill>
            <a:srgbClr val="E8EDF4"/>
          </a:solidFill>
          <a:ln w="12700">
            <a:solidFill>
              <a:srgbClr val="E8EDF4"/>
            </a:solidFill>
            <a:prstDash val="solid"/>
          </a:ln>
        </p:spPr>
      </p:sp>
      <p:sp>
        <p:nvSpPr>
          <p:cNvPr id="5" name="Shape 3"/>
          <p:cNvSpPr/>
          <p:nvPr/>
        </p:nvSpPr>
        <p:spPr>
          <a:xfrm>
            <a:off x="457200" y="1371600"/>
            <a:ext cx="4160520" cy="1664208"/>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6" name="Shape 4"/>
          <p:cNvSpPr/>
          <p:nvPr/>
        </p:nvSpPr>
        <p:spPr>
          <a:xfrm>
            <a:off x="457200" y="1371600"/>
            <a:ext cx="4160520" cy="50292"/>
          </a:xfrm>
          <a:prstGeom prst="rect">
            <a:avLst/>
          </a:prstGeom>
          <a:solidFill>
            <a:srgbClr val="0B6E8C"/>
          </a:solidFill>
          <a:ln w="12700">
            <a:solidFill>
              <a:srgbClr val="0B6E8C"/>
            </a:solidFill>
            <a:prstDash val="solid"/>
          </a:ln>
        </p:spPr>
      </p:sp>
      <p:sp>
        <p:nvSpPr>
          <p:cNvPr id="7" name="Shape 5"/>
          <p:cNvSpPr/>
          <p:nvPr/>
        </p:nvSpPr>
        <p:spPr>
          <a:xfrm>
            <a:off x="457200" y="1371600"/>
            <a:ext cx="50292" cy="1664208"/>
          </a:xfrm>
          <a:prstGeom prst="rect">
            <a:avLst/>
          </a:prstGeom>
          <a:solidFill>
            <a:srgbClr val="0B6E8C"/>
          </a:solidFill>
          <a:ln w="12700">
            <a:solidFill>
              <a:srgbClr val="0B6E8C"/>
            </a:solidFill>
            <a:prstDash val="solid"/>
          </a:ln>
        </p:spPr>
      </p:sp>
      <p:sp>
        <p:nvSpPr>
          <p:cNvPr id="8" name="Text 6"/>
          <p:cNvSpPr/>
          <p:nvPr/>
        </p:nvSpPr>
        <p:spPr>
          <a:xfrm>
            <a:off x="640080" y="1481328"/>
            <a:ext cx="3840480" cy="274320"/>
          </a:xfrm>
          <a:prstGeom prst="rect">
            <a:avLst/>
          </a:prstGeom>
          <a:noFill/>
          <a:ln/>
        </p:spPr>
        <p:txBody>
          <a:bodyPr wrap="square" lIns="0" tIns="0" rIns="0" bIns="0" rtlCol="0" anchor="ctr"/>
          <a:lstStyle/>
          <a:p>
            <a:pPr indent="0" marL="0">
              <a:buNone/>
            </a:pPr>
            <a:r>
              <a:rPr lang="en-US" sz="1100" b="1" dirty="0">
                <a:solidFill>
                  <a:srgbClr val="1B3A6B"/>
                </a:solidFill>
                <a:latin typeface="Calibri" pitchFamily="34" charset="0"/>
                <a:ea typeface="Calibri" pitchFamily="34" charset="-122"/>
                <a:cs typeface="Calibri" pitchFamily="34" charset="-120"/>
              </a:rPr>
              <a:t>01   GDPR Compliance</a:t>
            </a:r>
            <a:endParaRPr lang="en-US" sz="1100" dirty="0"/>
          </a:p>
        </p:txBody>
      </p:sp>
      <p:sp>
        <p:nvSpPr>
          <p:cNvPr id="9" name="Text 7"/>
          <p:cNvSpPr/>
          <p:nvPr/>
        </p:nvSpPr>
        <p:spPr>
          <a:xfrm>
            <a:off x="640080" y="1847088"/>
            <a:ext cx="3858768" cy="329184"/>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1.  Dataset contains zero personally identifiable information — no names, phones or email addresses included</a:t>
            </a:r>
            <a:endParaRPr lang="en-US" sz="900" dirty="0"/>
          </a:p>
        </p:txBody>
      </p:sp>
      <p:sp>
        <p:nvSpPr>
          <p:cNvPr id="10" name="Text 8"/>
          <p:cNvSpPr/>
          <p:nvPr/>
        </p:nvSpPr>
        <p:spPr>
          <a:xfrm>
            <a:off x="640080" y="2212848"/>
            <a:ext cx="3858768" cy="329184"/>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2.  No user data is collected, stored or logged anywhere in the system — privacy-by-design throughout</a:t>
            </a:r>
            <a:endParaRPr lang="en-US" sz="900" dirty="0"/>
          </a:p>
        </p:txBody>
      </p:sp>
      <p:sp>
        <p:nvSpPr>
          <p:cNvPr id="11" name="Text 9"/>
          <p:cNvSpPr/>
          <p:nvPr/>
        </p:nvSpPr>
        <p:spPr>
          <a:xfrm>
            <a:off x="640080" y="2578608"/>
            <a:ext cx="3858768" cy="329184"/>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3.  Data used solely for model training — minimisation and purpose limitation principles applied fully</a:t>
            </a:r>
            <a:endParaRPr lang="en-US" sz="900" dirty="0"/>
          </a:p>
        </p:txBody>
      </p:sp>
      <p:sp>
        <p:nvSpPr>
          <p:cNvPr id="12" name="Shape 10"/>
          <p:cNvSpPr/>
          <p:nvPr/>
        </p:nvSpPr>
        <p:spPr>
          <a:xfrm>
            <a:off x="4773168" y="1371600"/>
            <a:ext cx="4160520" cy="1664208"/>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13" name="Shape 11"/>
          <p:cNvSpPr/>
          <p:nvPr/>
        </p:nvSpPr>
        <p:spPr>
          <a:xfrm>
            <a:off x="4773168" y="1371600"/>
            <a:ext cx="4160520" cy="50292"/>
          </a:xfrm>
          <a:prstGeom prst="rect">
            <a:avLst/>
          </a:prstGeom>
          <a:solidFill>
            <a:srgbClr val="1B3A6B"/>
          </a:solidFill>
          <a:ln w="12700">
            <a:solidFill>
              <a:srgbClr val="1B3A6B"/>
            </a:solidFill>
            <a:prstDash val="solid"/>
          </a:ln>
        </p:spPr>
      </p:sp>
      <p:sp>
        <p:nvSpPr>
          <p:cNvPr id="14" name="Shape 12"/>
          <p:cNvSpPr/>
          <p:nvPr/>
        </p:nvSpPr>
        <p:spPr>
          <a:xfrm>
            <a:off x="4773168" y="1371600"/>
            <a:ext cx="50292" cy="1664208"/>
          </a:xfrm>
          <a:prstGeom prst="rect">
            <a:avLst/>
          </a:prstGeom>
          <a:solidFill>
            <a:srgbClr val="1B3A6B"/>
          </a:solidFill>
          <a:ln w="12700">
            <a:solidFill>
              <a:srgbClr val="1B3A6B"/>
            </a:solidFill>
            <a:prstDash val="solid"/>
          </a:ln>
        </p:spPr>
      </p:sp>
      <p:sp>
        <p:nvSpPr>
          <p:cNvPr id="15" name="Text 13"/>
          <p:cNvSpPr/>
          <p:nvPr/>
        </p:nvSpPr>
        <p:spPr>
          <a:xfrm>
            <a:off x="4956048" y="1481328"/>
            <a:ext cx="3840480" cy="274320"/>
          </a:xfrm>
          <a:prstGeom prst="rect">
            <a:avLst/>
          </a:prstGeom>
          <a:noFill/>
          <a:ln/>
        </p:spPr>
        <p:txBody>
          <a:bodyPr wrap="square" lIns="0" tIns="0" rIns="0" bIns="0" rtlCol="0" anchor="ctr"/>
          <a:lstStyle/>
          <a:p>
            <a:pPr indent="0" marL="0">
              <a:buNone/>
            </a:pPr>
            <a:r>
              <a:rPr lang="en-US" sz="1100" b="1" dirty="0">
                <a:solidFill>
                  <a:srgbClr val="1B3A6B"/>
                </a:solidFill>
                <a:latin typeface="Calibri" pitchFamily="34" charset="0"/>
                <a:ea typeface="Calibri" pitchFamily="34" charset="-122"/>
                <a:cs typeface="Calibri" pitchFamily="34" charset="-120"/>
              </a:rPr>
              <a:t>02   BCS Code of Conduct (2022)</a:t>
            </a:r>
            <a:endParaRPr lang="en-US" sz="1100" dirty="0"/>
          </a:p>
        </p:txBody>
      </p:sp>
      <p:sp>
        <p:nvSpPr>
          <p:cNvPr id="16" name="Text 14"/>
          <p:cNvSpPr/>
          <p:nvPr/>
        </p:nvSpPr>
        <p:spPr>
          <a:xfrm>
            <a:off x="4956048" y="1847088"/>
            <a:ext cx="3858768" cy="329184"/>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1.  Built in public interest — no commercial agenda, no advertisers, no monetisation of any kind</a:t>
            </a:r>
            <a:endParaRPr lang="en-US" sz="900" dirty="0"/>
          </a:p>
        </p:txBody>
      </p:sp>
      <p:sp>
        <p:nvSpPr>
          <p:cNvPr id="17" name="Text 15"/>
          <p:cNvSpPr/>
          <p:nvPr/>
        </p:nvSpPr>
        <p:spPr>
          <a:xfrm>
            <a:off x="4956048" y="2212848"/>
            <a:ext cx="3858768" cy="329184"/>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2.  Evaluated work using three metrics — MAE, RMSE and R squared — rather than cherry-picking a favourable result</a:t>
            </a:r>
            <a:endParaRPr lang="en-US" sz="900" dirty="0"/>
          </a:p>
        </p:txBody>
      </p:sp>
      <p:sp>
        <p:nvSpPr>
          <p:cNvPr id="18" name="Text 16"/>
          <p:cNvSpPr/>
          <p:nvPr/>
        </p:nvSpPr>
        <p:spPr>
          <a:xfrm>
            <a:off x="4956048" y="2578608"/>
            <a:ext cx="3858768" cy="329184"/>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3.  Documented all limitations honestly in the system output and throughout this report</a:t>
            </a:r>
            <a:endParaRPr lang="en-US" sz="900" dirty="0"/>
          </a:p>
        </p:txBody>
      </p:sp>
      <p:sp>
        <p:nvSpPr>
          <p:cNvPr id="19" name="Shape 17"/>
          <p:cNvSpPr/>
          <p:nvPr/>
        </p:nvSpPr>
        <p:spPr>
          <a:xfrm>
            <a:off x="457200" y="3182112"/>
            <a:ext cx="4160520" cy="1664208"/>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20" name="Shape 18"/>
          <p:cNvSpPr/>
          <p:nvPr/>
        </p:nvSpPr>
        <p:spPr>
          <a:xfrm>
            <a:off x="457200" y="3182112"/>
            <a:ext cx="4160520" cy="50292"/>
          </a:xfrm>
          <a:prstGeom prst="rect">
            <a:avLst/>
          </a:prstGeom>
          <a:solidFill>
            <a:srgbClr val="5B2D8E"/>
          </a:solidFill>
          <a:ln w="12700">
            <a:solidFill>
              <a:srgbClr val="5B2D8E"/>
            </a:solidFill>
            <a:prstDash val="solid"/>
          </a:ln>
        </p:spPr>
      </p:sp>
      <p:sp>
        <p:nvSpPr>
          <p:cNvPr id="21" name="Shape 19"/>
          <p:cNvSpPr/>
          <p:nvPr/>
        </p:nvSpPr>
        <p:spPr>
          <a:xfrm>
            <a:off x="457200" y="3182112"/>
            <a:ext cx="50292" cy="1664208"/>
          </a:xfrm>
          <a:prstGeom prst="rect">
            <a:avLst/>
          </a:prstGeom>
          <a:solidFill>
            <a:srgbClr val="5B2D8E"/>
          </a:solidFill>
          <a:ln w="12700">
            <a:solidFill>
              <a:srgbClr val="5B2D8E"/>
            </a:solidFill>
            <a:prstDash val="solid"/>
          </a:ln>
        </p:spPr>
      </p:sp>
      <p:sp>
        <p:nvSpPr>
          <p:cNvPr id="22" name="Text 20"/>
          <p:cNvSpPr/>
          <p:nvPr/>
        </p:nvSpPr>
        <p:spPr>
          <a:xfrm>
            <a:off x="640080" y="3291840"/>
            <a:ext cx="3840480" cy="274320"/>
          </a:xfrm>
          <a:prstGeom prst="rect">
            <a:avLst/>
          </a:prstGeom>
          <a:noFill/>
          <a:ln/>
        </p:spPr>
        <p:txBody>
          <a:bodyPr wrap="square" lIns="0" tIns="0" rIns="0" bIns="0" rtlCol="0" anchor="ctr"/>
          <a:lstStyle/>
          <a:p>
            <a:pPr indent="0" marL="0">
              <a:buNone/>
            </a:pPr>
            <a:r>
              <a:rPr lang="en-US" sz="1100" b="1" dirty="0">
                <a:solidFill>
                  <a:srgbClr val="1B3A6B"/>
                </a:solidFill>
                <a:latin typeface="Calibri" pitchFamily="34" charset="0"/>
                <a:ea typeface="Calibri" pitchFamily="34" charset="-122"/>
                <a:cs typeface="Calibri" pitchFamily="34" charset="-120"/>
              </a:rPr>
              <a:t>03   EU AI Ethics Guidelines (2019)</a:t>
            </a:r>
            <a:endParaRPr lang="en-US" sz="1100" dirty="0"/>
          </a:p>
        </p:txBody>
      </p:sp>
      <p:sp>
        <p:nvSpPr>
          <p:cNvPr id="23" name="Text 21"/>
          <p:cNvSpPr/>
          <p:nvPr/>
        </p:nvSpPr>
        <p:spPr>
          <a:xfrm>
            <a:off x="640080" y="3657600"/>
            <a:ext cx="3858768" cy="329184"/>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1.  Transparency — users see price plus confidence percentage plus range, not a single opaque output number</a:t>
            </a:r>
            <a:endParaRPr lang="en-US" sz="900" dirty="0"/>
          </a:p>
        </p:txBody>
      </p:sp>
      <p:sp>
        <p:nvSpPr>
          <p:cNvPr id="24" name="Text 22"/>
          <p:cNvSpPr/>
          <p:nvPr/>
        </p:nvSpPr>
        <p:spPr>
          <a:xfrm>
            <a:off x="640080" y="4023360"/>
            <a:ext cx="3858768" cy="329184"/>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2.  Fairness — OLX dataset bias acknowledged openly; smaller cities acknowledged as less accurate in the Conclusion</a:t>
            </a:r>
            <a:endParaRPr lang="en-US" sz="900" dirty="0"/>
          </a:p>
        </p:txBody>
      </p:sp>
      <p:sp>
        <p:nvSpPr>
          <p:cNvPr id="25" name="Text 23"/>
          <p:cNvSpPr/>
          <p:nvPr/>
        </p:nvSpPr>
        <p:spPr>
          <a:xfrm>
            <a:off x="640080" y="4389120"/>
            <a:ext cx="3858768" cy="329184"/>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3.  Human oversight preserved — prediction assists decision-making and never replaces user judgement</a:t>
            </a:r>
            <a:endParaRPr lang="en-US" sz="900" dirty="0"/>
          </a:p>
        </p:txBody>
      </p:sp>
      <p:sp>
        <p:nvSpPr>
          <p:cNvPr id="26" name="Shape 24"/>
          <p:cNvSpPr/>
          <p:nvPr/>
        </p:nvSpPr>
        <p:spPr>
          <a:xfrm>
            <a:off x="4773168" y="3182112"/>
            <a:ext cx="4160520" cy="1664208"/>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27" name="Shape 25"/>
          <p:cNvSpPr/>
          <p:nvPr/>
        </p:nvSpPr>
        <p:spPr>
          <a:xfrm>
            <a:off x="4773168" y="3182112"/>
            <a:ext cx="4160520" cy="50292"/>
          </a:xfrm>
          <a:prstGeom prst="rect">
            <a:avLst/>
          </a:prstGeom>
          <a:solidFill>
            <a:srgbClr val="B8860B"/>
          </a:solidFill>
          <a:ln w="12700">
            <a:solidFill>
              <a:srgbClr val="B8860B"/>
            </a:solidFill>
            <a:prstDash val="solid"/>
          </a:ln>
        </p:spPr>
      </p:sp>
      <p:sp>
        <p:nvSpPr>
          <p:cNvPr id="28" name="Shape 26"/>
          <p:cNvSpPr/>
          <p:nvPr/>
        </p:nvSpPr>
        <p:spPr>
          <a:xfrm>
            <a:off x="4773168" y="3182112"/>
            <a:ext cx="50292" cy="1664208"/>
          </a:xfrm>
          <a:prstGeom prst="rect">
            <a:avLst/>
          </a:prstGeom>
          <a:solidFill>
            <a:srgbClr val="B8860B"/>
          </a:solidFill>
          <a:ln w="12700">
            <a:solidFill>
              <a:srgbClr val="B8860B"/>
            </a:solidFill>
            <a:prstDash val="solid"/>
          </a:ln>
        </p:spPr>
      </p:sp>
      <p:sp>
        <p:nvSpPr>
          <p:cNvPr id="29" name="Text 27"/>
          <p:cNvSpPr/>
          <p:nvPr/>
        </p:nvSpPr>
        <p:spPr>
          <a:xfrm>
            <a:off x="4956048" y="3291840"/>
            <a:ext cx="3840480" cy="274320"/>
          </a:xfrm>
          <a:prstGeom prst="rect">
            <a:avLst/>
          </a:prstGeom>
          <a:noFill/>
          <a:ln/>
        </p:spPr>
        <p:txBody>
          <a:bodyPr wrap="square" lIns="0" tIns="0" rIns="0" bIns="0" rtlCol="0" anchor="ctr"/>
          <a:lstStyle/>
          <a:p>
            <a:pPr indent="0" marL="0">
              <a:buNone/>
            </a:pPr>
            <a:r>
              <a:rPr lang="en-US" sz="1100" b="1" dirty="0">
                <a:solidFill>
                  <a:srgbClr val="1B3A6B"/>
                </a:solidFill>
                <a:latin typeface="Calibri" pitchFamily="34" charset="0"/>
                <a:ea typeface="Calibri" pitchFamily="34" charset="-122"/>
                <a:cs typeface="Calibri" pitchFamily="34" charset="-120"/>
              </a:rPr>
              <a:t>04   Inclusive and Accessible Design</a:t>
            </a:r>
            <a:endParaRPr lang="en-US" sz="1100" dirty="0"/>
          </a:p>
        </p:txBody>
      </p:sp>
      <p:sp>
        <p:nvSpPr>
          <p:cNvPr id="30" name="Text 28"/>
          <p:cNvSpPr/>
          <p:nvPr/>
        </p:nvSpPr>
        <p:spPr>
          <a:xfrm>
            <a:off x="4956048" y="3657600"/>
            <a:ext cx="3858768" cy="329184"/>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1.  Dropdown menus reduce technical knowledge required — no free-text input to confuse non-technical users</a:t>
            </a:r>
            <a:endParaRPr lang="en-US" sz="900" dirty="0"/>
          </a:p>
        </p:txBody>
      </p:sp>
      <p:sp>
        <p:nvSpPr>
          <p:cNvPr id="31" name="Text 29"/>
          <p:cNvSpPr/>
          <p:nvPr/>
        </p:nvSpPr>
        <p:spPr>
          <a:xfrm>
            <a:off x="4956048" y="4023360"/>
            <a:ext cx="3858768" cy="329184"/>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2.  Plain-language How It Works section explains the AI pipeline to users with no technical background at all</a:t>
            </a:r>
            <a:endParaRPr lang="en-US" sz="900" dirty="0"/>
          </a:p>
        </p:txBody>
      </p:sp>
      <p:sp>
        <p:nvSpPr>
          <p:cNvPr id="32" name="Text 30"/>
          <p:cNvSpPr/>
          <p:nvPr/>
        </p:nvSpPr>
        <p:spPr>
          <a:xfrm>
            <a:off x="4956048" y="4389120"/>
            <a:ext cx="3858768" cy="329184"/>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3.  Mobile responsive from 320px — essential for Pakistan where majority of internet access is via mobile phone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8229600" cy="219456"/>
          </a:xfrm>
          <a:prstGeom prst="rect">
            <a:avLst/>
          </a:prstGeom>
          <a:noFill/>
          <a:ln/>
        </p:spPr>
        <p:txBody>
          <a:bodyPr wrap="square" lIns="0" tIns="0" rIns="0" bIns="0" rtlCol="0" anchor="ctr"/>
          <a:lstStyle/>
          <a:p>
            <a:pPr indent="0" marL="0">
              <a:buNone/>
            </a:pPr>
            <a:r>
              <a:rPr lang="en-US" sz="850" b="1" spc="250" kern="0" dirty="0">
                <a:solidFill>
                  <a:srgbClr val="1A7A4A"/>
                </a:solidFill>
                <a:latin typeface="Calibri" pitchFamily="34" charset="0"/>
                <a:ea typeface="Calibri" pitchFamily="34" charset="-122"/>
                <a:cs typeface="Calibri" pitchFamily="34" charset="-120"/>
              </a:rPr>
              <a:t>CHAPTER 8 — KEY ACHIEVEMENTS</a:t>
            </a:r>
            <a:endParaRPr lang="en-US" sz="85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000" b="1" dirty="0">
                <a:solidFill>
                  <a:srgbClr val="1B3A6B"/>
                </a:solidFill>
                <a:latin typeface="Cambria" pitchFamily="34" charset="0"/>
                <a:ea typeface="Cambria" pitchFamily="34" charset="-122"/>
                <a:cs typeface="Cambria" pitchFamily="34" charset="-120"/>
              </a:rPr>
              <a:t>What We Achieved</a:t>
            </a:r>
            <a:endParaRPr lang="en-US" sz="3000" dirty="0"/>
          </a:p>
        </p:txBody>
      </p:sp>
      <p:sp>
        <p:nvSpPr>
          <p:cNvPr id="4" name="Shape 2"/>
          <p:cNvSpPr/>
          <p:nvPr/>
        </p:nvSpPr>
        <p:spPr>
          <a:xfrm>
            <a:off x="457200" y="1225296"/>
            <a:ext cx="8229600" cy="20117"/>
          </a:xfrm>
          <a:prstGeom prst="rect">
            <a:avLst/>
          </a:prstGeom>
          <a:solidFill>
            <a:srgbClr val="E8EDF4"/>
          </a:solidFill>
          <a:ln w="12700">
            <a:solidFill>
              <a:srgbClr val="E8EDF4"/>
            </a:solidFill>
            <a:prstDash val="solid"/>
          </a:ln>
        </p:spPr>
      </p:sp>
      <p:sp>
        <p:nvSpPr>
          <p:cNvPr id="5" name="Shape 3"/>
          <p:cNvSpPr/>
          <p:nvPr/>
        </p:nvSpPr>
        <p:spPr>
          <a:xfrm>
            <a:off x="457200" y="1371600"/>
            <a:ext cx="8229600" cy="1042416"/>
          </a:xfrm>
          <a:prstGeom prst="rect">
            <a:avLst/>
          </a:prstGeom>
          <a:solidFill>
            <a:srgbClr val="E8F5EE"/>
          </a:solidFill>
          <a:ln w="10160">
            <a:solidFill>
              <a:srgbClr val="1A7A4A"/>
            </a:solidFill>
            <a:prstDash val="solid"/>
          </a:ln>
          <a:effectLst>
            <a:outerShdw sx="100000" sy="100000" kx="0" ky="0" algn="bl" rotWithShape="0" blurRad="101600" dist="25400" dir="8100000">
              <a:srgbClr val="000000">
                <a:alpha val="7000"/>
              </a:srgbClr>
            </a:outerShdw>
          </a:effectLst>
        </p:spPr>
      </p:sp>
      <p:sp>
        <p:nvSpPr>
          <p:cNvPr id="6" name="Text 4"/>
          <p:cNvSpPr/>
          <p:nvPr/>
        </p:nvSpPr>
        <p:spPr>
          <a:xfrm>
            <a:off x="658368" y="1444752"/>
            <a:ext cx="475488" cy="749808"/>
          </a:xfrm>
          <a:prstGeom prst="rect">
            <a:avLst/>
          </a:prstGeom>
          <a:noFill/>
          <a:ln/>
        </p:spPr>
        <p:txBody>
          <a:bodyPr wrap="square" lIns="0" tIns="0" rIns="0" bIns="0" rtlCol="0" anchor="ctr"/>
          <a:lstStyle/>
          <a:p>
            <a:pPr indent="0" marL="0">
              <a:buNone/>
            </a:pPr>
            <a:r>
              <a:rPr lang="en-US" sz="5000" b="1" dirty="0">
                <a:solidFill>
                  <a:srgbClr val="1A7A4A"/>
                </a:solidFill>
                <a:latin typeface="Cambria" pitchFamily="34" charset="0"/>
                <a:ea typeface="Cambria" pitchFamily="34" charset="-122"/>
                <a:cs typeface="Cambria" pitchFamily="34" charset="-120"/>
              </a:rPr>
              <a:t>R</a:t>
            </a:r>
            <a:endParaRPr lang="en-US" sz="5000" dirty="0"/>
          </a:p>
        </p:txBody>
      </p:sp>
      <p:sp>
        <p:nvSpPr>
          <p:cNvPr id="7" name="Text 5"/>
          <p:cNvSpPr/>
          <p:nvPr/>
        </p:nvSpPr>
        <p:spPr>
          <a:xfrm>
            <a:off x="1060704" y="1444752"/>
            <a:ext cx="274320" cy="384048"/>
          </a:xfrm>
          <a:prstGeom prst="rect">
            <a:avLst/>
          </a:prstGeom>
          <a:noFill/>
          <a:ln/>
        </p:spPr>
        <p:txBody>
          <a:bodyPr wrap="square" lIns="0" tIns="0" rIns="0" bIns="0" rtlCol="0" anchor="ctr"/>
          <a:lstStyle/>
          <a:p>
            <a:pPr indent="0" marL="0">
              <a:buNone/>
            </a:pPr>
            <a:r>
              <a:rPr lang="en-US" sz="2400" b="1" dirty="0">
                <a:solidFill>
                  <a:srgbClr val="1A7A4A"/>
                </a:solidFill>
                <a:latin typeface="Cambria" pitchFamily="34" charset="0"/>
                <a:ea typeface="Cambria" pitchFamily="34" charset="-122"/>
                <a:cs typeface="Cambria" pitchFamily="34" charset="-120"/>
              </a:rPr>
              <a:t>2</a:t>
            </a:r>
            <a:endParaRPr lang="en-US" sz="2400" dirty="0"/>
          </a:p>
        </p:txBody>
      </p:sp>
      <p:sp>
        <p:nvSpPr>
          <p:cNvPr id="8" name="Text 6"/>
          <p:cNvSpPr/>
          <p:nvPr/>
        </p:nvSpPr>
        <p:spPr>
          <a:xfrm>
            <a:off x="1298448" y="1444752"/>
            <a:ext cx="3474720" cy="749808"/>
          </a:xfrm>
          <a:prstGeom prst="rect">
            <a:avLst/>
          </a:prstGeom>
          <a:noFill/>
          <a:ln/>
        </p:spPr>
        <p:txBody>
          <a:bodyPr wrap="square" lIns="0" tIns="0" rIns="0" bIns="0" rtlCol="0" anchor="ctr"/>
          <a:lstStyle/>
          <a:p>
            <a:pPr indent="0" marL="0">
              <a:buNone/>
            </a:pPr>
            <a:r>
              <a:rPr lang="en-US" sz="5000" b="1" dirty="0">
                <a:solidFill>
                  <a:srgbClr val="1A7A4A"/>
                </a:solidFill>
                <a:latin typeface="Cambria" pitchFamily="34" charset="0"/>
                <a:ea typeface="Cambria" pitchFamily="34" charset="-122"/>
                <a:cs typeface="Cambria" pitchFamily="34" charset="-120"/>
              </a:rPr>
              <a:t>= 0.9504</a:t>
            </a:r>
            <a:endParaRPr lang="en-US" sz="5000" dirty="0"/>
          </a:p>
        </p:txBody>
      </p:sp>
      <p:sp>
        <p:nvSpPr>
          <p:cNvPr id="9" name="Text 7"/>
          <p:cNvSpPr/>
          <p:nvPr/>
        </p:nvSpPr>
        <p:spPr>
          <a:xfrm>
            <a:off x="5303520" y="1554480"/>
            <a:ext cx="3200400" cy="749808"/>
          </a:xfrm>
          <a:prstGeom prst="rect">
            <a:avLst/>
          </a:prstGeom>
          <a:noFill/>
          <a:ln/>
        </p:spPr>
        <p:txBody>
          <a:bodyPr wrap="square" lIns="0" tIns="0" rIns="0" bIns="0" rtlCol="0" anchor="ctr"/>
          <a:lstStyle/>
          <a:p>
            <a:pPr indent="0" marL="0">
              <a:buNone/>
            </a:pPr>
            <a:r>
              <a:rPr lang="en-US" sz="1200" dirty="0">
                <a:solidFill>
                  <a:srgbClr val="2C3E50"/>
                </a:solidFill>
                <a:latin typeface="Calibri" pitchFamily="34" charset="0"/>
                <a:ea typeface="Calibri" pitchFamily="34" charset="-122"/>
                <a:cs typeface="Calibri" pitchFamily="34" charset="-120"/>
              </a:rPr>
              <a:t>Gradient Boosting explains 95 percent of all used car</a:t>
            </a:r>
            <a:endParaRPr lang="en-US" sz="1200" dirty="0"/>
          </a:p>
          <a:p>
            <a:pPr indent="0" marL="0">
              <a:buNone/>
            </a:pPr>
            <a:r>
              <a:rPr lang="en-US" sz="1200" dirty="0">
                <a:solidFill>
                  <a:srgbClr val="2C3E50"/>
                </a:solidFill>
                <a:latin typeface="Calibri" pitchFamily="34" charset="0"/>
                <a:ea typeface="Calibri" pitchFamily="34" charset="-122"/>
                <a:cs typeface="Calibri" pitchFamily="34" charset="-120"/>
              </a:rPr>
              <a:t>price variation in Pakistan using real OLX market data.</a:t>
            </a:r>
            <a:endParaRPr lang="en-US" sz="1200" dirty="0"/>
          </a:p>
        </p:txBody>
      </p:sp>
      <p:sp>
        <p:nvSpPr>
          <p:cNvPr id="10" name="Shape 8"/>
          <p:cNvSpPr/>
          <p:nvPr/>
        </p:nvSpPr>
        <p:spPr>
          <a:xfrm>
            <a:off x="457200" y="2578608"/>
            <a:ext cx="2633472" cy="969264"/>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11" name="Shape 9"/>
          <p:cNvSpPr/>
          <p:nvPr/>
        </p:nvSpPr>
        <p:spPr>
          <a:xfrm>
            <a:off x="457200" y="2578608"/>
            <a:ext cx="2633472" cy="50292"/>
          </a:xfrm>
          <a:prstGeom prst="rect">
            <a:avLst/>
          </a:prstGeom>
          <a:solidFill>
            <a:srgbClr val="1A7A4A"/>
          </a:solidFill>
          <a:ln w="12700">
            <a:solidFill>
              <a:srgbClr val="1A7A4A"/>
            </a:solidFill>
            <a:prstDash val="solid"/>
          </a:ln>
        </p:spPr>
      </p:sp>
      <p:sp>
        <p:nvSpPr>
          <p:cNvPr id="12" name="Text 10"/>
          <p:cNvSpPr/>
          <p:nvPr/>
        </p:nvSpPr>
        <p:spPr>
          <a:xfrm>
            <a:off x="585216" y="2688336"/>
            <a:ext cx="2377440" cy="420624"/>
          </a:xfrm>
          <a:prstGeom prst="rect">
            <a:avLst/>
          </a:prstGeom>
          <a:noFill/>
          <a:ln/>
        </p:spPr>
        <p:txBody>
          <a:bodyPr wrap="square" lIns="0" tIns="0" rIns="0" bIns="0" rtlCol="0" anchor="ctr"/>
          <a:lstStyle/>
          <a:p>
            <a:pPr indent="0" marL="0">
              <a:buNone/>
            </a:pPr>
            <a:r>
              <a:rPr lang="en-US" sz="1900" b="1" dirty="0">
                <a:solidFill>
                  <a:srgbClr val="1A7A4A"/>
                </a:solidFill>
                <a:latin typeface="Cambria" pitchFamily="34" charset="0"/>
                <a:ea typeface="Cambria" pitchFamily="34" charset="-122"/>
                <a:cs typeface="Cambria" pitchFamily="34" charset="-120"/>
              </a:rPr>
              <a:t>PKR 171,446</a:t>
            </a:r>
            <a:endParaRPr lang="en-US" sz="1900" dirty="0"/>
          </a:p>
        </p:txBody>
      </p:sp>
      <p:sp>
        <p:nvSpPr>
          <p:cNvPr id="13" name="Text 11"/>
          <p:cNvSpPr/>
          <p:nvPr/>
        </p:nvSpPr>
        <p:spPr>
          <a:xfrm>
            <a:off x="585216" y="3108960"/>
            <a:ext cx="2377440" cy="219456"/>
          </a:xfrm>
          <a:prstGeom prst="rect">
            <a:avLst/>
          </a:prstGeom>
          <a:noFill/>
          <a:ln/>
        </p:spPr>
        <p:txBody>
          <a:bodyPr wrap="square" lIns="0" tIns="0" rIns="0" bIns="0" rtlCol="0" anchor="ctr"/>
          <a:lstStyle/>
          <a:p>
            <a:pPr indent="0" marL="0">
              <a:buNone/>
            </a:pPr>
            <a:r>
              <a:rPr lang="en-US" sz="950" b="1" dirty="0">
                <a:solidFill>
                  <a:srgbClr val="1B3A6B"/>
                </a:solidFill>
                <a:latin typeface="Calibri" pitchFamily="34" charset="0"/>
                <a:ea typeface="Calibri" pitchFamily="34" charset="-122"/>
                <a:cs typeface="Calibri" pitchFamily="34" charset="-120"/>
              </a:rPr>
              <a:t>Mean Absolute Error</a:t>
            </a:r>
            <a:endParaRPr lang="en-US" sz="950" dirty="0"/>
          </a:p>
        </p:txBody>
      </p:sp>
      <p:sp>
        <p:nvSpPr>
          <p:cNvPr id="14" name="Text 12"/>
          <p:cNvSpPr/>
          <p:nvPr/>
        </p:nvSpPr>
        <p:spPr>
          <a:xfrm>
            <a:off x="585216" y="3328416"/>
            <a:ext cx="2377440" cy="182880"/>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Typically within 170K of actual market price</a:t>
            </a:r>
            <a:endParaRPr lang="en-US" sz="800" dirty="0"/>
          </a:p>
        </p:txBody>
      </p:sp>
      <p:sp>
        <p:nvSpPr>
          <p:cNvPr id="15" name="Shape 13"/>
          <p:cNvSpPr/>
          <p:nvPr/>
        </p:nvSpPr>
        <p:spPr>
          <a:xfrm>
            <a:off x="3246120" y="2578608"/>
            <a:ext cx="2633472" cy="969264"/>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16" name="Shape 14"/>
          <p:cNvSpPr/>
          <p:nvPr/>
        </p:nvSpPr>
        <p:spPr>
          <a:xfrm>
            <a:off x="3246120" y="2578608"/>
            <a:ext cx="2633472" cy="50292"/>
          </a:xfrm>
          <a:prstGeom prst="rect">
            <a:avLst/>
          </a:prstGeom>
          <a:solidFill>
            <a:srgbClr val="0B6E8C"/>
          </a:solidFill>
          <a:ln w="12700">
            <a:solidFill>
              <a:srgbClr val="0B6E8C"/>
            </a:solidFill>
            <a:prstDash val="solid"/>
          </a:ln>
        </p:spPr>
      </p:sp>
      <p:sp>
        <p:nvSpPr>
          <p:cNvPr id="17" name="Text 15"/>
          <p:cNvSpPr/>
          <p:nvPr/>
        </p:nvSpPr>
        <p:spPr>
          <a:xfrm>
            <a:off x="3374136" y="2688336"/>
            <a:ext cx="2377440" cy="420624"/>
          </a:xfrm>
          <a:prstGeom prst="rect">
            <a:avLst/>
          </a:prstGeom>
          <a:noFill/>
          <a:ln/>
        </p:spPr>
        <p:txBody>
          <a:bodyPr wrap="square" lIns="0" tIns="0" rIns="0" bIns="0" rtlCol="0" anchor="ctr"/>
          <a:lstStyle/>
          <a:p>
            <a:pPr indent="0" marL="0">
              <a:buNone/>
            </a:pPr>
            <a:r>
              <a:rPr lang="en-US" sz="1900" b="1" dirty="0">
                <a:solidFill>
                  <a:srgbClr val="0B6E8C"/>
                </a:solidFill>
                <a:latin typeface="Cambria" pitchFamily="34" charset="0"/>
                <a:ea typeface="Cambria" pitchFamily="34" charset="-122"/>
                <a:cs typeface="Cambria" pitchFamily="34" charset="-120"/>
              </a:rPr>
              <a:t>PKR 253,178</a:t>
            </a:r>
            <a:endParaRPr lang="en-US" sz="1900" dirty="0"/>
          </a:p>
        </p:txBody>
      </p:sp>
      <p:sp>
        <p:nvSpPr>
          <p:cNvPr id="18" name="Text 16"/>
          <p:cNvSpPr/>
          <p:nvPr/>
        </p:nvSpPr>
        <p:spPr>
          <a:xfrm>
            <a:off x="3374136" y="3108960"/>
            <a:ext cx="2377440" cy="219456"/>
          </a:xfrm>
          <a:prstGeom prst="rect">
            <a:avLst/>
          </a:prstGeom>
          <a:noFill/>
          <a:ln/>
        </p:spPr>
        <p:txBody>
          <a:bodyPr wrap="square" lIns="0" tIns="0" rIns="0" bIns="0" rtlCol="0" anchor="ctr"/>
          <a:lstStyle/>
          <a:p>
            <a:pPr indent="0" marL="0">
              <a:buNone/>
            </a:pPr>
            <a:r>
              <a:rPr lang="en-US" sz="950" b="1" dirty="0">
                <a:solidFill>
                  <a:srgbClr val="1B3A6B"/>
                </a:solidFill>
                <a:latin typeface="Calibri" pitchFamily="34" charset="0"/>
                <a:ea typeface="Calibri" pitchFamily="34" charset="-122"/>
                <a:cs typeface="Calibri" pitchFamily="34" charset="-120"/>
              </a:rPr>
              <a:t>Root Mean Squared Error</a:t>
            </a:r>
            <a:endParaRPr lang="en-US" sz="950" dirty="0"/>
          </a:p>
        </p:txBody>
      </p:sp>
      <p:sp>
        <p:nvSpPr>
          <p:cNvPr id="19" name="Text 17"/>
          <p:cNvSpPr/>
          <p:nvPr/>
        </p:nvSpPr>
        <p:spPr>
          <a:xfrm>
            <a:off x="3374136" y="3328416"/>
            <a:ext cx="2377440" cy="182880"/>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Strong result for real-world tabular data</a:t>
            </a:r>
            <a:endParaRPr lang="en-US" sz="800" dirty="0"/>
          </a:p>
        </p:txBody>
      </p:sp>
      <p:sp>
        <p:nvSpPr>
          <p:cNvPr id="20" name="Shape 18"/>
          <p:cNvSpPr/>
          <p:nvPr/>
        </p:nvSpPr>
        <p:spPr>
          <a:xfrm>
            <a:off x="6035040" y="2578608"/>
            <a:ext cx="2633472" cy="969264"/>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21" name="Shape 19"/>
          <p:cNvSpPr/>
          <p:nvPr/>
        </p:nvSpPr>
        <p:spPr>
          <a:xfrm>
            <a:off x="6035040" y="2578608"/>
            <a:ext cx="2633472" cy="50292"/>
          </a:xfrm>
          <a:prstGeom prst="rect">
            <a:avLst/>
          </a:prstGeom>
          <a:solidFill>
            <a:srgbClr val="1B3A6B"/>
          </a:solidFill>
          <a:ln w="12700">
            <a:solidFill>
              <a:srgbClr val="1B3A6B"/>
            </a:solidFill>
            <a:prstDash val="solid"/>
          </a:ln>
        </p:spPr>
      </p:sp>
      <p:sp>
        <p:nvSpPr>
          <p:cNvPr id="22" name="Text 20"/>
          <p:cNvSpPr/>
          <p:nvPr/>
        </p:nvSpPr>
        <p:spPr>
          <a:xfrm>
            <a:off x="6163056" y="2688336"/>
            <a:ext cx="2377440" cy="420624"/>
          </a:xfrm>
          <a:prstGeom prst="rect">
            <a:avLst/>
          </a:prstGeom>
          <a:noFill/>
          <a:ln/>
        </p:spPr>
        <p:txBody>
          <a:bodyPr wrap="square" lIns="0" tIns="0" rIns="0" bIns="0" rtlCol="0" anchor="ctr"/>
          <a:lstStyle/>
          <a:p>
            <a:pPr indent="0" marL="0">
              <a:buNone/>
            </a:pPr>
            <a:r>
              <a:rPr lang="en-US" sz="1900" b="1" dirty="0">
                <a:solidFill>
                  <a:srgbClr val="1B3A6B"/>
                </a:solidFill>
                <a:latin typeface="Cambria" pitchFamily="34" charset="0"/>
                <a:ea typeface="Cambria" pitchFamily="34" charset="-122"/>
                <a:cs typeface="Cambria" pitchFamily="34" charset="-120"/>
              </a:rPr>
              <a:t>49,448</a:t>
            </a:r>
            <a:endParaRPr lang="en-US" sz="1900" dirty="0"/>
          </a:p>
        </p:txBody>
      </p:sp>
      <p:sp>
        <p:nvSpPr>
          <p:cNvPr id="23" name="Text 21"/>
          <p:cNvSpPr/>
          <p:nvPr/>
        </p:nvSpPr>
        <p:spPr>
          <a:xfrm>
            <a:off x="6163056" y="3108960"/>
            <a:ext cx="2377440" cy="219456"/>
          </a:xfrm>
          <a:prstGeom prst="rect">
            <a:avLst/>
          </a:prstGeom>
          <a:noFill/>
          <a:ln/>
        </p:spPr>
        <p:txBody>
          <a:bodyPr wrap="square" lIns="0" tIns="0" rIns="0" bIns="0" rtlCol="0" anchor="ctr"/>
          <a:lstStyle/>
          <a:p>
            <a:pPr indent="0" marL="0">
              <a:buNone/>
            </a:pPr>
            <a:r>
              <a:rPr lang="en-US" sz="950" b="1" dirty="0">
                <a:solidFill>
                  <a:srgbClr val="1B3A6B"/>
                </a:solidFill>
                <a:latin typeface="Calibri" pitchFamily="34" charset="0"/>
                <a:ea typeface="Calibri" pitchFamily="34" charset="-122"/>
                <a:cs typeface="Calibri" pitchFamily="34" charset="-120"/>
              </a:rPr>
              <a:t>OLX Listings Trained</a:t>
            </a:r>
            <a:endParaRPr lang="en-US" sz="950" dirty="0"/>
          </a:p>
        </p:txBody>
      </p:sp>
      <p:sp>
        <p:nvSpPr>
          <p:cNvPr id="24" name="Text 22"/>
          <p:cNvSpPr/>
          <p:nvPr/>
        </p:nvSpPr>
        <p:spPr>
          <a:xfrm>
            <a:off x="6163056" y="3328416"/>
            <a:ext cx="2377440" cy="182880"/>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Real Pakistani car market records</a:t>
            </a:r>
            <a:endParaRPr lang="en-US" sz="800" dirty="0"/>
          </a:p>
        </p:txBody>
      </p:sp>
      <p:sp>
        <p:nvSpPr>
          <p:cNvPr id="25" name="Shape 23"/>
          <p:cNvSpPr/>
          <p:nvPr/>
        </p:nvSpPr>
        <p:spPr>
          <a:xfrm>
            <a:off x="457200" y="3694176"/>
            <a:ext cx="2633472" cy="969264"/>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26" name="Shape 24"/>
          <p:cNvSpPr/>
          <p:nvPr/>
        </p:nvSpPr>
        <p:spPr>
          <a:xfrm>
            <a:off x="457200" y="3694176"/>
            <a:ext cx="2633472" cy="50292"/>
          </a:xfrm>
          <a:prstGeom prst="rect">
            <a:avLst/>
          </a:prstGeom>
          <a:solidFill>
            <a:srgbClr val="B8860B"/>
          </a:solidFill>
          <a:ln w="12700">
            <a:solidFill>
              <a:srgbClr val="B8860B"/>
            </a:solidFill>
            <a:prstDash val="solid"/>
          </a:ln>
        </p:spPr>
      </p:sp>
      <p:sp>
        <p:nvSpPr>
          <p:cNvPr id="27" name="Text 25"/>
          <p:cNvSpPr/>
          <p:nvPr/>
        </p:nvSpPr>
        <p:spPr>
          <a:xfrm>
            <a:off x="585216" y="3803904"/>
            <a:ext cx="2377440" cy="420624"/>
          </a:xfrm>
          <a:prstGeom prst="rect">
            <a:avLst/>
          </a:prstGeom>
          <a:noFill/>
          <a:ln/>
        </p:spPr>
        <p:txBody>
          <a:bodyPr wrap="square" lIns="0" tIns="0" rIns="0" bIns="0" rtlCol="0" anchor="ctr"/>
          <a:lstStyle/>
          <a:p>
            <a:pPr indent="0" marL="0">
              <a:buNone/>
            </a:pPr>
            <a:r>
              <a:rPr lang="en-US" sz="1900" b="1" dirty="0">
                <a:solidFill>
                  <a:srgbClr val="B8860B"/>
                </a:solidFill>
                <a:latin typeface="Cambria" pitchFamily="34" charset="0"/>
                <a:ea typeface="Cambria" pitchFamily="34" charset="-122"/>
                <a:cs typeface="Cambria" pitchFamily="34" charset="-120"/>
              </a:rPr>
              <a:t>8,833</a:t>
            </a:r>
            <a:endParaRPr lang="en-US" sz="1900" dirty="0"/>
          </a:p>
        </p:txBody>
      </p:sp>
      <p:sp>
        <p:nvSpPr>
          <p:cNvPr id="28" name="Text 26"/>
          <p:cNvSpPr/>
          <p:nvPr/>
        </p:nvSpPr>
        <p:spPr>
          <a:xfrm>
            <a:off x="585216" y="4224528"/>
            <a:ext cx="2377440" cy="219456"/>
          </a:xfrm>
          <a:prstGeom prst="rect">
            <a:avLst/>
          </a:prstGeom>
          <a:noFill/>
          <a:ln/>
        </p:spPr>
        <p:txBody>
          <a:bodyPr wrap="square" lIns="0" tIns="0" rIns="0" bIns="0" rtlCol="0" anchor="ctr"/>
          <a:lstStyle/>
          <a:p>
            <a:pPr indent="0" marL="0">
              <a:buNone/>
            </a:pPr>
            <a:r>
              <a:rPr lang="en-US" sz="950" b="1" dirty="0">
                <a:solidFill>
                  <a:srgbClr val="1B3A6B"/>
                </a:solidFill>
                <a:latin typeface="Calibri" pitchFamily="34" charset="0"/>
                <a:ea typeface="Calibri" pitchFamily="34" charset="-122"/>
                <a:cs typeface="Calibri" pitchFamily="34" charset="-120"/>
              </a:rPr>
              <a:t>Training Samples Used</a:t>
            </a:r>
            <a:endParaRPr lang="en-US" sz="950" dirty="0"/>
          </a:p>
        </p:txBody>
      </p:sp>
      <p:sp>
        <p:nvSpPr>
          <p:cNvPr id="29" name="Text 27"/>
          <p:cNvSpPr/>
          <p:nvPr/>
        </p:nvSpPr>
        <p:spPr>
          <a:xfrm>
            <a:off x="585216" y="4443984"/>
            <a:ext cx="2377440" cy="182880"/>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After full cleaning pipeline applied</a:t>
            </a:r>
            <a:endParaRPr lang="en-US" sz="800" dirty="0"/>
          </a:p>
        </p:txBody>
      </p:sp>
      <p:sp>
        <p:nvSpPr>
          <p:cNvPr id="30" name="Shape 28"/>
          <p:cNvSpPr/>
          <p:nvPr/>
        </p:nvSpPr>
        <p:spPr>
          <a:xfrm>
            <a:off x="3246120" y="3694176"/>
            <a:ext cx="2633472" cy="969264"/>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31" name="Shape 29"/>
          <p:cNvSpPr/>
          <p:nvPr/>
        </p:nvSpPr>
        <p:spPr>
          <a:xfrm>
            <a:off x="3246120" y="3694176"/>
            <a:ext cx="2633472" cy="50292"/>
          </a:xfrm>
          <a:prstGeom prst="rect">
            <a:avLst/>
          </a:prstGeom>
          <a:solidFill>
            <a:srgbClr val="5B2D8E"/>
          </a:solidFill>
          <a:ln w="12700">
            <a:solidFill>
              <a:srgbClr val="5B2D8E"/>
            </a:solidFill>
            <a:prstDash val="solid"/>
          </a:ln>
        </p:spPr>
      </p:sp>
      <p:sp>
        <p:nvSpPr>
          <p:cNvPr id="32" name="Text 30"/>
          <p:cNvSpPr/>
          <p:nvPr/>
        </p:nvSpPr>
        <p:spPr>
          <a:xfrm>
            <a:off x="3374136" y="3803904"/>
            <a:ext cx="2377440" cy="420624"/>
          </a:xfrm>
          <a:prstGeom prst="rect">
            <a:avLst/>
          </a:prstGeom>
          <a:noFill/>
          <a:ln/>
        </p:spPr>
        <p:txBody>
          <a:bodyPr wrap="square" lIns="0" tIns="0" rIns="0" bIns="0" rtlCol="0" anchor="ctr"/>
          <a:lstStyle/>
          <a:p>
            <a:pPr indent="0" marL="0">
              <a:buNone/>
            </a:pPr>
            <a:r>
              <a:rPr lang="en-US" sz="1900" b="1" dirty="0">
                <a:solidFill>
                  <a:srgbClr val="5B2D8E"/>
                </a:solidFill>
                <a:latin typeface="Cambria" pitchFamily="34" charset="0"/>
                <a:ea typeface="Cambria" pitchFamily="34" charset="-122"/>
                <a:cs typeface="Cambria" pitchFamily="34" charset="-120"/>
              </a:rPr>
              <a:t>54 of 54</a:t>
            </a:r>
            <a:endParaRPr lang="en-US" sz="1900" dirty="0"/>
          </a:p>
        </p:txBody>
      </p:sp>
      <p:sp>
        <p:nvSpPr>
          <p:cNvPr id="33" name="Text 31"/>
          <p:cNvSpPr/>
          <p:nvPr/>
        </p:nvSpPr>
        <p:spPr>
          <a:xfrm>
            <a:off x="3374136" y="4224528"/>
            <a:ext cx="2377440" cy="219456"/>
          </a:xfrm>
          <a:prstGeom prst="rect">
            <a:avLst/>
          </a:prstGeom>
          <a:noFill/>
          <a:ln/>
        </p:spPr>
        <p:txBody>
          <a:bodyPr wrap="square" lIns="0" tIns="0" rIns="0" bIns="0" rtlCol="0" anchor="ctr"/>
          <a:lstStyle/>
          <a:p>
            <a:pPr indent="0" marL="0">
              <a:buNone/>
            </a:pPr>
            <a:r>
              <a:rPr lang="en-US" sz="950" b="1" dirty="0">
                <a:solidFill>
                  <a:srgbClr val="1B3A6B"/>
                </a:solidFill>
                <a:latin typeface="Calibri" pitchFamily="34" charset="0"/>
                <a:ea typeface="Calibri" pitchFamily="34" charset="-122"/>
                <a:cs typeface="Calibri" pitchFamily="34" charset="-120"/>
              </a:rPr>
              <a:t>Jira Tasks Complete</a:t>
            </a:r>
            <a:endParaRPr lang="en-US" sz="950" dirty="0"/>
          </a:p>
        </p:txBody>
      </p:sp>
      <p:sp>
        <p:nvSpPr>
          <p:cNvPr id="34" name="Text 32"/>
          <p:cNvSpPr/>
          <p:nvPr/>
        </p:nvSpPr>
        <p:spPr>
          <a:xfrm>
            <a:off x="3374136" y="4443984"/>
            <a:ext cx="2377440" cy="182880"/>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100 percent rate by end of Sprint 8</a:t>
            </a:r>
            <a:endParaRPr lang="en-US" sz="800" dirty="0"/>
          </a:p>
        </p:txBody>
      </p:sp>
      <p:sp>
        <p:nvSpPr>
          <p:cNvPr id="35" name="Shape 33"/>
          <p:cNvSpPr/>
          <p:nvPr/>
        </p:nvSpPr>
        <p:spPr>
          <a:xfrm>
            <a:off x="6035040" y="3694176"/>
            <a:ext cx="2633472" cy="969264"/>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36" name="Shape 34"/>
          <p:cNvSpPr/>
          <p:nvPr/>
        </p:nvSpPr>
        <p:spPr>
          <a:xfrm>
            <a:off x="6035040" y="3694176"/>
            <a:ext cx="2633472" cy="50292"/>
          </a:xfrm>
          <a:prstGeom prst="rect">
            <a:avLst/>
          </a:prstGeom>
          <a:solidFill>
            <a:srgbClr val="B5281C"/>
          </a:solidFill>
          <a:ln w="12700">
            <a:solidFill>
              <a:srgbClr val="B5281C"/>
            </a:solidFill>
            <a:prstDash val="solid"/>
          </a:ln>
        </p:spPr>
      </p:sp>
      <p:sp>
        <p:nvSpPr>
          <p:cNvPr id="37" name="Text 35"/>
          <p:cNvSpPr/>
          <p:nvPr/>
        </p:nvSpPr>
        <p:spPr>
          <a:xfrm>
            <a:off x="6163056" y="3803904"/>
            <a:ext cx="2377440" cy="420624"/>
          </a:xfrm>
          <a:prstGeom prst="rect">
            <a:avLst/>
          </a:prstGeom>
          <a:noFill/>
          <a:ln/>
        </p:spPr>
        <p:txBody>
          <a:bodyPr wrap="square" lIns="0" tIns="0" rIns="0" bIns="0" rtlCol="0" anchor="ctr"/>
          <a:lstStyle/>
          <a:p>
            <a:pPr indent="0" marL="0">
              <a:buNone/>
            </a:pPr>
            <a:r>
              <a:rPr lang="en-US" sz="1900" b="1" dirty="0">
                <a:solidFill>
                  <a:srgbClr val="B5281C"/>
                </a:solidFill>
                <a:latin typeface="Cambria" pitchFamily="34" charset="0"/>
                <a:ea typeface="Cambria" pitchFamily="34" charset="-122"/>
                <a:cs typeface="Cambria" pitchFamily="34" charset="-120"/>
              </a:rPr>
              <a:t>173 pts</a:t>
            </a:r>
            <a:endParaRPr lang="en-US" sz="1900" dirty="0"/>
          </a:p>
        </p:txBody>
      </p:sp>
      <p:sp>
        <p:nvSpPr>
          <p:cNvPr id="38" name="Text 36"/>
          <p:cNvSpPr/>
          <p:nvPr/>
        </p:nvSpPr>
        <p:spPr>
          <a:xfrm>
            <a:off x="6163056" y="4224528"/>
            <a:ext cx="2377440" cy="219456"/>
          </a:xfrm>
          <a:prstGeom prst="rect">
            <a:avLst/>
          </a:prstGeom>
          <a:noFill/>
          <a:ln/>
        </p:spPr>
        <p:txBody>
          <a:bodyPr wrap="square" lIns="0" tIns="0" rIns="0" bIns="0" rtlCol="0" anchor="ctr"/>
          <a:lstStyle/>
          <a:p>
            <a:pPr indent="0" marL="0">
              <a:buNone/>
            </a:pPr>
            <a:r>
              <a:rPr lang="en-US" sz="950" b="1" dirty="0">
                <a:solidFill>
                  <a:srgbClr val="1B3A6B"/>
                </a:solidFill>
                <a:latin typeface="Calibri" pitchFamily="34" charset="0"/>
                <a:ea typeface="Calibri" pitchFamily="34" charset="-122"/>
                <a:cs typeface="Calibri" pitchFamily="34" charset="-120"/>
              </a:rPr>
              <a:t>Story Points Delivered</a:t>
            </a:r>
            <a:endParaRPr lang="en-US" sz="950" dirty="0"/>
          </a:p>
        </p:txBody>
      </p:sp>
      <p:sp>
        <p:nvSpPr>
          <p:cNvPr id="39" name="Text 37"/>
          <p:cNvSpPr/>
          <p:nvPr/>
        </p:nvSpPr>
        <p:spPr>
          <a:xfrm>
            <a:off x="6163056" y="4443984"/>
            <a:ext cx="2377440" cy="182880"/>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8 sprints, Sep 2025 to Apr 2026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8229600" cy="219456"/>
          </a:xfrm>
          <a:prstGeom prst="rect">
            <a:avLst/>
          </a:prstGeom>
          <a:noFill/>
          <a:ln/>
        </p:spPr>
        <p:txBody>
          <a:bodyPr wrap="square" lIns="0" tIns="0" rIns="0" bIns="0" rtlCol="0" anchor="ctr"/>
          <a:lstStyle/>
          <a:p>
            <a:pPr indent="0" marL="0">
              <a:buNone/>
            </a:pPr>
            <a:r>
              <a:rPr lang="en-US" sz="850" b="1" spc="250" kern="0" dirty="0">
                <a:solidFill>
                  <a:srgbClr val="0B6E8C"/>
                </a:solidFill>
                <a:latin typeface="Calibri" pitchFamily="34" charset="0"/>
                <a:ea typeface="Calibri" pitchFamily="34" charset="-122"/>
                <a:cs typeface="Calibri" pitchFamily="34" charset="-120"/>
              </a:rPr>
              <a:t>CHAPTER 8 — CONCLUSION AND FUTURE WORK</a:t>
            </a:r>
            <a:endParaRPr lang="en-US" sz="85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000" b="1" dirty="0">
                <a:solidFill>
                  <a:srgbClr val="1B3A6B"/>
                </a:solidFill>
                <a:latin typeface="Cambria" pitchFamily="34" charset="0"/>
                <a:ea typeface="Cambria" pitchFamily="34" charset="-122"/>
                <a:cs typeface="Cambria" pitchFamily="34" charset="-120"/>
              </a:rPr>
              <a:t>Honest Limitations and Future Roadmap</a:t>
            </a:r>
            <a:endParaRPr lang="en-US" sz="3000" dirty="0"/>
          </a:p>
        </p:txBody>
      </p:sp>
      <p:sp>
        <p:nvSpPr>
          <p:cNvPr id="4" name="Shape 2"/>
          <p:cNvSpPr/>
          <p:nvPr/>
        </p:nvSpPr>
        <p:spPr>
          <a:xfrm>
            <a:off x="457200" y="1225296"/>
            <a:ext cx="8229600" cy="20117"/>
          </a:xfrm>
          <a:prstGeom prst="rect">
            <a:avLst/>
          </a:prstGeom>
          <a:solidFill>
            <a:srgbClr val="E8EDF4"/>
          </a:solidFill>
          <a:ln w="12700">
            <a:solidFill>
              <a:srgbClr val="E8EDF4"/>
            </a:solidFill>
            <a:prstDash val="solid"/>
          </a:ln>
        </p:spPr>
      </p:sp>
      <p:sp>
        <p:nvSpPr>
          <p:cNvPr id="5" name="Text 3"/>
          <p:cNvSpPr/>
          <p:nvPr/>
        </p:nvSpPr>
        <p:spPr>
          <a:xfrm>
            <a:off x="457200" y="1371600"/>
            <a:ext cx="4160520" cy="274320"/>
          </a:xfrm>
          <a:prstGeom prst="rect">
            <a:avLst/>
          </a:prstGeom>
          <a:noFill/>
          <a:ln/>
        </p:spPr>
        <p:txBody>
          <a:bodyPr wrap="square" lIns="0" tIns="0" rIns="0" bIns="0" rtlCol="0" anchor="ctr"/>
          <a:lstStyle/>
          <a:p>
            <a:pPr indent="0" marL="0">
              <a:buNone/>
            </a:pPr>
            <a:r>
              <a:rPr lang="en-US" sz="1300" b="1" dirty="0">
                <a:solidFill>
                  <a:srgbClr val="B5281C"/>
                </a:solidFill>
                <a:latin typeface="Cambria" pitchFamily="34" charset="0"/>
                <a:ea typeface="Cambria" pitchFamily="34" charset="-122"/>
                <a:cs typeface="Cambria" pitchFamily="34" charset="-120"/>
              </a:rPr>
              <a:t>Current Limitations</a:t>
            </a:r>
            <a:endParaRPr lang="en-US" sz="1300" dirty="0"/>
          </a:p>
        </p:txBody>
      </p:sp>
      <p:sp>
        <p:nvSpPr>
          <p:cNvPr id="6" name="Shape 4"/>
          <p:cNvSpPr/>
          <p:nvPr/>
        </p:nvSpPr>
        <p:spPr>
          <a:xfrm>
            <a:off x="457200" y="1737360"/>
            <a:ext cx="4160520" cy="640080"/>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7" name="Shape 5"/>
          <p:cNvSpPr/>
          <p:nvPr/>
        </p:nvSpPr>
        <p:spPr>
          <a:xfrm>
            <a:off x="457200" y="1737360"/>
            <a:ext cx="50292" cy="640080"/>
          </a:xfrm>
          <a:prstGeom prst="rect">
            <a:avLst/>
          </a:prstGeom>
          <a:solidFill>
            <a:srgbClr val="B5281C"/>
          </a:solidFill>
          <a:ln w="12700">
            <a:solidFill>
              <a:srgbClr val="B5281C"/>
            </a:solidFill>
            <a:prstDash val="solid"/>
          </a:ln>
        </p:spPr>
      </p:sp>
      <p:sp>
        <p:nvSpPr>
          <p:cNvPr id="8" name="Text 6"/>
          <p:cNvSpPr/>
          <p:nvPr/>
        </p:nvSpPr>
        <p:spPr>
          <a:xfrm>
            <a:off x="658368" y="1792224"/>
            <a:ext cx="3822192" cy="237744"/>
          </a:xfrm>
          <a:prstGeom prst="rect">
            <a:avLst/>
          </a:prstGeom>
          <a:noFill/>
          <a:ln/>
        </p:spPr>
        <p:txBody>
          <a:bodyPr wrap="square" lIns="0" tIns="0" rIns="0" bIns="0" rtlCol="0" anchor="ctr"/>
          <a:lstStyle/>
          <a:p>
            <a:pPr indent="0" marL="0">
              <a:buNone/>
            </a:pPr>
            <a:r>
              <a:rPr lang="en-US" sz="1000" b="1" dirty="0">
                <a:solidFill>
                  <a:srgbClr val="1B3A6B"/>
                </a:solidFill>
                <a:latin typeface="Calibri" pitchFamily="34" charset="0"/>
                <a:ea typeface="Calibri" pitchFamily="34" charset="-122"/>
                <a:cs typeface="Calibri" pitchFamily="34" charset="-120"/>
              </a:rPr>
              <a:t>Local API only</a:t>
            </a:r>
            <a:endParaRPr lang="en-US" sz="1000" dirty="0"/>
          </a:p>
        </p:txBody>
      </p:sp>
      <p:sp>
        <p:nvSpPr>
          <p:cNvPr id="9" name="Text 7"/>
          <p:cNvSpPr/>
          <p:nvPr/>
        </p:nvSpPr>
        <p:spPr>
          <a:xfrm>
            <a:off x="658368" y="2029968"/>
            <a:ext cx="3822192" cy="274320"/>
          </a:xfrm>
          <a:prstGeom prst="rect">
            <a:avLst/>
          </a:prstGeom>
          <a:noFill/>
          <a:ln/>
        </p:spPr>
        <p:txBody>
          <a:bodyPr wrap="square" lIns="0" tIns="0" rIns="0" bIns="0" rtlCol="0" anchor="ctr"/>
          <a:lstStyle/>
          <a:p>
            <a:pPr indent="0" marL="0">
              <a:buNone/>
            </a:pPr>
            <a:r>
              <a:rPr lang="en-US" sz="900" dirty="0">
                <a:solidFill>
                  <a:srgbClr val="6B7C8F"/>
                </a:solidFill>
                <a:latin typeface="Calibri" pitchFamily="34" charset="0"/>
                <a:ea typeface="Calibri" pitchFamily="34" charset="-122"/>
                <a:cs typeface="Calibri" pitchFamily="34" charset="-120"/>
              </a:rPr>
              <a:t>Flask runs locally and requires local setup. Cannot be accessed outside a local network without deployment.</a:t>
            </a:r>
            <a:endParaRPr lang="en-US" sz="900" dirty="0"/>
          </a:p>
        </p:txBody>
      </p:sp>
      <p:sp>
        <p:nvSpPr>
          <p:cNvPr id="10" name="Shape 8"/>
          <p:cNvSpPr/>
          <p:nvPr/>
        </p:nvSpPr>
        <p:spPr>
          <a:xfrm>
            <a:off x="457200" y="2487168"/>
            <a:ext cx="4160520" cy="640080"/>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11" name="Shape 9"/>
          <p:cNvSpPr/>
          <p:nvPr/>
        </p:nvSpPr>
        <p:spPr>
          <a:xfrm>
            <a:off x="457200" y="2487168"/>
            <a:ext cx="50292" cy="640080"/>
          </a:xfrm>
          <a:prstGeom prst="rect">
            <a:avLst/>
          </a:prstGeom>
          <a:solidFill>
            <a:srgbClr val="B5281C"/>
          </a:solidFill>
          <a:ln w="12700">
            <a:solidFill>
              <a:srgbClr val="B5281C"/>
            </a:solidFill>
            <a:prstDash val="solid"/>
          </a:ln>
        </p:spPr>
      </p:sp>
      <p:sp>
        <p:nvSpPr>
          <p:cNvPr id="12" name="Text 10"/>
          <p:cNvSpPr/>
          <p:nvPr/>
        </p:nvSpPr>
        <p:spPr>
          <a:xfrm>
            <a:off x="658368" y="2542032"/>
            <a:ext cx="3822192" cy="237744"/>
          </a:xfrm>
          <a:prstGeom prst="rect">
            <a:avLst/>
          </a:prstGeom>
          <a:noFill/>
          <a:ln/>
        </p:spPr>
        <p:txBody>
          <a:bodyPr wrap="square" lIns="0" tIns="0" rIns="0" bIns="0" rtlCol="0" anchor="ctr"/>
          <a:lstStyle/>
          <a:p>
            <a:pPr indent="0" marL="0">
              <a:buNone/>
            </a:pPr>
            <a:r>
              <a:rPr lang="en-US" sz="1000" b="1" dirty="0">
                <a:solidFill>
                  <a:srgbClr val="1B3A6B"/>
                </a:solidFill>
                <a:latin typeface="Calibri" pitchFamily="34" charset="0"/>
                <a:ea typeface="Calibri" pitchFamily="34" charset="-122"/>
                <a:cs typeface="Calibri" pitchFamily="34" charset="-120"/>
              </a:rPr>
              <a:t>2025 training data</a:t>
            </a:r>
            <a:endParaRPr lang="en-US" sz="1000" dirty="0"/>
          </a:p>
        </p:txBody>
      </p:sp>
      <p:sp>
        <p:nvSpPr>
          <p:cNvPr id="13" name="Text 11"/>
          <p:cNvSpPr/>
          <p:nvPr/>
        </p:nvSpPr>
        <p:spPr>
          <a:xfrm>
            <a:off x="658368" y="2779776"/>
            <a:ext cx="3822192" cy="274320"/>
          </a:xfrm>
          <a:prstGeom prst="rect">
            <a:avLst/>
          </a:prstGeom>
          <a:noFill/>
          <a:ln/>
        </p:spPr>
        <p:txBody>
          <a:bodyPr wrap="square" lIns="0" tIns="0" rIns="0" bIns="0" rtlCol="0" anchor="ctr"/>
          <a:lstStyle/>
          <a:p>
            <a:pPr indent="0" marL="0">
              <a:buNone/>
            </a:pPr>
            <a:r>
              <a:rPr lang="en-US" sz="900" dirty="0">
                <a:solidFill>
                  <a:srgbClr val="6B7C8F"/>
                </a:solidFill>
                <a:latin typeface="Calibri" pitchFamily="34" charset="0"/>
                <a:ea typeface="Calibri" pitchFamily="34" charset="-122"/>
                <a:cs typeface="Calibri" pitchFamily="34" charset="-120"/>
              </a:rPr>
              <a:t>Model accuracy will gradually reduce as Pakistani used car market prices shift over time. Retraining required.</a:t>
            </a:r>
            <a:endParaRPr lang="en-US" sz="900" dirty="0"/>
          </a:p>
        </p:txBody>
      </p:sp>
      <p:sp>
        <p:nvSpPr>
          <p:cNvPr id="14" name="Shape 12"/>
          <p:cNvSpPr/>
          <p:nvPr/>
        </p:nvSpPr>
        <p:spPr>
          <a:xfrm>
            <a:off x="457200" y="3236976"/>
            <a:ext cx="4160520" cy="640080"/>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15" name="Shape 13"/>
          <p:cNvSpPr/>
          <p:nvPr/>
        </p:nvSpPr>
        <p:spPr>
          <a:xfrm>
            <a:off x="457200" y="3236976"/>
            <a:ext cx="50292" cy="640080"/>
          </a:xfrm>
          <a:prstGeom prst="rect">
            <a:avLst/>
          </a:prstGeom>
          <a:solidFill>
            <a:srgbClr val="B5281C"/>
          </a:solidFill>
          <a:ln w="12700">
            <a:solidFill>
              <a:srgbClr val="B5281C"/>
            </a:solidFill>
            <a:prstDash val="solid"/>
          </a:ln>
        </p:spPr>
      </p:sp>
      <p:sp>
        <p:nvSpPr>
          <p:cNvPr id="16" name="Text 14"/>
          <p:cNvSpPr/>
          <p:nvPr/>
        </p:nvSpPr>
        <p:spPr>
          <a:xfrm>
            <a:off x="658368" y="3291840"/>
            <a:ext cx="3822192" cy="237744"/>
          </a:xfrm>
          <a:prstGeom prst="rect">
            <a:avLst/>
          </a:prstGeom>
          <a:noFill/>
          <a:ln/>
        </p:spPr>
        <p:txBody>
          <a:bodyPr wrap="square" lIns="0" tIns="0" rIns="0" bIns="0" rtlCol="0" anchor="ctr"/>
          <a:lstStyle/>
          <a:p>
            <a:pPr indent="0" marL="0">
              <a:buNone/>
            </a:pPr>
            <a:r>
              <a:rPr lang="en-US" sz="1000" b="1" dirty="0">
                <a:solidFill>
                  <a:srgbClr val="1B3A6B"/>
                </a:solidFill>
                <a:latin typeface="Calibri" pitchFamily="34" charset="0"/>
                <a:ea typeface="Calibri" pitchFamily="34" charset="-122"/>
                <a:cs typeface="Calibri" pitchFamily="34" charset="-120"/>
              </a:rPr>
              <a:t>English interface only</a:t>
            </a:r>
            <a:endParaRPr lang="en-US" sz="1000" dirty="0"/>
          </a:p>
        </p:txBody>
      </p:sp>
      <p:sp>
        <p:nvSpPr>
          <p:cNvPr id="17" name="Text 15"/>
          <p:cNvSpPr/>
          <p:nvPr/>
        </p:nvSpPr>
        <p:spPr>
          <a:xfrm>
            <a:off x="658368" y="3529584"/>
            <a:ext cx="3822192" cy="274320"/>
          </a:xfrm>
          <a:prstGeom prst="rect">
            <a:avLst/>
          </a:prstGeom>
          <a:noFill/>
          <a:ln/>
        </p:spPr>
        <p:txBody>
          <a:bodyPr wrap="square" lIns="0" tIns="0" rIns="0" bIns="0" rtlCol="0" anchor="ctr"/>
          <a:lstStyle/>
          <a:p>
            <a:pPr indent="0" marL="0">
              <a:buNone/>
            </a:pPr>
            <a:r>
              <a:rPr lang="en-US" sz="900" dirty="0">
                <a:solidFill>
                  <a:srgbClr val="6B7C8F"/>
                </a:solidFill>
                <a:latin typeface="Calibri" pitchFamily="34" charset="0"/>
                <a:ea typeface="Calibri" pitchFamily="34" charset="-122"/>
                <a:cs typeface="Calibri" pitchFamily="34" charset="-120"/>
              </a:rPr>
              <a:t>A significant proportion of target users are more comfortable in Urdu. English limits accessibility for many.</a:t>
            </a:r>
            <a:endParaRPr lang="en-US" sz="900" dirty="0"/>
          </a:p>
        </p:txBody>
      </p:sp>
      <p:sp>
        <p:nvSpPr>
          <p:cNvPr id="18" name="Shape 16"/>
          <p:cNvSpPr/>
          <p:nvPr/>
        </p:nvSpPr>
        <p:spPr>
          <a:xfrm>
            <a:off x="457200" y="3986784"/>
            <a:ext cx="4160520" cy="640080"/>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19" name="Shape 17"/>
          <p:cNvSpPr/>
          <p:nvPr/>
        </p:nvSpPr>
        <p:spPr>
          <a:xfrm>
            <a:off x="457200" y="3986784"/>
            <a:ext cx="50292" cy="640080"/>
          </a:xfrm>
          <a:prstGeom prst="rect">
            <a:avLst/>
          </a:prstGeom>
          <a:solidFill>
            <a:srgbClr val="B5281C"/>
          </a:solidFill>
          <a:ln w="12700">
            <a:solidFill>
              <a:srgbClr val="B5281C"/>
            </a:solidFill>
            <a:prstDash val="solid"/>
          </a:ln>
        </p:spPr>
      </p:sp>
      <p:sp>
        <p:nvSpPr>
          <p:cNvPr id="20" name="Text 18"/>
          <p:cNvSpPr/>
          <p:nvPr/>
        </p:nvSpPr>
        <p:spPr>
          <a:xfrm>
            <a:off x="658368" y="4041648"/>
            <a:ext cx="3822192" cy="237744"/>
          </a:xfrm>
          <a:prstGeom prst="rect">
            <a:avLst/>
          </a:prstGeom>
          <a:noFill/>
          <a:ln/>
        </p:spPr>
        <p:txBody>
          <a:bodyPr wrap="square" lIns="0" tIns="0" rIns="0" bIns="0" rtlCol="0" anchor="ctr"/>
          <a:lstStyle/>
          <a:p>
            <a:pPr indent="0" marL="0">
              <a:buNone/>
            </a:pPr>
            <a:r>
              <a:rPr lang="en-US" sz="1000" b="1" dirty="0">
                <a:solidFill>
                  <a:srgbClr val="1B3A6B"/>
                </a:solidFill>
                <a:latin typeface="Calibri" pitchFamily="34" charset="0"/>
                <a:ea typeface="Calibri" pitchFamily="34" charset="-122"/>
                <a:cs typeface="Calibri" pitchFamily="34" charset="-120"/>
              </a:rPr>
              <a:t>Unequal city coverage</a:t>
            </a:r>
            <a:endParaRPr lang="en-US" sz="1000" dirty="0"/>
          </a:p>
        </p:txBody>
      </p:sp>
      <p:sp>
        <p:nvSpPr>
          <p:cNvPr id="21" name="Text 19"/>
          <p:cNvSpPr/>
          <p:nvPr/>
        </p:nvSpPr>
        <p:spPr>
          <a:xfrm>
            <a:off x="658368" y="4279392"/>
            <a:ext cx="3822192" cy="274320"/>
          </a:xfrm>
          <a:prstGeom prst="rect">
            <a:avLst/>
          </a:prstGeom>
          <a:noFill/>
          <a:ln/>
        </p:spPr>
        <p:txBody>
          <a:bodyPr wrap="square" lIns="0" tIns="0" rIns="0" bIns="0" rtlCol="0" anchor="ctr"/>
          <a:lstStyle/>
          <a:p>
            <a:pPr indent="0" marL="0">
              <a:buNone/>
            </a:pPr>
            <a:r>
              <a:rPr lang="en-US" sz="900" dirty="0">
                <a:solidFill>
                  <a:srgbClr val="6B7C8F"/>
                </a:solidFill>
                <a:latin typeface="Calibri" pitchFamily="34" charset="0"/>
                <a:ea typeface="Calibri" pitchFamily="34" charset="-122"/>
                <a:cs typeface="Calibri" pitchFamily="34" charset="-120"/>
              </a:rPr>
              <a:t>Karachi and Lahore over-represented in OLX data. Predictions for smaller cities may be less accurate.</a:t>
            </a:r>
            <a:endParaRPr lang="en-US" sz="900" dirty="0"/>
          </a:p>
        </p:txBody>
      </p:sp>
      <p:sp>
        <p:nvSpPr>
          <p:cNvPr id="22" name="Text 20"/>
          <p:cNvSpPr/>
          <p:nvPr/>
        </p:nvSpPr>
        <p:spPr>
          <a:xfrm>
            <a:off x="4773168" y="1371600"/>
            <a:ext cx="3913632" cy="274320"/>
          </a:xfrm>
          <a:prstGeom prst="rect">
            <a:avLst/>
          </a:prstGeom>
          <a:noFill/>
          <a:ln/>
        </p:spPr>
        <p:txBody>
          <a:bodyPr wrap="square" lIns="0" tIns="0" rIns="0" bIns="0" rtlCol="0" anchor="ctr"/>
          <a:lstStyle/>
          <a:p>
            <a:pPr indent="0" marL="0">
              <a:buNone/>
            </a:pPr>
            <a:r>
              <a:rPr lang="en-US" sz="1300" b="1" dirty="0">
                <a:solidFill>
                  <a:srgbClr val="1A7A4A"/>
                </a:solidFill>
                <a:latin typeface="Cambria" pitchFamily="34" charset="0"/>
                <a:ea typeface="Cambria" pitchFamily="34" charset="-122"/>
                <a:cs typeface="Cambria" pitchFamily="34" charset="-120"/>
              </a:rPr>
              <a:t>Future Roadmap</a:t>
            </a:r>
            <a:endParaRPr lang="en-US" sz="1300" dirty="0"/>
          </a:p>
        </p:txBody>
      </p:sp>
      <p:sp>
        <p:nvSpPr>
          <p:cNvPr id="23" name="Shape 21"/>
          <p:cNvSpPr/>
          <p:nvPr/>
        </p:nvSpPr>
        <p:spPr>
          <a:xfrm>
            <a:off x="4773168" y="1737360"/>
            <a:ext cx="3913632" cy="530352"/>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24" name="Shape 22"/>
          <p:cNvSpPr/>
          <p:nvPr/>
        </p:nvSpPr>
        <p:spPr>
          <a:xfrm>
            <a:off x="4773168" y="1737360"/>
            <a:ext cx="50292" cy="530352"/>
          </a:xfrm>
          <a:prstGeom prst="rect">
            <a:avLst/>
          </a:prstGeom>
          <a:solidFill>
            <a:srgbClr val="0B6E8C"/>
          </a:solidFill>
          <a:ln w="12700">
            <a:solidFill>
              <a:srgbClr val="0B6E8C"/>
            </a:solidFill>
            <a:prstDash val="solid"/>
          </a:ln>
        </p:spPr>
      </p:sp>
      <p:sp>
        <p:nvSpPr>
          <p:cNvPr id="25" name="Text 23"/>
          <p:cNvSpPr/>
          <p:nvPr/>
        </p:nvSpPr>
        <p:spPr>
          <a:xfrm>
            <a:off x="4956048" y="1792224"/>
            <a:ext cx="2286000" cy="237744"/>
          </a:xfrm>
          <a:prstGeom prst="rect">
            <a:avLst/>
          </a:prstGeom>
          <a:noFill/>
          <a:ln/>
        </p:spPr>
        <p:txBody>
          <a:bodyPr wrap="square" lIns="0" tIns="0" rIns="0" bIns="0" rtlCol="0" anchor="ctr"/>
          <a:lstStyle/>
          <a:p>
            <a:pPr indent="0" marL="0">
              <a:buNone/>
            </a:pPr>
            <a:r>
              <a:rPr lang="en-US" sz="1000" b="1" dirty="0">
                <a:solidFill>
                  <a:srgbClr val="0B6E8C"/>
                </a:solidFill>
                <a:latin typeface="Calibri" pitchFamily="34" charset="0"/>
                <a:ea typeface="Calibri" pitchFamily="34" charset="-122"/>
                <a:cs typeface="Calibri" pitchFamily="34" charset="-120"/>
              </a:rPr>
              <a:t>1.  Deploy online</a:t>
            </a:r>
            <a:endParaRPr lang="en-US" sz="1000" dirty="0"/>
          </a:p>
        </p:txBody>
      </p:sp>
      <p:sp>
        <p:nvSpPr>
          <p:cNvPr id="26" name="Text 24"/>
          <p:cNvSpPr/>
          <p:nvPr/>
        </p:nvSpPr>
        <p:spPr>
          <a:xfrm>
            <a:off x="4956048" y="2029968"/>
            <a:ext cx="3584448" cy="201168"/>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Railway or Heroku — public URL accessible across Pakistan</a:t>
            </a:r>
            <a:endParaRPr lang="en-US" sz="880" dirty="0"/>
          </a:p>
        </p:txBody>
      </p:sp>
      <p:sp>
        <p:nvSpPr>
          <p:cNvPr id="27" name="Shape 25"/>
          <p:cNvSpPr/>
          <p:nvPr/>
        </p:nvSpPr>
        <p:spPr>
          <a:xfrm>
            <a:off x="4773168" y="2340864"/>
            <a:ext cx="3913632" cy="530352"/>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28" name="Shape 26"/>
          <p:cNvSpPr/>
          <p:nvPr/>
        </p:nvSpPr>
        <p:spPr>
          <a:xfrm>
            <a:off x="4773168" y="2340864"/>
            <a:ext cx="50292" cy="530352"/>
          </a:xfrm>
          <a:prstGeom prst="rect">
            <a:avLst/>
          </a:prstGeom>
          <a:solidFill>
            <a:srgbClr val="1A7A4A"/>
          </a:solidFill>
          <a:ln w="12700">
            <a:solidFill>
              <a:srgbClr val="1A7A4A"/>
            </a:solidFill>
            <a:prstDash val="solid"/>
          </a:ln>
        </p:spPr>
      </p:sp>
      <p:sp>
        <p:nvSpPr>
          <p:cNvPr id="29" name="Text 27"/>
          <p:cNvSpPr/>
          <p:nvPr/>
        </p:nvSpPr>
        <p:spPr>
          <a:xfrm>
            <a:off x="4956048" y="2395728"/>
            <a:ext cx="2286000" cy="237744"/>
          </a:xfrm>
          <a:prstGeom prst="rect">
            <a:avLst/>
          </a:prstGeom>
          <a:noFill/>
          <a:ln/>
        </p:spPr>
        <p:txBody>
          <a:bodyPr wrap="square" lIns="0" tIns="0" rIns="0" bIns="0" rtlCol="0" anchor="ctr"/>
          <a:lstStyle/>
          <a:p>
            <a:pPr indent="0" marL="0">
              <a:buNone/>
            </a:pPr>
            <a:r>
              <a:rPr lang="en-US" sz="1000" b="1" dirty="0">
                <a:solidFill>
                  <a:srgbClr val="1A7A4A"/>
                </a:solidFill>
                <a:latin typeface="Calibri" pitchFamily="34" charset="0"/>
                <a:ea typeface="Calibri" pitchFamily="34" charset="-122"/>
                <a:cs typeface="Calibri" pitchFamily="34" charset="-120"/>
              </a:rPr>
              <a:t>2.  Automated data updates</a:t>
            </a:r>
            <a:endParaRPr lang="en-US" sz="1000" dirty="0"/>
          </a:p>
        </p:txBody>
      </p:sp>
      <p:sp>
        <p:nvSpPr>
          <p:cNvPr id="30" name="Text 28"/>
          <p:cNvSpPr/>
          <p:nvPr/>
        </p:nvSpPr>
        <p:spPr>
          <a:xfrm>
            <a:off x="4956048" y="2633472"/>
            <a:ext cx="3584448" cy="201168"/>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OLX and PakWheels scraping to keep model current with market</a:t>
            </a:r>
            <a:endParaRPr lang="en-US" sz="880" dirty="0"/>
          </a:p>
        </p:txBody>
      </p:sp>
      <p:sp>
        <p:nvSpPr>
          <p:cNvPr id="31" name="Shape 29"/>
          <p:cNvSpPr/>
          <p:nvPr/>
        </p:nvSpPr>
        <p:spPr>
          <a:xfrm>
            <a:off x="4773168" y="2944368"/>
            <a:ext cx="3913632" cy="530352"/>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32" name="Shape 30"/>
          <p:cNvSpPr/>
          <p:nvPr/>
        </p:nvSpPr>
        <p:spPr>
          <a:xfrm>
            <a:off x="4773168" y="2944368"/>
            <a:ext cx="50292" cy="530352"/>
          </a:xfrm>
          <a:prstGeom prst="rect">
            <a:avLst/>
          </a:prstGeom>
          <a:solidFill>
            <a:srgbClr val="B8860B"/>
          </a:solidFill>
          <a:ln w="12700">
            <a:solidFill>
              <a:srgbClr val="B8860B"/>
            </a:solidFill>
            <a:prstDash val="solid"/>
          </a:ln>
        </p:spPr>
      </p:sp>
      <p:sp>
        <p:nvSpPr>
          <p:cNvPr id="33" name="Text 31"/>
          <p:cNvSpPr/>
          <p:nvPr/>
        </p:nvSpPr>
        <p:spPr>
          <a:xfrm>
            <a:off x="4956048" y="2999232"/>
            <a:ext cx="2286000" cy="237744"/>
          </a:xfrm>
          <a:prstGeom prst="rect">
            <a:avLst/>
          </a:prstGeom>
          <a:noFill/>
          <a:ln/>
        </p:spPr>
        <p:txBody>
          <a:bodyPr wrap="square" lIns="0" tIns="0" rIns="0" bIns="0" rtlCol="0" anchor="ctr"/>
          <a:lstStyle/>
          <a:p>
            <a:pPr indent="0" marL="0">
              <a:buNone/>
            </a:pPr>
            <a:r>
              <a:rPr lang="en-US" sz="1000" b="1" dirty="0">
                <a:solidFill>
                  <a:srgbClr val="B8860B"/>
                </a:solidFill>
                <a:latin typeface="Calibri" pitchFamily="34" charset="0"/>
                <a:ea typeface="Calibri" pitchFamily="34" charset="-122"/>
                <a:cs typeface="Calibri" pitchFamily="34" charset="-120"/>
              </a:rPr>
              <a:t>3.  Urdu language version</a:t>
            </a:r>
            <a:endParaRPr lang="en-US" sz="1000" dirty="0"/>
          </a:p>
        </p:txBody>
      </p:sp>
      <p:sp>
        <p:nvSpPr>
          <p:cNvPr id="34" name="Text 32"/>
          <p:cNvSpPr/>
          <p:nvPr/>
        </p:nvSpPr>
        <p:spPr>
          <a:xfrm>
            <a:off x="4956048" y="3236976"/>
            <a:ext cx="3584448" cy="201168"/>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Most impactful accessibility improvement for target users</a:t>
            </a:r>
            <a:endParaRPr lang="en-US" sz="880" dirty="0"/>
          </a:p>
        </p:txBody>
      </p:sp>
      <p:sp>
        <p:nvSpPr>
          <p:cNvPr id="35" name="Shape 33"/>
          <p:cNvSpPr/>
          <p:nvPr/>
        </p:nvSpPr>
        <p:spPr>
          <a:xfrm>
            <a:off x="4773168" y="3547872"/>
            <a:ext cx="3913632" cy="530352"/>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36" name="Shape 34"/>
          <p:cNvSpPr/>
          <p:nvPr/>
        </p:nvSpPr>
        <p:spPr>
          <a:xfrm>
            <a:off x="4773168" y="3547872"/>
            <a:ext cx="50292" cy="530352"/>
          </a:xfrm>
          <a:prstGeom prst="rect">
            <a:avLst/>
          </a:prstGeom>
          <a:solidFill>
            <a:srgbClr val="5B2D8E"/>
          </a:solidFill>
          <a:ln w="12700">
            <a:solidFill>
              <a:srgbClr val="5B2D8E"/>
            </a:solidFill>
            <a:prstDash val="solid"/>
          </a:ln>
        </p:spPr>
      </p:sp>
      <p:sp>
        <p:nvSpPr>
          <p:cNvPr id="37" name="Text 35"/>
          <p:cNvSpPr/>
          <p:nvPr/>
        </p:nvSpPr>
        <p:spPr>
          <a:xfrm>
            <a:off x="4956048" y="3602736"/>
            <a:ext cx="2286000" cy="237744"/>
          </a:xfrm>
          <a:prstGeom prst="rect">
            <a:avLst/>
          </a:prstGeom>
          <a:noFill/>
          <a:ln/>
        </p:spPr>
        <p:txBody>
          <a:bodyPr wrap="square" lIns="0" tIns="0" rIns="0" bIns="0" rtlCol="0" anchor="ctr"/>
          <a:lstStyle/>
          <a:p>
            <a:pPr indent="0" marL="0">
              <a:buNone/>
            </a:pPr>
            <a:r>
              <a:rPr lang="en-US" sz="1000" b="1" dirty="0">
                <a:solidFill>
                  <a:srgbClr val="5B2D8E"/>
                </a:solidFill>
                <a:latin typeface="Calibri" pitchFamily="34" charset="0"/>
                <a:ea typeface="Calibri" pitchFamily="34" charset="-122"/>
                <a:cs typeface="Calibri" pitchFamily="34" charset="-120"/>
              </a:rPr>
              <a:t>4.  Mobile application</a:t>
            </a:r>
            <a:endParaRPr lang="en-US" sz="1000" dirty="0"/>
          </a:p>
        </p:txBody>
      </p:sp>
      <p:sp>
        <p:nvSpPr>
          <p:cNvPr id="38" name="Text 36"/>
          <p:cNvSpPr/>
          <p:nvPr/>
        </p:nvSpPr>
        <p:spPr>
          <a:xfrm>
            <a:off x="4956048" y="3840480"/>
            <a:ext cx="3584448" cy="201168"/>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iOS and Android native app for on-the-go price checking</a:t>
            </a:r>
            <a:endParaRPr lang="en-US" sz="880" dirty="0"/>
          </a:p>
        </p:txBody>
      </p:sp>
      <p:sp>
        <p:nvSpPr>
          <p:cNvPr id="39" name="Shape 37"/>
          <p:cNvSpPr/>
          <p:nvPr/>
        </p:nvSpPr>
        <p:spPr>
          <a:xfrm>
            <a:off x="4773168" y="4151376"/>
            <a:ext cx="3913632" cy="530352"/>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40" name="Shape 38"/>
          <p:cNvSpPr/>
          <p:nvPr/>
        </p:nvSpPr>
        <p:spPr>
          <a:xfrm>
            <a:off x="4773168" y="4151376"/>
            <a:ext cx="50292" cy="530352"/>
          </a:xfrm>
          <a:prstGeom prst="rect">
            <a:avLst/>
          </a:prstGeom>
          <a:solidFill>
            <a:srgbClr val="1B3A6B"/>
          </a:solidFill>
          <a:ln w="12700">
            <a:solidFill>
              <a:srgbClr val="1B3A6B"/>
            </a:solidFill>
            <a:prstDash val="solid"/>
          </a:ln>
        </p:spPr>
      </p:sp>
      <p:sp>
        <p:nvSpPr>
          <p:cNvPr id="41" name="Text 39"/>
          <p:cNvSpPr/>
          <p:nvPr/>
        </p:nvSpPr>
        <p:spPr>
          <a:xfrm>
            <a:off x="4956048" y="4206240"/>
            <a:ext cx="2286000" cy="237744"/>
          </a:xfrm>
          <a:prstGeom prst="rect">
            <a:avLst/>
          </a:prstGeom>
          <a:noFill/>
          <a:ln/>
        </p:spPr>
        <p:txBody>
          <a:bodyPr wrap="square" lIns="0" tIns="0" rIns="0" bIns="0" rtlCol="0" anchor="ctr"/>
          <a:lstStyle/>
          <a:p>
            <a:pPr indent="0" marL="0">
              <a:buNone/>
            </a:pPr>
            <a:r>
              <a:rPr lang="en-US" sz="1000" b="1" dirty="0">
                <a:solidFill>
                  <a:srgbClr val="1B3A6B"/>
                </a:solidFill>
                <a:latin typeface="Calibri" pitchFamily="34" charset="0"/>
                <a:ea typeface="Calibri" pitchFamily="34" charset="-122"/>
                <a:cs typeface="Calibri" pitchFamily="34" charset="-120"/>
              </a:rPr>
              <a:t>5.  Richer prediction features</a:t>
            </a:r>
            <a:endParaRPr lang="en-US" sz="1000" dirty="0"/>
          </a:p>
        </p:txBody>
      </p:sp>
      <p:sp>
        <p:nvSpPr>
          <p:cNvPr id="42" name="Text 40"/>
          <p:cNvSpPr/>
          <p:nvPr/>
        </p:nvSpPr>
        <p:spPr>
          <a:xfrm>
            <a:off x="4956048" y="4443984"/>
            <a:ext cx="3584448" cy="201168"/>
          </a:xfrm>
          <a:prstGeom prst="rect">
            <a:avLst/>
          </a:prstGeom>
          <a:noFill/>
          <a:ln/>
        </p:spPr>
        <p:txBody>
          <a:bodyPr wrap="square" lIns="0" tIns="0" rIns="0" bIns="0" rtlCol="0" anchor="ctr"/>
          <a:lstStyle/>
          <a:p>
            <a:pPr indent="0" marL="0">
              <a:buNone/>
            </a:pPr>
            <a:r>
              <a:rPr lang="en-US" sz="880" dirty="0">
                <a:solidFill>
                  <a:srgbClr val="6B7C8F"/>
                </a:solidFill>
                <a:latin typeface="Calibri" pitchFamily="34" charset="0"/>
                <a:ea typeface="Calibri" pitchFamily="34" charset="-122"/>
                <a:cs typeface="Calibri" pitchFamily="34" charset="-120"/>
              </a:rPr>
              <a:t>Accident history, service records, seller reputation score</a:t>
            </a:r>
            <a:endParaRPr lang="en-US" sz="8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8229600" cy="219456"/>
          </a:xfrm>
          <a:prstGeom prst="rect">
            <a:avLst/>
          </a:prstGeom>
          <a:noFill/>
          <a:ln/>
        </p:spPr>
        <p:txBody>
          <a:bodyPr wrap="square" lIns="0" tIns="0" rIns="0" bIns="0" rtlCol="0" anchor="ctr"/>
          <a:lstStyle/>
          <a:p>
            <a:pPr indent="0" marL="0">
              <a:buNone/>
            </a:pPr>
            <a:r>
              <a:rPr lang="en-US" sz="850" b="1" spc="250" kern="0" dirty="0">
                <a:solidFill>
                  <a:srgbClr val="1A7A4A"/>
                </a:solidFill>
                <a:latin typeface="Calibri" pitchFamily="34" charset="0"/>
                <a:ea typeface="Calibri" pitchFamily="34" charset="-122"/>
                <a:cs typeface="Calibri" pitchFamily="34" charset="-120"/>
              </a:rPr>
              <a:t>CHAPTER 8 — MODEL EVALUATION</a:t>
            </a:r>
            <a:endParaRPr lang="en-US" sz="85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000" b="1" dirty="0">
                <a:solidFill>
                  <a:srgbClr val="1B3A6B"/>
                </a:solidFill>
                <a:latin typeface="Cambria" pitchFamily="34" charset="0"/>
                <a:ea typeface="Cambria" pitchFamily="34" charset="-122"/>
                <a:cs typeface="Cambria" pitchFamily="34" charset="-120"/>
              </a:rPr>
              <a:t>Actual vs Predicted — Gradient Boosting Results</a:t>
            </a:r>
            <a:endParaRPr lang="en-US" sz="3000" dirty="0"/>
          </a:p>
        </p:txBody>
      </p:sp>
      <p:sp>
        <p:nvSpPr>
          <p:cNvPr id="4" name="Shape 2"/>
          <p:cNvSpPr/>
          <p:nvPr/>
        </p:nvSpPr>
        <p:spPr>
          <a:xfrm>
            <a:off x="457200" y="1225296"/>
            <a:ext cx="8229600" cy="20117"/>
          </a:xfrm>
          <a:prstGeom prst="rect">
            <a:avLst/>
          </a:prstGeom>
          <a:solidFill>
            <a:srgbClr val="E8EDF4"/>
          </a:solidFill>
          <a:ln w="12700">
            <a:solidFill>
              <a:srgbClr val="E8EDF4"/>
            </a:solidFill>
            <a:prstDash val="solid"/>
          </a:ln>
        </p:spPr>
      </p:sp>
      <p:sp>
        <p:nvSpPr>
          <p:cNvPr id="5" name="Shape 3"/>
          <p:cNvSpPr/>
          <p:nvPr/>
        </p:nvSpPr>
        <p:spPr>
          <a:xfrm>
            <a:off x="457200" y="1353312"/>
            <a:ext cx="5029200" cy="3547872"/>
          </a:xfrm>
          <a:prstGeom prst="rect">
            <a:avLst/>
          </a:prstGeom>
          <a:solidFill>
            <a:srgbClr val="F4F6F9"/>
          </a:solidFill>
          <a:ln w="10160">
            <a:solidFill>
              <a:srgbClr val="DDE3ED"/>
            </a:solidFill>
            <a:prstDash val="solid"/>
          </a:ln>
          <a:effectLst>
            <a:outerShdw sx="100000" sy="100000" kx="0" ky="0" algn="bl" rotWithShape="0" blurRad="101600" dist="25400" dir="8100000">
              <a:srgbClr val="000000">
                <a:alpha val="7000"/>
              </a:srgbClr>
            </a:outerShdw>
          </a:effectLst>
        </p:spPr>
      </p:sp>
      <p:sp>
        <p:nvSpPr>
          <p:cNvPr id="6" name="Text 4"/>
          <p:cNvSpPr/>
          <p:nvPr/>
        </p:nvSpPr>
        <p:spPr>
          <a:xfrm rot="16200000">
            <a:off x="475488" y="2011680"/>
            <a:ext cx="274320" cy="2011680"/>
          </a:xfrm>
          <a:prstGeom prst="rect">
            <a:avLst/>
          </a:prstGeom>
          <a:noFill/>
          <a:ln/>
        </p:spPr>
        <p:txBody>
          <a:bodyPr wrap="square" lIns="0" tIns="0" rIns="0" bIns="0" rtlCol="0" anchor="ctr"/>
          <a:lstStyle/>
          <a:p>
            <a:pPr indent="0" marL="0">
              <a:buNone/>
            </a:pPr>
            <a:r>
              <a:rPr lang="en-US" sz="800" dirty="0">
                <a:solidFill>
                  <a:srgbClr val="6B7C8F"/>
                </a:solidFill>
                <a:latin typeface="Calibri" pitchFamily="34" charset="0"/>
                <a:ea typeface="Calibri" pitchFamily="34" charset="-122"/>
                <a:cs typeface="Calibri" pitchFamily="34" charset="-120"/>
              </a:rPr>
              <a:t>Actual Price (PKR M)</a:t>
            </a:r>
            <a:endParaRPr lang="en-US" sz="800" dirty="0"/>
          </a:p>
        </p:txBody>
      </p:sp>
      <p:sp>
        <p:nvSpPr>
          <p:cNvPr id="7" name="Text 5"/>
          <p:cNvSpPr/>
          <p:nvPr/>
        </p:nvSpPr>
        <p:spPr>
          <a:xfrm>
            <a:off x="1371600" y="4773168"/>
            <a:ext cx="3474720" cy="182880"/>
          </a:xfrm>
          <a:prstGeom prst="rect">
            <a:avLst/>
          </a:prstGeom>
          <a:noFill/>
          <a:ln/>
        </p:spPr>
        <p:txBody>
          <a:bodyPr wrap="square" lIns="0" tIns="0" rIns="0" bIns="0" rtlCol="0" anchor="ctr"/>
          <a:lstStyle/>
          <a:p>
            <a:pPr algn="ctr" indent="0" marL="0">
              <a:buNone/>
            </a:pPr>
            <a:r>
              <a:rPr lang="en-US" sz="850" dirty="0">
                <a:solidFill>
                  <a:srgbClr val="6B7C8F"/>
                </a:solidFill>
                <a:latin typeface="Calibri" pitchFamily="34" charset="0"/>
                <a:ea typeface="Calibri" pitchFamily="34" charset="-122"/>
                <a:cs typeface="Calibri" pitchFamily="34" charset="-120"/>
              </a:rPr>
              <a:t>Predicted Price (PKR M)</a:t>
            </a:r>
            <a:endParaRPr lang="en-US" sz="850" dirty="0"/>
          </a:p>
        </p:txBody>
      </p:sp>
      <p:sp>
        <p:nvSpPr>
          <p:cNvPr id="8" name="Shape 6"/>
          <p:cNvSpPr/>
          <p:nvPr/>
        </p:nvSpPr>
        <p:spPr>
          <a:xfrm>
            <a:off x="914400" y="1481328"/>
            <a:ext cx="4297680" cy="3127248"/>
          </a:xfrm>
          <a:prstGeom prst="rect">
            <a:avLst/>
          </a:prstGeom>
          <a:solidFill>
            <a:srgbClr val="FFFFFF"/>
          </a:solidFill>
          <a:ln w="12700">
            <a:solidFill>
              <a:srgbClr val="FFFFFF"/>
            </a:solidFill>
            <a:prstDash val="solid"/>
          </a:ln>
        </p:spPr>
      </p:sp>
      <p:sp>
        <p:nvSpPr>
          <p:cNvPr id="9" name="Shape 7"/>
          <p:cNvSpPr/>
          <p:nvPr/>
        </p:nvSpPr>
        <p:spPr>
          <a:xfrm>
            <a:off x="914400" y="4608576"/>
            <a:ext cx="54864" cy="27432"/>
          </a:xfrm>
          <a:prstGeom prst="rect">
            <a:avLst/>
          </a:prstGeom>
          <a:solidFill>
            <a:srgbClr val="E8EDF4"/>
          </a:solidFill>
          <a:ln w="12700">
            <a:solidFill>
              <a:srgbClr val="E8EDF4"/>
            </a:solidFill>
            <a:prstDash val="solid"/>
          </a:ln>
        </p:spPr>
      </p:sp>
      <p:sp>
        <p:nvSpPr>
          <p:cNvPr id="10" name="Shape 8"/>
          <p:cNvSpPr/>
          <p:nvPr/>
        </p:nvSpPr>
        <p:spPr>
          <a:xfrm>
            <a:off x="1344168" y="4295851"/>
            <a:ext cx="54864" cy="27432"/>
          </a:xfrm>
          <a:prstGeom prst="rect">
            <a:avLst/>
          </a:prstGeom>
          <a:solidFill>
            <a:srgbClr val="E8EDF4"/>
          </a:solidFill>
          <a:ln w="12700">
            <a:solidFill>
              <a:srgbClr val="E8EDF4"/>
            </a:solidFill>
            <a:prstDash val="solid"/>
          </a:ln>
        </p:spPr>
      </p:sp>
      <p:sp>
        <p:nvSpPr>
          <p:cNvPr id="11" name="Shape 9"/>
          <p:cNvSpPr/>
          <p:nvPr/>
        </p:nvSpPr>
        <p:spPr>
          <a:xfrm>
            <a:off x="1773936" y="3983126"/>
            <a:ext cx="54864" cy="27432"/>
          </a:xfrm>
          <a:prstGeom prst="rect">
            <a:avLst/>
          </a:prstGeom>
          <a:solidFill>
            <a:srgbClr val="E8EDF4"/>
          </a:solidFill>
          <a:ln w="12700">
            <a:solidFill>
              <a:srgbClr val="E8EDF4"/>
            </a:solidFill>
            <a:prstDash val="solid"/>
          </a:ln>
        </p:spPr>
      </p:sp>
      <p:sp>
        <p:nvSpPr>
          <p:cNvPr id="12" name="Shape 10"/>
          <p:cNvSpPr/>
          <p:nvPr/>
        </p:nvSpPr>
        <p:spPr>
          <a:xfrm>
            <a:off x="2203704" y="3670402"/>
            <a:ext cx="54864" cy="27432"/>
          </a:xfrm>
          <a:prstGeom prst="rect">
            <a:avLst/>
          </a:prstGeom>
          <a:solidFill>
            <a:srgbClr val="E8EDF4"/>
          </a:solidFill>
          <a:ln w="12700">
            <a:solidFill>
              <a:srgbClr val="E8EDF4"/>
            </a:solidFill>
            <a:prstDash val="solid"/>
          </a:ln>
        </p:spPr>
      </p:sp>
      <p:sp>
        <p:nvSpPr>
          <p:cNvPr id="13" name="Shape 11"/>
          <p:cNvSpPr/>
          <p:nvPr/>
        </p:nvSpPr>
        <p:spPr>
          <a:xfrm>
            <a:off x="2633472" y="3357677"/>
            <a:ext cx="54864" cy="27432"/>
          </a:xfrm>
          <a:prstGeom prst="rect">
            <a:avLst/>
          </a:prstGeom>
          <a:solidFill>
            <a:srgbClr val="E8EDF4"/>
          </a:solidFill>
          <a:ln w="12700">
            <a:solidFill>
              <a:srgbClr val="E8EDF4"/>
            </a:solidFill>
            <a:prstDash val="solid"/>
          </a:ln>
        </p:spPr>
      </p:sp>
      <p:sp>
        <p:nvSpPr>
          <p:cNvPr id="14" name="Shape 12"/>
          <p:cNvSpPr/>
          <p:nvPr/>
        </p:nvSpPr>
        <p:spPr>
          <a:xfrm>
            <a:off x="3063240" y="3044952"/>
            <a:ext cx="54864" cy="27432"/>
          </a:xfrm>
          <a:prstGeom prst="rect">
            <a:avLst/>
          </a:prstGeom>
          <a:solidFill>
            <a:srgbClr val="E8EDF4"/>
          </a:solidFill>
          <a:ln w="12700">
            <a:solidFill>
              <a:srgbClr val="E8EDF4"/>
            </a:solidFill>
            <a:prstDash val="solid"/>
          </a:ln>
        </p:spPr>
      </p:sp>
      <p:sp>
        <p:nvSpPr>
          <p:cNvPr id="15" name="Shape 13"/>
          <p:cNvSpPr/>
          <p:nvPr/>
        </p:nvSpPr>
        <p:spPr>
          <a:xfrm>
            <a:off x="3493008" y="2732227"/>
            <a:ext cx="54864" cy="27432"/>
          </a:xfrm>
          <a:prstGeom prst="rect">
            <a:avLst/>
          </a:prstGeom>
          <a:solidFill>
            <a:srgbClr val="E8EDF4"/>
          </a:solidFill>
          <a:ln w="12700">
            <a:solidFill>
              <a:srgbClr val="E8EDF4"/>
            </a:solidFill>
            <a:prstDash val="solid"/>
          </a:ln>
        </p:spPr>
      </p:sp>
      <p:sp>
        <p:nvSpPr>
          <p:cNvPr id="16" name="Shape 14"/>
          <p:cNvSpPr/>
          <p:nvPr/>
        </p:nvSpPr>
        <p:spPr>
          <a:xfrm>
            <a:off x="3922776" y="2419502"/>
            <a:ext cx="54864" cy="27432"/>
          </a:xfrm>
          <a:prstGeom prst="rect">
            <a:avLst/>
          </a:prstGeom>
          <a:solidFill>
            <a:srgbClr val="E8EDF4"/>
          </a:solidFill>
          <a:ln w="12700">
            <a:solidFill>
              <a:srgbClr val="E8EDF4"/>
            </a:solidFill>
            <a:prstDash val="solid"/>
          </a:ln>
        </p:spPr>
      </p:sp>
      <p:sp>
        <p:nvSpPr>
          <p:cNvPr id="17" name="Shape 15"/>
          <p:cNvSpPr/>
          <p:nvPr/>
        </p:nvSpPr>
        <p:spPr>
          <a:xfrm>
            <a:off x="4352544" y="2106778"/>
            <a:ext cx="54864" cy="27432"/>
          </a:xfrm>
          <a:prstGeom prst="rect">
            <a:avLst/>
          </a:prstGeom>
          <a:solidFill>
            <a:srgbClr val="E8EDF4"/>
          </a:solidFill>
          <a:ln w="12700">
            <a:solidFill>
              <a:srgbClr val="E8EDF4"/>
            </a:solidFill>
            <a:prstDash val="solid"/>
          </a:ln>
        </p:spPr>
      </p:sp>
      <p:sp>
        <p:nvSpPr>
          <p:cNvPr id="18" name="Shape 16"/>
          <p:cNvSpPr/>
          <p:nvPr/>
        </p:nvSpPr>
        <p:spPr>
          <a:xfrm>
            <a:off x="4782312" y="1794053"/>
            <a:ext cx="54864" cy="27432"/>
          </a:xfrm>
          <a:prstGeom prst="rect">
            <a:avLst/>
          </a:prstGeom>
          <a:solidFill>
            <a:srgbClr val="E8EDF4"/>
          </a:solidFill>
          <a:ln w="12700">
            <a:solidFill>
              <a:srgbClr val="E8EDF4"/>
            </a:solidFill>
            <a:prstDash val="solid"/>
          </a:ln>
        </p:spPr>
      </p:sp>
      <p:sp>
        <p:nvSpPr>
          <p:cNvPr id="19" name="Shape 17"/>
          <p:cNvSpPr/>
          <p:nvPr/>
        </p:nvSpPr>
        <p:spPr>
          <a:xfrm>
            <a:off x="5212080" y="1481328"/>
            <a:ext cx="54864" cy="27432"/>
          </a:xfrm>
          <a:prstGeom prst="rect">
            <a:avLst/>
          </a:prstGeom>
          <a:solidFill>
            <a:srgbClr val="E8EDF4"/>
          </a:solidFill>
          <a:ln w="12700">
            <a:solidFill>
              <a:srgbClr val="E8EDF4"/>
            </a:solidFill>
            <a:prstDash val="solid"/>
          </a:ln>
        </p:spPr>
      </p:sp>
      <p:sp>
        <p:nvSpPr>
          <p:cNvPr id="20" name="Shape 18"/>
          <p:cNvSpPr/>
          <p:nvPr/>
        </p:nvSpPr>
        <p:spPr>
          <a:xfrm>
            <a:off x="914400" y="2263140"/>
            <a:ext cx="4297680" cy="10973"/>
          </a:xfrm>
          <a:prstGeom prst="rect">
            <a:avLst/>
          </a:prstGeom>
          <a:solidFill>
            <a:srgbClr val="E8EDF4"/>
          </a:solidFill>
          <a:ln w="12700">
            <a:solidFill>
              <a:srgbClr val="E8EDF4"/>
            </a:solidFill>
            <a:prstDash val="solid"/>
          </a:ln>
        </p:spPr>
      </p:sp>
      <p:sp>
        <p:nvSpPr>
          <p:cNvPr id="21" name="Shape 19"/>
          <p:cNvSpPr/>
          <p:nvPr/>
        </p:nvSpPr>
        <p:spPr>
          <a:xfrm>
            <a:off x="914400" y="3044952"/>
            <a:ext cx="4297680" cy="10973"/>
          </a:xfrm>
          <a:prstGeom prst="rect">
            <a:avLst/>
          </a:prstGeom>
          <a:solidFill>
            <a:srgbClr val="E8EDF4"/>
          </a:solidFill>
          <a:ln w="12700">
            <a:solidFill>
              <a:srgbClr val="E8EDF4"/>
            </a:solidFill>
            <a:prstDash val="solid"/>
          </a:ln>
        </p:spPr>
      </p:sp>
      <p:sp>
        <p:nvSpPr>
          <p:cNvPr id="22" name="Shape 20"/>
          <p:cNvSpPr/>
          <p:nvPr/>
        </p:nvSpPr>
        <p:spPr>
          <a:xfrm>
            <a:off x="914400" y="3826764"/>
            <a:ext cx="4297680" cy="10973"/>
          </a:xfrm>
          <a:prstGeom prst="rect">
            <a:avLst/>
          </a:prstGeom>
          <a:solidFill>
            <a:srgbClr val="E8EDF4"/>
          </a:solidFill>
          <a:ln w="12700">
            <a:solidFill>
              <a:srgbClr val="E8EDF4"/>
            </a:solidFill>
            <a:prstDash val="solid"/>
          </a:ln>
        </p:spPr>
      </p:sp>
      <p:sp>
        <p:nvSpPr>
          <p:cNvPr id="23" name="Shape 21"/>
          <p:cNvSpPr/>
          <p:nvPr/>
        </p:nvSpPr>
        <p:spPr>
          <a:xfrm>
            <a:off x="1988820" y="1481328"/>
            <a:ext cx="10973" cy="3127248"/>
          </a:xfrm>
          <a:prstGeom prst="rect">
            <a:avLst/>
          </a:prstGeom>
          <a:solidFill>
            <a:srgbClr val="E8EDF4"/>
          </a:solidFill>
          <a:ln w="12700">
            <a:solidFill>
              <a:srgbClr val="E8EDF4"/>
            </a:solidFill>
            <a:prstDash val="solid"/>
          </a:ln>
        </p:spPr>
      </p:sp>
      <p:sp>
        <p:nvSpPr>
          <p:cNvPr id="24" name="Shape 22"/>
          <p:cNvSpPr/>
          <p:nvPr/>
        </p:nvSpPr>
        <p:spPr>
          <a:xfrm>
            <a:off x="3063240" y="1481328"/>
            <a:ext cx="10973" cy="3127248"/>
          </a:xfrm>
          <a:prstGeom prst="rect">
            <a:avLst/>
          </a:prstGeom>
          <a:solidFill>
            <a:srgbClr val="E8EDF4"/>
          </a:solidFill>
          <a:ln w="12700">
            <a:solidFill>
              <a:srgbClr val="E8EDF4"/>
            </a:solidFill>
            <a:prstDash val="solid"/>
          </a:ln>
        </p:spPr>
      </p:sp>
      <p:sp>
        <p:nvSpPr>
          <p:cNvPr id="25" name="Shape 23"/>
          <p:cNvSpPr/>
          <p:nvPr/>
        </p:nvSpPr>
        <p:spPr>
          <a:xfrm>
            <a:off x="4137660" y="1481328"/>
            <a:ext cx="10973" cy="3127248"/>
          </a:xfrm>
          <a:prstGeom prst="rect">
            <a:avLst/>
          </a:prstGeom>
          <a:solidFill>
            <a:srgbClr val="E8EDF4"/>
          </a:solidFill>
          <a:ln w="12700">
            <a:solidFill>
              <a:srgbClr val="E8EDF4"/>
            </a:solidFill>
            <a:prstDash val="solid"/>
          </a:ln>
        </p:spPr>
      </p:sp>
      <p:sp>
        <p:nvSpPr>
          <p:cNvPr id="26" name="Text 24"/>
          <p:cNvSpPr/>
          <p:nvPr/>
        </p:nvSpPr>
        <p:spPr>
          <a:xfrm>
            <a:off x="502920" y="1408176"/>
            <a:ext cx="384048" cy="201168"/>
          </a:xfrm>
          <a:prstGeom prst="rect">
            <a:avLst/>
          </a:prstGeom>
          <a:noFill/>
          <a:ln/>
        </p:spPr>
        <p:txBody>
          <a:bodyPr wrap="square" lIns="0" tIns="0" rIns="0" bIns="0" rtlCol="0" anchor="ctr"/>
          <a:lstStyle/>
          <a:p>
            <a:pPr algn="r" indent="0" marL="0">
              <a:buNone/>
            </a:pPr>
            <a:r>
              <a:rPr lang="en-US" sz="750" dirty="0">
                <a:solidFill>
                  <a:srgbClr val="6B7C8F"/>
                </a:solidFill>
                <a:latin typeface="Calibri" pitchFamily="34" charset="0"/>
                <a:ea typeface="Calibri" pitchFamily="34" charset="-122"/>
                <a:cs typeface="Calibri" pitchFamily="34" charset="-120"/>
              </a:rPr>
              <a:t>5M</a:t>
            </a:r>
            <a:endParaRPr lang="en-US" sz="750" dirty="0"/>
          </a:p>
        </p:txBody>
      </p:sp>
      <p:sp>
        <p:nvSpPr>
          <p:cNvPr id="27" name="Text 25"/>
          <p:cNvSpPr/>
          <p:nvPr/>
        </p:nvSpPr>
        <p:spPr>
          <a:xfrm>
            <a:off x="502920" y="2189988"/>
            <a:ext cx="384048" cy="201168"/>
          </a:xfrm>
          <a:prstGeom prst="rect">
            <a:avLst/>
          </a:prstGeom>
          <a:noFill/>
          <a:ln/>
        </p:spPr>
        <p:txBody>
          <a:bodyPr wrap="square" lIns="0" tIns="0" rIns="0" bIns="0" rtlCol="0" anchor="ctr"/>
          <a:lstStyle/>
          <a:p>
            <a:pPr algn="r" indent="0" marL="0">
              <a:buNone/>
            </a:pPr>
            <a:r>
              <a:rPr lang="en-US" sz="750" dirty="0">
                <a:solidFill>
                  <a:srgbClr val="6B7C8F"/>
                </a:solidFill>
                <a:latin typeface="Calibri" pitchFamily="34" charset="0"/>
                <a:ea typeface="Calibri" pitchFamily="34" charset="-122"/>
                <a:cs typeface="Calibri" pitchFamily="34" charset="-120"/>
              </a:rPr>
              <a:t>3.75M</a:t>
            </a:r>
            <a:endParaRPr lang="en-US" sz="750" dirty="0"/>
          </a:p>
        </p:txBody>
      </p:sp>
      <p:sp>
        <p:nvSpPr>
          <p:cNvPr id="28" name="Text 26"/>
          <p:cNvSpPr/>
          <p:nvPr/>
        </p:nvSpPr>
        <p:spPr>
          <a:xfrm>
            <a:off x="502920" y="2971800"/>
            <a:ext cx="384048" cy="201168"/>
          </a:xfrm>
          <a:prstGeom prst="rect">
            <a:avLst/>
          </a:prstGeom>
          <a:noFill/>
          <a:ln/>
        </p:spPr>
        <p:txBody>
          <a:bodyPr wrap="square" lIns="0" tIns="0" rIns="0" bIns="0" rtlCol="0" anchor="ctr"/>
          <a:lstStyle/>
          <a:p>
            <a:pPr algn="r" indent="0" marL="0">
              <a:buNone/>
            </a:pPr>
            <a:r>
              <a:rPr lang="en-US" sz="750" dirty="0">
                <a:solidFill>
                  <a:srgbClr val="6B7C8F"/>
                </a:solidFill>
                <a:latin typeface="Calibri" pitchFamily="34" charset="0"/>
                <a:ea typeface="Calibri" pitchFamily="34" charset="-122"/>
                <a:cs typeface="Calibri" pitchFamily="34" charset="-120"/>
              </a:rPr>
              <a:t>2.5M</a:t>
            </a:r>
            <a:endParaRPr lang="en-US" sz="750" dirty="0"/>
          </a:p>
        </p:txBody>
      </p:sp>
      <p:sp>
        <p:nvSpPr>
          <p:cNvPr id="29" name="Text 27"/>
          <p:cNvSpPr/>
          <p:nvPr/>
        </p:nvSpPr>
        <p:spPr>
          <a:xfrm>
            <a:off x="502920" y="3753612"/>
            <a:ext cx="384048" cy="201168"/>
          </a:xfrm>
          <a:prstGeom prst="rect">
            <a:avLst/>
          </a:prstGeom>
          <a:noFill/>
          <a:ln/>
        </p:spPr>
        <p:txBody>
          <a:bodyPr wrap="square" lIns="0" tIns="0" rIns="0" bIns="0" rtlCol="0" anchor="ctr"/>
          <a:lstStyle/>
          <a:p>
            <a:pPr algn="r" indent="0" marL="0">
              <a:buNone/>
            </a:pPr>
            <a:r>
              <a:rPr lang="en-US" sz="750" dirty="0">
                <a:solidFill>
                  <a:srgbClr val="6B7C8F"/>
                </a:solidFill>
                <a:latin typeface="Calibri" pitchFamily="34" charset="0"/>
                <a:ea typeface="Calibri" pitchFamily="34" charset="-122"/>
                <a:cs typeface="Calibri" pitchFamily="34" charset="-120"/>
              </a:rPr>
              <a:t>1.25M</a:t>
            </a:r>
            <a:endParaRPr lang="en-US" sz="750" dirty="0"/>
          </a:p>
        </p:txBody>
      </p:sp>
      <p:sp>
        <p:nvSpPr>
          <p:cNvPr id="30" name="Text 28"/>
          <p:cNvSpPr/>
          <p:nvPr/>
        </p:nvSpPr>
        <p:spPr>
          <a:xfrm>
            <a:off x="1760220" y="4663440"/>
            <a:ext cx="457200" cy="182880"/>
          </a:xfrm>
          <a:prstGeom prst="rect">
            <a:avLst/>
          </a:prstGeom>
          <a:noFill/>
          <a:ln/>
        </p:spPr>
        <p:txBody>
          <a:bodyPr wrap="square" lIns="0" tIns="0" rIns="0" bIns="0" rtlCol="0" anchor="ctr"/>
          <a:lstStyle/>
          <a:p>
            <a:pPr algn="ctr" indent="0" marL="0">
              <a:buNone/>
            </a:pPr>
            <a:r>
              <a:rPr lang="en-US" sz="750" dirty="0">
                <a:solidFill>
                  <a:srgbClr val="6B7C8F"/>
                </a:solidFill>
                <a:latin typeface="Calibri" pitchFamily="34" charset="0"/>
                <a:ea typeface="Calibri" pitchFamily="34" charset="-122"/>
                <a:cs typeface="Calibri" pitchFamily="34" charset="-120"/>
              </a:rPr>
              <a:t>1.25M</a:t>
            </a:r>
            <a:endParaRPr lang="en-US" sz="750" dirty="0"/>
          </a:p>
        </p:txBody>
      </p:sp>
      <p:sp>
        <p:nvSpPr>
          <p:cNvPr id="31" name="Text 29"/>
          <p:cNvSpPr/>
          <p:nvPr/>
        </p:nvSpPr>
        <p:spPr>
          <a:xfrm>
            <a:off x="2834640" y="4663440"/>
            <a:ext cx="457200" cy="182880"/>
          </a:xfrm>
          <a:prstGeom prst="rect">
            <a:avLst/>
          </a:prstGeom>
          <a:noFill/>
          <a:ln/>
        </p:spPr>
        <p:txBody>
          <a:bodyPr wrap="square" lIns="0" tIns="0" rIns="0" bIns="0" rtlCol="0" anchor="ctr"/>
          <a:lstStyle/>
          <a:p>
            <a:pPr algn="ctr" indent="0" marL="0">
              <a:buNone/>
            </a:pPr>
            <a:r>
              <a:rPr lang="en-US" sz="750" dirty="0">
                <a:solidFill>
                  <a:srgbClr val="6B7C8F"/>
                </a:solidFill>
                <a:latin typeface="Calibri" pitchFamily="34" charset="0"/>
                <a:ea typeface="Calibri" pitchFamily="34" charset="-122"/>
                <a:cs typeface="Calibri" pitchFamily="34" charset="-120"/>
              </a:rPr>
              <a:t>2.5M</a:t>
            </a:r>
            <a:endParaRPr lang="en-US" sz="750" dirty="0"/>
          </a:p>
        </p:txBody>
      </p:sp>
      <p:sp>
        <p:nvSpPr>
          <p:cNvPr id="32" name="Text 30"/>
          <p:cNvSpPr/>
          <p:nvPr/>
        </p:nvSpPr>
        <p:spPr>
          <a:xfrm>
            <a:off x="3909060" y="4663440"/>
            <a:ext cx="457200" cy="182880"/>
          </a:xfrm>
          <a:prstGeom prst="rect">
            <a:avLst/>
          </a:prstGeom>
          <a:noFill/>
          <a:ln/>
        </p:spPr>
        <p:txBody>
          <a:bodyPr wrap="square" lIns="0" tIns="0" rIns="0" bIns="0" rtlCol="0" anchor="ctr"/>
          <a:lstStyle/>
          <a:p>
            <a:pPr algn="ctr" indent="0" marL="0">
              <a:buNone/>
            </a:pPr>
            <a:r>
              <a:rPr lang="en-US" sz="750" dirty="0">
                <a:solidFill>
                  <a:srgbClr val="6B7C8F"/>
                </a:solidFill>
                <a:latin typeface="Calibri" pitchFamily="34" charset="0"/>
                <a:ea typeface="Calibri" pitchFamily="34" charset="-122"/>
                <a:cs typeface="Calibri" pitchFamily="34" charset="-120"/>
              </a:rPr>
              <a:t>3.75M</a:t>
            </a:r>
            <a:endParaRPr lang="en-US" sz="750" dirty="0"/>
          </a:p>
        </p:txBody>
      </p:sp>
      <p:sp>
        <p:nvSpPr>
          <p:cNvPr id="33" name="Text 31"/>
          <p:cNvSpPr/>
          <p:nvPr/>
        </p:nvSpPr>
        <p:spPr>
          <a:xfrm>
            <a:off x="4983480" y="4663440"/>
            <a:ext cx="457200" cy="182880"/>
          </a:xfrm>
          <a:prstGeom prst="rect">
            <a:avLst/>
          </a:prstGeom>
          <a:noFill/>
          <a:ln/>
        </p:spPr>
        <p:txBody>
          <a:bodyPr wrap="square" lIns="0" tIns="0" rIns="0" bIns="0" rtlCol="0" anchor="ctr"/>
          <a:lstStyle/>
          <a:p>
            <a:pPr algn="ctr" indent="0" marL="0">
              <a:buNone/>
            </a:pPr>
            <a:r>
              <a:rPr lang="en-US" sz="750" dirty="0">
                <a:solidFill>
                  <a:srgbClr val="6B7C8F"/>
                </a:solidFill>
                <a:latin typeface="Calibri" pitchFamily="34" charset="0"/>
                <a:ea typeface="Calibri" pitchFamily="34" charset="-122"/>
                <a:cs typeface="Calibri" pitchFamily="34" charset="-120"/>
              </a:rPr>
              <a:t>5M</a:t>
            </a:r>
            <a:endParaRPr lang="en-US" sz="750" dirty="0"/>
          </a:p>
        </p:txBody>
      </p:sp>
      <p:sp>
        <p:nvSpPr>
          <p:cNvPr id="34" name="Shape 32"/>
          <p:cNvSpPr/>
          <p:nvPr/>
        </p:nvSpPr>
        <p:spPr>
          <a:xfrm>
            <a:off x="1366114" y="4138026"/>
            <a:ext cx="128016" cy="128016"/>
          </a:xfrm>
          <a:prstGeom prst="ellipse">
            <a:avLst/>
          </a:prstGeom>
          <a:solidFill>
            <a:srgbClr val="1B3A6B"/>
          </a:solidFill>
          <a:ln w="12700">
            <a:solidFill>
              <a:srgbClr val="1B3A6B"/>
            </a:solidFill>
            <a:prstDash val="solid"/>
          </a:ln>
        </p:spPr>
      </p:sp>
      <p:sp>
        <p:nvSpPr>
          <p:cNvPr id="35" name="Shape 33"/>
          <p:cNvSpPr/>
          <p:nvPr/>
        </p:nvSpPr>
        <p:spPr>
          <a:xfrm>
            <a:off x="1623974" y="4012936"/>
            <a:ext cx="128016" cy="128016"/>
          </a:xfrm>
          <a:prstGeom prst="ellipse">
            <a:avLst/>
          </a:prstGeom>
          <a:solidFill>
            <a:srgbClr val="0B6E8C"/>
          </a:solidFill>
          <a:ln w="12700">
            <a:solidFill>
              <a:srgbClr val="0B6E8C"/>
            </a:solidFill>
            <a:prstDash val="solid"/>
          </a:ln>
        </p:spPr>
      </p:sp>
      <p:sp>
        <p:nvSpPr>
          <p:cNvPr id="36" name="Shape 34"/>
          <p:cNvSpPr/>
          <p:nvPr/>
        </p:nvSpPr>
        <p:spPr>
          <a:xfrm>
            <a:off x="1795882" y="3794028"/>
            <a:ext cx="128016" cy="128016"/>
          </a:xfrm>
          <a:prstGeom prst="ellipse">
            <a:avLst/>
          </a:prstGeom>
          <a:solidFill>
            <a:srgbClr val="1B3A6B"/>
          </a:solidFill>
          <a:ln w="12700">
            <a:solidFill>
              <a:srgbClr val="1B3A6B"/>
            </a:solidFill>
            <a:prstDash val="solid"/>
          </a:ln>
        </p:spPr>
      </p:sp>
      <p:sp>
        <p:nvSpPr>
          <p:cNvPr id="37" name="Shape 35"/>
          <p:cNvSpPr/>
          <p:nvPr/>
        </p:nvSpPr>
        <p:spPr>
          <a:xfrm>
            <a:off x="2053742" y="3731484"/>
            <a:ext cx="128016" cy="128016"/>
          </a:xfrm>
          <a:prstGeom prst="ellipse">
            <a:avLst/>
          </a:prstGeom>
          <a:solidFill>
            <a:srgbClr val="1A7A4A"/>
          </a:solidFill>
          <a:ln w="12700">
            <a:solidFill>
              <a:srgbClr val="1A7A4A"/>
            </a:solidFill>
            <a:prstDash val="solid"/>
          </a:ln>
        </p:spPr>
      </p:sp>
      <p:sp>
        <p:nvSpPr>
          <p:cNvPr id="38" name="Shape 36"/>
          <p:cNvSpPr/>
          <p:nvPr/>
        </p:nvSpPr>
        <p:spPr>
          <a:xfrm>
            <a:off x="2354580" y="3387486"/>
            <a:ext cx="128016" cy="128016"/>
          </a:xfrm>
          <a:prstGeom prst="ellipse">
            <a:avLst/>
          </a:prstGeom>
          <a:solidFill>
            <a:srgbClr val="1B3A6B"/>
          </a:solidFill>
          <a:ln w="12700">
            <a:solidFill>
              <a:srgbClr val="1B3A6B"/>
            </a:solidFill>
            <a:prstDash val="solid"/>
          </a:ln>
        </p:spPr>
      </p:sp>
      <p:sp>
        <p:nvSpPr>
          <p:cNvPr id="39" name="Shape 37"/>
          <p:cNvSpPr/>
          <p:nvPr/>
        </p:nvSpPr>
        <p:spPr>
          <a:xfrm>
            <a:off x="2655418" y="3293669"/>
            <a:ext cx="128016" cy="128016"/>
          </a:xfrm>
          <a:prstGeom prst="ellipse">
            <a:avLst/>
          </a:prstGeom>
          <a:solidFill>
            <a:srgbClr val="0B6E8C"/>
          </a:solidFill>
          <a:ln w="12700">
            <a:solidFill>
              <a:srgbClr val="0B6E8C"/>
            </a:solidFill>
            <a:prstDash val="solid"/>
          </a:ln>
        </p:spPr>
      </p:sp>
      <p:sp>
        <p:nvSpPr>
          <p:cNvPr id="40" name="Shape 38"/>
          <p:cNvSpPr/>
          <p:nvPr/>
        </p:nvSpPr>
        <p:spPr>
          <a:xfrm>
            <a:off x="2913278" y="2980944"/>
            <a:ext cx="128016" cy="128016"/>
          </a:xfrm>
          <a:prstGeom prst="ellipse">
            <a:avLst/>
          </a:prstGeom>
          <a:solidFill>
            <a:srgbClr val="1A7A4A"/>
          </a:solidFill>
          <a:ln w="12700">
            <a:solidFill>
              <a:srgbClr val="1A7A4A"/>
            </a:solidFill>
            <a:prstDash val="solid"/>
          </a:ln>
        </p:spPr>
      </p:sp>
      <p:sp>
        <p:nvSpPr>
          <p:cNvPr id="41" name="Shape 39"/>
          <p:cNvSpPr/>
          <p:nvPr/>
        </p:nvSpPr>
        <p:spPr>
          <a:xfrm>
            <a:off x="3214116" y="2887127"/>
            <a:ext cx="128016" cy="128016"/>
          </a:xfrm>
          <a:prstGeom prst="ellipse">
            <a:avLst/>
          </a:prstGeom>
          <a:solidFill>
            <a:srgbClr val="1B3A6B"/>
          </a:solidFill>
          <a:ln w="12700">
            <a:solidFill>
              <a:srgbClr val="1B3A6B"/>
            </a:solidFill>
            <a:prstDash val="solid"/>
          </a:ln>
        </p:spPr>
      </p:sp>
      <p:sp>
        <p:nvSpPr>
          <p:cNvPr id="42" name="Shape 40"/>
          <p:cNvSpPr/>
          <p:nvPr/>
        </p:nvSpPr>
        <p:spPr>
          <a:xfrm>
            <a:off x="3514954" y="2543129"/>
            <a:ext cx="128016" cy="128016"/>
          </a:xfrm>
          <a:prstGeom prst="ellipse">
            <a:avLst/>
          </a:prstGeom>
          <a:solidFill>
            <a:srgbClr val="0B6E8C"/>
          </a:solidFill>
          <a:ln w="12700">
            <a:solidFill>
              <a:srgbClr val="0B6E8C"/>
            </a:solidFill>
            <a:prstDash val="solid"/>
          </a:ln>
        </p:spPr>
      </p:sp>
      <p:sp>
        <p:nvSpPr>
          <p:cNvPr id="43" name="Shape 41"/>
          <p:cNvSpPr/>
          <p:nvPr/>
        </p:nvSpPr>
        <p:spPr>
          <a:xfrm>
            <a:off x="3772814" y="2480584"/>
            <a:ext cx="128016" cy="128016"/>
          </a:xfrm>
          <a:prstGeom prst="ellipse">
            <a:avLst/>
          </a:prstGeom>
          <a:solidFill>
            <a:srgbClr val="1A7A4A"/>
          </a:solidFill>
          <a:ln w="12700">
            <a:solidFill>
              <a:srgbClr val="1A7A4A"/>
            </a:solidFill>
            <a:prstDash val="solid"/>
          </a:ln>
        </p:spPr>
      </p:sp>
      <p:sp>
        <p:nvSpPr>
          <p:cNvPr id="44" name="Shape 42"/>
          <p:cNvSpPr/>
          <p:nvPr/>
        </p:nvSpPr>
        <p:spPr>
          <a:xfrm>
            <a:off x="4030675" y="2167860"/>
            <a:ext cx="128016" cy="128016"/>
          </a:xfrm>
          <a:prstGeom prst="ellipse">
            <a:avLst/>
          </a:prstGeom>
          <a:solidFill>
            <a:srgbClr val="1B3A6B"/>
          </a:solidFill>
          <a:ln w="12700">
            <a:solidFill>
              <a:srgbClr val="1B3A6B"/>
            </a:solidFill>
            <a:prstDash val="solid"/>
          </a:ln>
        </p:spPr>
      </p:sp>
      <p:sp>
        <p:nvSpPr>
          <p:cNvPr id="45" name="Shape 43"/>
          <p:cNvSpPr/>
          <p:nvPr/>
        </p:nvSpPr>
        <p:spPr>
          <a:xfrm>
            <a:off x="4288536" y="2105315"/>
            <a:ext cx="128016" cy="128016"/>
          </a:xfrm>
          <a:prstGeom prst="ellipse">
            <a:avLst/>
          </a:prstGeom>
          <a:solidFill>
            <a:srgbClr val="0B6E8C"/>
          </a:solidFill>
          <a:ln w="12700">
            <a:solidFill>
              <a:srgbClr val="0B6E8C"/>
            </a:solidFill>
            <a:prstDash val="solid"/>
          </a:ln>
        </p:spPr>
      </p:sp>
      <p:sp>
        <p:nvSpPr>
          <p:cNvPr id="46" name="Shape 44"/>
          <p:cNvSpPr/>
          <p:nvPr/>
        </p:nvSpPr>
        <p:spPr>
          <a:xfrm>
            <a:off x="4632350" y="1730045"/>
            <a:ext cx="128016" cy="128016"/>
          </a:xfrm>
          <a:prstGeom prst="ellipse">
            <a:avLst/>
          </a:prstGeom>
          <a:solidFill>
            <a:srgbClr val="1A7A4A"/>
          </a:solidFill>
          <a:ln w="12700">
            <a:solidFill>
              <a:srgbClr val="1A7A4A"/>
            </a:solidFill>
            <a:prstDash val="solid"/>
          </a:ln>
        </p:spPr>
      </p:sp>
      <p:sp>
        <p:nvSpPr>
          <p:cNvPr id="47" name="Shape 45"/>
          <p:cNvSpPr/>
          <p:nvPr/>
        </p:nvSpPr>
        <p:spPr>
          <a:xfrm>
            <a:off x="1452067" y="4044208"/>
            <a:ext cx="128016" cy="128016"/>
          </a:xfrm>
          <a:prstGeom prst="ellipse">
            <a:avLst/>
          </a:prstGeom>
          <a:solidFill>
            <a:srgbClr val="6B7C8F"/>
          </a:solidFill>
          <a:ln w="12700">
            <a:solidFill>
              <a:srgbClr val="6B7C8F"/>
            </a:solidFill>
            <a:prstDash val="solid"/>
          </a:ln>
        </p:spPr>
      </p:sp>
      <p:sp>
        <p:nvSpPr>
          <p:cNvPr id="48" name="Shape 46"/>
          <p:cNvSpPr/>
          <p:nvPr/>
        </p:nvSpPr>
        <p:spPr>
          <a:xfrm>
            <a:off x="2225650" y="3606394"/>
            <a:ext cx="128016" cy="128016"/>
          </a:xfrm>
          <a:prstGeom prst="ellipse">
            <a:avLst/>
          </a:prstGeom>
          <a:solidFill>
            <a:srgbClr val="6B7C8F"/>
          </a:solidFill>
          <a:ln w="12700">
            <a:solidFill>
              <a:srgbClr val="6B7C8F"/>
            </a:solidFill>
            <a:prstDash val="solid"/>
          </a:ln>
        </p:spPr>
      </p:sp>
      <p:sp>
        <p:nvSpPr>
          <p:cNvPr id="49" name="Shape 47"/>
          <p:cNvSpPr/>
          <p:nvPr/>
        </p:nvSpPr>
        <p:spPr>
          <a:xfrm>
            <a:off x="3343046" y="2668219"/>
            <a:ext cx="128016" cy="128016"/>
          </a:xfrm>
          <a:prstGeom prst="ellipse">
            <a:avLst/>
          </a:prstGeom>
          <a:solidFill>
            <a:srgbClr val="6B7C8F"/>
          </a:solidFill>
          <a:ln w="12700">
            <a:solidFill>
              <a:srgbClr val="6B7C8F"/>
            </a:solidFill>
            <a:prstDash val="solid"/>
          </a:ln>
        </p:spPr>
      </p:sp>
      <p:sp>
        <p:nvSpPr>
          <p:cNvPr id="50" name="Shape 48"/>
          <p:cNvSpPr/>
          <p:nvPr/>
        </p:nvSpPr>
        <p:spPr>
          <a:xfrm>
            <a:off x="3944722" y="2355494"/>
            <a:ext cx="128016" cy="128016"/>
          </a:xfrm>
          <a:prstGeom prst="ellipse">
            <a:avLst/>
          </a:prstGeom>
          <a:solidFill>
            <a:srgbClr val="6B7C8F"/>
          </a:solidFill>
          <a:ln w="12700">
            <a:solidFill>
              <a:srgbClr val="6B7C8F"/>
            </a:solidFill>
            <a:prstDash val="solid"/>
          </a:ln>
        </p:spPr>
      </p:sp>
      <p:sp>
        <p:nvSpPr>
          <p:cNvPr id="51" name="Shape 49"/>
          <p:cNvSpPr/>
          <p:nvPr/>
        </p:nvSpPr>
        <p:spPr>
          <a:xfrm>
            <a:off x="4804258" y="1792590"/>
            <a:ext cx="128016" cy="128016"/>
          </a:xfrm>
          <a:prstGeom prst="ellipse">
            <a:avLst/>
          </a:prstGeom>
          <a:solidFill>
            <a:srgbClr val="6B7C8F"/>
          </a:solidFill>
          <a:ln w="12700">
            <a:solidFill>
              <a:srgbClr val="6B7C8F"/>
            </a:solidFill>
            <a:prstDash val="solid"/>
          </a:ln>
        </p:spPr>
      </p:sp>
      <p:sp>
        <p:nvSpPr>
          <p:cNvPr id="52" name="Shape 50"/>
          <p:cNvSpPr/>
          <p:nvPr/>
        </p:nvSpPr>
        <p:spPr>
          <a:xfrm>
            <a:off x="1005840" y="1572768"/>
            <a:ext cx="1005840" cy="347472"/>
          </a:xfrm>
          <a:prstGeom prst="rect">
            <a:avLst/>
          </a:prstGeom>
          <a:solidFill>
            <a:srgbClr val="E8F5EE"/>
          </a:solidFill>
          <a:ln w="10160">
            <a:solidFill>
              <a:srgbClr val="1A7A4A"/>
            </a:solidFill>
            <a:prstDash val="solid"/>
          </a:ln>
          <a:effectLst>
            <a:outerShdw sx="100000" sy="100000" kx="0" ky="0" algn="bl" rotWithShape="0" blurRad="101600" dist="25400" dir="8100000">
              <a:srgbClr val="000000">
                <a:alpha val="7000"/>
              </a:srgbClr>
            </a:outerShdw>
          </a:effectLst>
        </p:spPr>
      </p:sp>
      <p:sp>
        <p:nvSpPr>
          <p:cNvPr id="53" name="Text 51"/>
          <p:cNvSpPr/>
          <p:nvPr/>
        </p:nvSpPr>
        <p:spPr>
          <a:xfrm>
            <a:off x="1051560" y="1609344"/>
            <a:ext cx="914400" cy="256032"/>
          </a:xfrm>
          <a:prstGeom prst="rect">
            <a:avLst/>
          </a:prstGeom>
          <a:noFill/>
          <a:ln/>
        </p:spPr>
        <p:txBody>
          <a:bodyPr wrap="square" lIns="0" tIns="0" rIns="0" bIns="0" rtlCol="0" anchor="ctr"/>
          <a:lstStyle/>
          <a:p>
            <a:pPr indent="0" marL="0">
              <a:buNone/>
            </a:pPr>
            <a:r>
              <a:rPr lang="en-US" sz="1100" b="1" dirty="0">
                <a:solidFill>
                  <a:srgbClr val="1A7A4A"/>
                </a:solidFill>
                <a:latin typeface="Cambria" pitchFamily="34" charset="0"/>
                <a:ea typeface="Cambria" pitchFamily="34" charset="-122"/>
                <a:cs typeface="Cambria" pitchFamily="34" charset="-120"/>
              </a:rPr>
              <a:t>R² = 0.9504</a:t>
            </a:r>
            <a:endParaRPr lang="en-US" sz="1100" dirty="0"/>
          </a:p>
        </p:txBody>
      </p:sp>
      <p:sp>
        <p:nvSpPr>
          <p:cNvPr id="54" name="Text 52"/>
          <p:cNvSpPr/>
          <p:nvPr/>
        </p:nvSpPr>
        <p:spPr>
          <a:xfrm>
            <a:off x="3278124" y="2575865"/>
            <a:ext cx="914400" cy="201168"/>
          </a:xfrm>
          <a:prstGeom prst="rect">
            <a:avLst/>
          </a:prstGeom>
          <a:noFill/>
          <a:ln/>
        </p:spPr>
        <p:txBody>
          <a:bodyPr wrap="square" lIns="0" tIns="0" rIns="0" bIns="0" rtlCol="0" anchor="ctr"/>
          <a:lstStyle/>
          <a:p>
            <a:pPr indent="0" marL="0">
              <a:buNone/>
            </a:pPr>
            <a:r>
              <a:rPr lang="en-US" sz="750" i="1" dirty="0">
                <a:solidFill>
                  <a:srgbClr val="6B7C8F"/>
                </a:solidFill>
                <a:latin typeface="Calibri" pitchFamily="34" charset="0"/>
                <a:ea typeface="Calibri" pitchFamily="34" charset="-122"/>
                <a:cs typeface="Calibri" pitchFamily="34" charset="-120"/>
              </a:rPr>
              <a:t>Perfect fit line</a:t>
            </a:r>
            <a:endParaRPr lang="en-US" sz="750" dirty="0"/>
          </a:p>
        </p:txBody>
      </p:sp>
      <p:sp>
        <p:nvSpPr>
          <p:cNvPr id="55" name="Text 53"/>
          <p:cNvSpPr/>
          <p:nvPr/>
        </p:nvSpPr>
        <p:spPr>
          <a:xfrm>
            <a:off x="5669280" y="1353312"/>
            <a:ext cx="3291840" cy="274320"/>
          </a:xfrm>
          <a:prstGeom prst="rect">
            <a:avLst/>
          </a:prstGeom>
          <a:noFill/>
          <a:ln/>
        </p:spPr>
        <p:txBody>
          <a:bodyPr wrap="square" lIns="0" tIns="0" rIns="0" bIns="0" rtlCol="0" anchor="ctr"/>
          <a:lstStyle/>
          <a:p>
            <a:pPr indent="0" marL="0">
              <a:buNone/>
            </a:pPr>
            <a:r>
              <a:rPr lang="en-US" sz="1200" b="1" dirty="0">
                <a:solidFill>
                  <a:srgbClr val="1B3A6B"/>
                </a:solidFill>
                <a:latin typeface="Cambria" pitchFamily="34" charset="0"/>
                <a:ea typeface="Cambria" pitchFamily="34" charset="-122"/>
                <a:cs typeface="Cambria" pitchFamily="34" charset="-120"/>
              </a:rPr>
              <a:t>Sample Predictions</a:t>
            </a:r>
            <a:endParaRPr lang="en-US" sz="1200" dirty="0"/>
          </a:p>
        </p:txBody>
      </p:sp>
      <p:sp>
        <p:nvSpPr>
          <p:cNvPr id="56" name="Shape 54"/>
          <p:cNvSpPr/>
          <p:nvPr/>
        </p:nvSpPr>
        <p:spPr>
          <a:xfrm>
            <a:off x="5669280" y="1682496"/>
            <a:ext cx="3291840" cy="274320"/>
          </a:xfrm>
          <a:prstGeom prst="rect">
            <a:avLst/>
          </a:prstGeom>
          <a:solidFill>
            <a:srgbClr val="1B3A6B"/>
          </a:solidFill>
          <a:ln w="12700">
            <a:solidFill>
              <a:srgbClr val="1B3A6B"/>
            </a:solidFill>
            <a:prstDash val="solid"/>
          </a:ln>
        </p:spPr>
      </p:sp>
      <p:sp>
        <p:nvSpPr>
          <p:cNvPr id="57" name="Text 55"/>
          <p:cNvSpPr/>
          <p:nvPr/>
        </p:nvSpPr>
        <p:spPr>
          <a:xfrm>
            <a:off x="5742432" y="1700784"/>
            <a:ext cx="1280160"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Car</a:t>
            </a:r>
            <a:endParaRPr lang="en-US" sz="850" dirty="0"/>
          </a:p>
        </p:txBody>
      </p:sp>
      <p:sp>
        <p:nvSpPr>
          <p:cNvPr id="58" name="Text 56"/>
          <p:cNvSpPr/>
          <p:nvPr/>
        </p:nvSpPr>
        <p:spPr>
          <a:xfrm>
            <a:off x="7059168" y="1700784"/>
            <a:ext cx="914400"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Actual</a:t>
            </a:r>
            <a:endParaRPr lang="en-US" sz="850" dirty="0"/>
          </a:p>
        </p:txBody>
      </p:sp>
      <p:sp>
        <p:nvSpPr>
          <p:cNvPr id="59" name="Text 57"/>
          <p:cNvSpPr/>
          <p:nvPr/>
        </p:nvSpPr>
        <p:spPr>
          <a:xfrm>
            <a:off x="7973568" y="1700784"/>
            <a:ext cx="914400"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Predicted</a:t>
            </a:r>
            <a:endParaRPr lang="en-US" sz="850" dirty="0"/>
          </a:p>
        </p:txBody>
      </p:sp>
      <p:sp>
        <p:nvSpPr>
          <p:cNvPr id="60" name="Shape 58"/>
          <p:cNvSpPr/>
          <p:nvPr/>
        </p:nvSpPr>
        <p:spPr>
          <a:xfrm>
            <a:off x="5669280" y="1975104"/>
            <a:ext cx="3291840" cy="347472"/>
          </a:xfrm>
          <a:prstGeom prst="rect">
            <a:avLst/>
          </a:prstGeom>
          <a:solidFill>
            <a:srgbClr val="FFFFFF"/>
          </a:solidFill>
          <a:ln w="12700">
            <a:solidFill>
              <a:srgbClr val="FFFFFF"/>
            </a:solidFill>
            <a:prstDash val="solid"/>
          </a:ln>
        </p:spPr>
      </p:sp>
      <p:sp>
        <p:nvSpPr>
          <p:cNvPr id="61" name="Text 59"/>
          <p:cNvSpPr/>
          <p:nvPr/>
        </p:nvSpPr>
        <p:spPr>
          <a:xfrm>
            <a:off x="5742432" y="2029968"/>
            <a:ext cx="1280160" cy="237744"/>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Suzuki Alto 2021</a:t>
            </a:r>
            <a:endParaRPr lang="en-US" sz="850" dirty="0"/>
          </a:p>
        </p:txBody>
      </p:sp>
      <p:sp>
        <p:nvSpPr>
          <p:cNvPr id="62" name="Text 60"/>
          <p:cNvSpPr/>
          <p:nvPr/>
        </p:nvSpPr>
        <p:spPr>
          <a:xfrm>
            <a:off x="7059168" y="2029968"/>
            <a:ext cx="877824" cy="237744"/>
          </a:xfrm>
          <a:prstGeom prst="rect">
            <a:avLst/>
          </a:prstGeom>
          <a:noFill/>
          <a:ln/>
        </p:spPr>
        <p:txBody>
          <a:bodyPr wrap="square" lIns="0" tIns="0" rIns="0" bIns="0" rtlCol="0" anchor="ctr"/>
          <a:lstStyle/>
          <a:p>
            <a:pPr indent="0" marL="0">
              <a:buNone/>
            </a:pPr>
            <a:r>
              <a:rPr lang="en-US" sz="850" b="1" dirty="0">
                <a:solidFill>
                  <a:srgbClr val="1B3A6B"/>
                </a:solidFill>
                <a:latin typeface="Calibri" pitchFamily="34" charset="0"/>
                <a:ea typeface="Calibri" pitchFamily="34" charset="-122"/>
                <a:cs typeface="Calibri" pitchFamily="34" charset="-120"/>
              </a:rPr>
              <a:t>PKR 1.8M</a:t>
            </a:r>
            <a:endParaRPr lang="en-US" sz="850" dirty="0"/>
          </a:p>
        </p:txBody>
      </p:sp>
      <p:sp>
        <p:nvSpPr>
          <p:cNvPr id="63" name="Text 61"/>
          <p:cNvSpPr/>
          <p:nvPr/>
        </p:nvSpPr>
        <p:spPr>
          <a:xfrm>
            <a:off x="7973568" y="2029968"/>
            <a:ext cx="914400" cy="237744"/>
          </a:xfrm>
          <a:prstGeom prst="rect">
            <a:avLst/>
          </a:prstGeom>
          <a:noFill/>
          <a:ln/>
        </p:spPr>
        <p:txBody>
          <a:bodyPr wrap="square" lIns="0" tIns="0" rIns="0" bIns="0" rtlCol="0" anchor="ctr"/>
          <a:lstStyle/>
          <a:p>
            <a:pPr indent="0" marL="0">
              <a:buNone/>
            </a:pPr>
            <a:r>
              <a:rPr lang="en-US" sz="850" b="1" dirty="0">
                <a:solidFill>
                  <a:srgbClr val="1A7A4A"/>
                </a:solidFill>
                <a:latin typeface="Calibri" pitchFamily="34" charset="0"/>
                <a:ea typeface="Calibri" pitchFamily="34" charset="-122"/>
                <a:cs typeface="Calibri" pitchFamily="34" charset="-120"/>
              </a:rPr>
              <a:t>PKR 1.95M</a:t>
            </a:r>
            <a:endParaRPr lang="en-US" sz="850" dirty="0"/>
          </a:p>
        </p:txBody>
      </p:sp>
      <p:sp>
        <p:nvSpPr>
          <p:cNvPr id="64" name="Shape 62"/>
          <p:cNvSpPr/>
          <p:nvPr/>
        </p:nvSpPr>
        <p:spPr>
          <a:xfrm>
            <a:off x="5669280" y="2359152"/>
            <a:ext cx="3291840" cy="347472"/>
          </a:xfrm>
          <a:prstGeom prst="rect">
            <a:avLst/>
          </a:prstGeom>
          <a:solidFill>
            <a:srgbClr val="F4F6F9"/>
          </a:solidFill>
          <a:ln w="12700">
            <a:solidFill>
              <a:srgbClr val="F4F6F9"/>
            </a:solidFill>
            <a:prstDash val="solid"/>
          </a:ln>
        </p:spPr>
      </p:sp>
      <p:sp>
        <p:nvSpPr>
          <p:cNvPr id="65" name="Text 63"/>
          <p:cNvSpPr/>
          <p:nvPr/>
        </p:nvSpPr>
        <p:spPr>
          <a:xfrm>
            <a:off x="5742432" y="2414016"/>
            <a:ext cx="1280160" cy="237744"/>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Honda City 2019</a:t>
            </a:r>
            <a:endParaRPr lang="en-US" sz="850" dirty="0"/>
          </a:p>
        </p:txBody>
      </p:sp>
      <p:sp>
        <p:nvSpPr>
          <p:cNvPr id="66" name="Text 64"/>
          <p:cNvSpPr/>
          <p:nvPr/>
        </p:nvSpPr>
        <p:spPr>
          <a:xfrm>
            <a:off x="7059168" y="2414016"/>
            <a:ext cx="877824" cy="237744"/>
          </a:xfrm>
          <a:prstGeom prst="rect">
            <a:avLst/>
          </a:prstGeom>
          <a:noFill/>
          <a:ln/>
        </p:spPr>
        <p:txBody>
          <a:bodyPr wrap="square" lIns="0" tIns="0" rIns="0" bIns="0" rtlCol="0" anchor="ctr"/>
          <a:lstStyle/>
          <a:p>
            <a:pPr indent="0" marL="0">
              <a:buNone/>
            </a:pPr>
            <a:r>
              <a:rPr lang="en-US" sz="850" b="1" dirty="0">
                <a:solidFill>
                  <a:srgbClr val="1B3A6B"/>
                </a:solidFill>
                <a:latin typeface="Calibri" pitchFamily="34" charset="0"/>
                <a:ea typeface="Calibri" pitchFamily="34" charset="-122"/>
                <a:cs typeface="Calibri" pitchFamily="34" charset="-120"/>
              </a:rPr>
              <a:t>PKR 2.8M</a:t>
            </a:r>
            <a:endParaRPr lang="en-US" sz="850" dirty="0"/>
          </a:p>
        </p:txBody>
      </p:sp>
      <p:sp>
        <p:nvSpPr>
          <p:cNvPr id="67" name="Text 65"/>
          <p:cNvSpPr/>
          <p:nvPr/>
        </p:nvSpPr>
        <p:spPr>
          <a:xfrm>
            <a:off x="7973568" y="2414016"/>
            <a:ext cx="914400" cy="237744"/>
          </a:xfrm>
          <a:prstGeom prst="rect">
            <a:avLst/>
          </a:prstGeom>
          <a:noFill/>
          <a:ln/>
        </p:spPr>
        <p:txBody>
          <a:bodyPr wrap="square" lIns="0" tIns="0" rIns="0" bIns="0" rtlCol="0" anchor="ctr"/>
          <a:lstStyle/>
          <a:p>
            <a:pPr indent="0" marL="0">
              <a:buNone/>
            </a:pPr>
            <a:r>
              <a:rPr lang="en-US" sz="850" b="1" dirty="0">
                <a:solidFill>
                  <a:srgbClr val="1A7A4A"/>
                </a:solidFill>
                <a:latin typeface="Calibri" pitchFamily="34" charset="0"/>
                <a:ea typeface="Calibri" pitchFamily="34" charset="-122"/>
                <a:cs typeface="Calibri" pitchFamily="34" charset="-120"/>
              </a:rPr>
              <a:t>PKR 2.71M</a:t>
            </a:r>
            <a:endParaRPr lang="en-US" sz="850" dirty="0"/>
          </a:p>
        </p:txBody>
      </p:sp>
      <p:sp>
        <p:nvSpPr>
          <p:cNvPr id="68" name="Shape 66"/>
          <p:cNvSpPr/>
          <p:nvPr/>
        </p:nvSpPr>
        <p:spPr>
          <a:xfrm>
            <a:off x="5669280" y="2743200"/>
            <a:ext cx="3291840" cy="347472"/>
          </a:xfrm>
          <a:prstGeom prst="rect">
            <a:avLst/>
          </a:prstGeom>
          <a:solidFill>
            <a:srgbClr val="FFFFFF"/>
          </a:solidFill>
          <a:ln w="12700">
            <a:solidFill>
              <a:srgbClr val="FFFFFF"/>
            </a:solidFill>
            <a:prstDash val="solid"/>
          </a:ln>
        </p:spPr>
      </p:sp>
      <p:sp>
        <p:nvSpPr>
          <p:cNvPr id="69" name="Text 67"/>
          <p:cNvSpPr/>
          <p:nvPr/>
        </p:nvSpPr>
        <p:spPr>
          <a:xfrm>
            <a:off x="5742432" y="2798064"/>
            <a:ext cx="1280160" cy="237744"/>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Toyota Corolla 2020</a:t>
            </a:r>
            <a:endParaRPr lang="en-US" sz="850" dirty="0"/>
          </a:p>
        </p:txBody>
      </p:sp>
      <p:sp>
        <p:nvSpPr>
          <p:cNvPr id="70" name="Text 68"/>
          <p:cNvSpPr/>
          <p:nvPr/>
        </p:nvSpPr>
        <p:spPr>
          <a:xfrm>
            <a:off x="7059168" y="2798064"/>
            <a:ext cx="877824" cy="237744"/>
          </a:xfrm>
          <a:prstGeom prst="rect">
            <a:avLst/>
          </a:prstGeom>
          <a:noFill/>
          <a:ln/>
        </p:spPr>
        <p:txBody>
          <a:bodyPr wrap="square" lIns="0" tIns="0" rIns="0" bIns="0" rtlCol="0" anchor="ctr"/>
          <a:lstStyle/>
          <a:p>
            <a:pPr indent="0" marL="0">
              <a:buNone/>
            </a:pPr>
            <a:r>
              <a:rPr lang="en-US" sz="850" b="1" dirty="0">
                <a:solidFill>
                  <a:srgbClr val="1B3A6B"/>
                </a:solidFill>
                <a:latin typeface="Calibri" pitchFamily="34" charset="0"/>
                <a:ea typeface="Calibri" pitchFamily="34" charset="-122"/>
                <a:cs typeface="Calibri" pitchFamily="34" charset="-120"/>
              </a:rPr>
              <a:t>PKR 4.2M</a:t>
            </a:r>
            <a:endParaRPr lang="en-US" sz="850" dirty="0"/>
          </a:p>
        </p:txBody>
      </p:sp>
      <p:sp>
        <p:nvSpPr>
          <p:cNvPr id="71" name="Text 69"/>
          <p:cNvSpPr/>
          <p:nvPr/>
        </p:nvSpPr>
        <p:spPr>
          <a:xfrm>
            <a:off x="7973568" y="2798064"/>
            <a:ext cx="914400" cy="237744"/>
          </a:xfrm>
          <a:prstGeom prst="rect">
            <a:avLst/>
          </a:prstGeom>
          <a:noFill/>
          <a:ln/>
        </p:spPr>
        <p:txBody>
          <a:bodyPr wrap="square" lIns="0" tIns="0" rIns="0" bIns="0" rtlCol="0" anchor="ctr"/>
          <a:lstStyle/>
          <a:p>
            <a:pPr indent="0" marL="0">
              <a:buNone/>
            </a:pPr>
            <a:r>
              <a:rPr lang="en-US" sz="850" b="1" dirty="0">
                <a:solidFill>
                  <a:srgbClr val="1A7A4A"/>
                </a:solidFill>
                <a:latin typeface="Calibri" pitchFamily="34" charset="0"/>
                <a:ea typeface="Calibri" pitchFamily="34" charset="-122"/>
                <a:cs typeface="Calibri" pitchFamily="34" charset="-120"/>
              </a:rPr>
              <a:t>PKR 4.38M</a:t>
            </a:r>
            <a:endParaRPr lang="en-US" sz="850" dirty="0"/>
          </a:p>
        </p:txBody>
      </p:sp>
      <p:sp>
        <p:nvSpPr>
          <p:cNvPr id="72" name="Shape 70"/>
          <p:cNvSpPr/>
          <p:nvPr/>
        </p:nvSpPr>
        <p:spPr>
          <a:xfrm>
            <a:off x="5669280" y="3127248"/>
            <a:ext cx="3291840" cy="347472"/>
          </a:xfrm>
          <a:prstGeom prst="rect">
            <a:avLst/>
          </a:prstGeom>
          <a:solidFill>
            <a:srgbClr val="F4F6F9"/>
          </a:solidFill>
          <a:ln w="12700">
            <a:solidFill>
              <a:srgbClr val="F4F6F9"/>
            </a:solidFill>
            <a:prstDash val="solid"/>
          </a:ln>
        </p:spPr>
      </p:sp>
      <p:sp>
        <p:nvSpPr>
          <p:cNvPr id="73" name="Text 71"/>
          <p:cNvSpPr/>
          <p:nvPr/>
        </p:nvSpPr>
        <p:spPr>
          <a:xfrm>
            <a:off x="5742432" y="3182112"/>
            <a:ext cx="1280160" cy="237744"/>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Honda Civic 2020</a:t>
            </a:r>
            <a:endParaRPr lang="en-US" sz="850" dirty="0"/>
          </a:p>
        </p:txBody>
      </p:sp>
      <p:sp>
        <p:nvSpPr>
          <p:cNvPr id="74" name="Text 72"/>
          <p:cNvSpPr/>
          <p:nvPr/>
        </p:nvSpPr>
        <p:spPr>
          <a:xfrm>
            <a:off x="7059168" y="3182112"/>
            <a:ext cx="877824" cy="237744"/>
          </a:xfrm>
          <a:prstGeom prst="rect">
            <a:avLst/>
          </a:prstGeom>
          <a:noFill/>
          <a:ln/>
        </p:spPr>
        <p:txBody>
          <a:bodyPr wrap="square" lIns="0" tIns="0" rIns="0" bIns="0" rtlCol="0" anchor="ctr"/>
          <a:lstStyle/>
          <a:p>
            <a:pPr indent="0" marL="0">
              <a:buNone/>
            </a:pPr>
            <a:r>
              <a:rPr lang="en-US" sz="850" b="1" dirty="0">
                <a:solidFill>
                  <a:srgbClr val="1B3A6B"/>
                </a:solidFill>
                <a:latin typeface="Calibri" pitchFamily="34" charset="0"/>
                <a:ea typeface="Calibri" pitchFamily="34" charset="-122"/>
                <a:cs typeface="Calibri" pitchFamily="34" charset="-120"/>
              </a:rPr>
              <a:t>PKR 5.1M</a:t>
            </a:r>
            <a:endParaRPr lang="en-US" sz="850" dirty="0"/>
          </a:p>
        </p:txBody>
      </p:sp>
      <p:sp>
        <p:nvSpPr>
          <p:cNvPr id="75" name="Text 73"/>
          <p:cNvSpPr/>
          <p:nvPr/>
        </p:nvSpPr>
        <p:spPr>
          <a:xfrm>
            <a:off x="7973568" y="3182112"/>
            <a:ext cx="914400" cy="237744"/>
          </a:xfrm>
          <a:prstGeom prst="rect">
            <a:avLst/>
          </a:prstGeom>
          <a:noFill/>
          <a:ln/>
        </p:spPr>
        <p:txBody>
          <a:bodyPr wrap="square" lIns="0" tIns="0" rIns="0" bIns="0" rtlCol="0" anchor="ctr"/>
          <a:lstStyle/>
          <a:p>
            <a:pPr indent="0" marL="0">
              <a:buNone/>
            </a:pPr>
            <a:r>
              <a:rPr lang="en-US" sz="850" b="1" dirty="0">
                <a:solidFill>
                  <a:srgbClr val="1A7A4A"/>
                </a:solidFill>
                <a:latin typeface="Calibri" pitchFamily="34" charset="0"/>
                <a:ea typeface="Calibri" pitchFamily="34" charset="-122"/>
                <a:cs typeface="Calibri" pitchFamily="34" charset="-120"/>
              </a:rPr>
              <a:t>PKR 4.97M</a:t>
            </a:r>
            <a:endParaRPr lang="en-US" sz="850" dirty="0"/>
          </a:p>
        </p:txBody>
      </p:sp>
      <p:sp>
        <p:nvSpPr>
          <p:cNvPr id="76" name="Shape 74"/>
          <p:cNvSpPr/>
          <p:nvPr/>
        </p:nvSpPr>
        <p:spPr>
          <a:xfrm>
            <a:off x="5669280" y="3511296"/>
            <a:ext cx="3291840" cy="347472"/>
          </a:xfrm>
          <a:prstGeom prst="rect">
            <a:avLst/>
          </a:prstGeom>
          <a:solidFill>
            <a:srgbClr val="FFFFFF"/>
          </a:solidFill>
          <a:ln w="12700">
            <a:solidFill>
              <a:srgbClr val="FFFFFF"/>
            </a:solidFill>
            <a:prstDash val="solid"/>
          </a:ln>
        </p:spPr>
      </p:sp>
      <p:sp>
        <p:nvSpPr>
          <p:cNvPr id="77" name="Text 75"/>
          <p:cNvSpPr/>
          <p:nvPr/>
        </p:nvSpPr>
        <p:spPr>
          <a:xfrm>
            <a:off x="5742432" y="3566160"/>
            <a:ext cx="1280160" cy="237744"/>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Toyota Fortuner 2019</a:t>
            </a:r>
            <a:endParaRPr lang="en-US" sz="850" dirty="0"/>
          </a:p>
        </p:txBody>
      </p:sp>
      <p:sp>
        <p:nvSpPr>
          <p:cNvPr id="78" name="Text 76"/>
          <p:cNvSpPr/>
          <p:nvPr/>
        </p:nvSpPr>
        <p:spPr>
          <a:xfrm>
            <a:off x="7059168" y="3566160"/>
            <a:ext cx="877824" cy="237744"/>
          </a:xfrm>
          <a:prstGeom prst="rect">
            <a:avLst/>
          </a:prstGeom>
          <a:noFill/>
          <a:ln/>
        </p:spPr>
        <p:txBody>
          <a:bodyPr wrap="square" lIns="0" tIns="0" rIns="0" bIns="0" rtlCol="0" anchor="ctr"/>
          <a:lstStyle/>
          <a:p>
            <a:pPr indent="0" marL="0">
              <a:buNone/>
            </a:pPr>
            <a:r>
              <a:rPr lang="en-US" sz="850" b="1" dirty="0">
                <a:solidFill>
                  <a:srgbClr val="1B3A6B"/>
                </a:solidFill>
                <a:latin typeface="Calibri" pitchFamily="34" charset="0"/>
                <a:ea typeface="Calibri" pitchFamily="34" charset="-122"/>
                <a:cs typeface="Calibri" pitchFamily="34" charset="-120"/>
              </a:rPr>
              <a:t>PKR 8.4M</a:t>
            </a:r>
            <a:endParaRPr lang="en-US" sz="850" dirty="0"/>
          </a:p>
        </p:txBody>
      </p:sp>
      <p:sp>
        <p:nvSpPr>
          <p:cNvPr id="79" name="Text 77"/>
          <p:cNvSpPr/>
          <p:nvPr/>
        </p:nvSpPr>
        <p:spPr>
          <a:xfrm>
            <a:off x="7973568" y="3566160"/>
            <a:ext cx="914400" cy="237744"/>
          </a:xfrm>
          <a:prstGeom prst="rect">
            <a:avLst/>
          </a:prstGeom>
          <a:noFill/>
          <a:ln/>
        </p:spPr>
        <p:txBody>
          <a:bodyPr wrap="square" lIns="0" tIns="0" rIns="0" bIns="0" rtlCol="0" anchor="ctr"/>
          <a:lstStyle/>
          <a:p>
            <a:pPr indent="0" marL="0">
              <a:buNone/>
            </a:pPr>
            <a:r>
              <a:rPr lang="en-US" sz="850" b="1" dirty="0">
                <a:solidFill>
                  <a:srgbClr val="1A7A4A"/>
                </a:solidFill>
                <a:latin typeface="Calibri" pitchFamily="34" charset="0"/>
                <a:ea typeface="Calibri" pitchFamily="34" charset="-122"/>
                <a:cs typeface="Calibri" pitchFamily="34" charset="-120"/>
              </a:rPr>
              <a:t>PKR 8.22M</a:t>
            </a:r>
            <a:endParaRPr lang="en-US" sz="850" dirty="0"/>
          </a:p>
        </p:txBody>
      </p:sp>
      <p:sp>
        <p:nvSpPr>
          <p:cNvPr id="80" name="Shape 78"/>
          <p:cNvSpPr/>
          <p:nvPr/>
        </p:nvSpPr>
        <p:spPr>
          <a:xfrm>
            <a:off x="5669280" y="3895344"/>
            <a:ext cx="3291840" cy="347472"/>
          </a:xfrm>
          <a:prstGeom prst="rect">
            <a:avLst/>
          </a:prstGeom>
          <a:solidFill>
            <a:srgbClr val="F4F6F9"/>
          </a:solidFill>
          <a:ln w="12700">
            <a:solidFill>
              <a:srgbClr val="F4F6F9"/>
            </a:solidFill>
            <a:prstDash val="solid"/>
          </a:ln>
        </p:spPr>
      </p:sp>
      <p:sp>
        <p:nvSpPr>
          <p:cNvPr id="81" name="Text 79"/>
          <p:cNvSpPr/>
          <p:nvPr/>
        </p:nvSpPr>
        <p:spPr>
          <a:xfrm>
            <a:off x="5742432" y="3950208"/>
            <a:ext cx="1280160" cy="237744"/>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Toyota Prado 2018</a:t>
            </a:r>
            <a:endParaRPr lang="en-US" sz="850" dirty="0"/>
          </a:p>
        </p:txBody>
      </p:sp>
      <p:sp>
        <p:nvSpPr>
          <p:cNvPr id="82" name="Text 80"/>
          <p:cNvSpPr/>
          <p:nvPr/>
        </p:nvSpPr>
        <p:spPr>
          <a:xfrm>
            <a:off x="7059168" y="3950208"/>
            <a:ext cx="877824" cy="237744"/>
          </a:xfrm>
          <a:prstGeom prst="rect">
            <a:avLst/>
          </a:prstGeom>
          <a:noFill/>
          <a:ln/>
        </p:spPr>
        <p:txBody>
          <a:bodyPr wrap="square" lIns="0" tIns="0" rIns="0" bIns="0" rtlCol="0" anchor="ctr"/>
          <a:lstStyle/>
          <a:p>
            <a:pPr indent="0" marL="0">
              <a:buNone/>
            </a:pPr>
            <a:r>
              <a:rPr lang="en-US" sz="850" b="1" dirty="0">
                <a:solidFill>
                  <a:srgbClr val="1B3A6B"/>
                </a:solidFill>
                <a:latin typeface="Calibri" pitchFamily="34" charset="0"/>
                <a:ea typeface="Calibri" pitchFamily="34" charset="-122"/>
                <a:cs typeface="Calibri" pitchFamily="34" charset="-120"/>
              </a:rPr>
              <a:t>PKR 11.2M</a:t>
            </a:r>
            <a:endParaRPr lang="en-US" sz="850" dirty="0"/>
          </a:p>
        </p:txBody>
      </p:sp>
      <p:sp>
        <p:nvSpPr>
          <p:cNvPr id="83" name="Text 81"/>
          <p:cNvSpPr/>
          <p:nvPr/>
        </p:nvSpPr>
        <p:spPr>
          <a:xfrm>
            <a:off x="7973568" y="3950208"/>
            <a:ext cx="914400" cy="237744"/>
          </a:xfrm>
          <a:prstGeom prst="rect">
            <a:avLst/>
          </a:prstGeom>
          <a:noFill/>
          <a:ln/>
        </p:spPr>
        <p:txBody>
          <a:bodyPr wrap="square" lIns="0" tIns="0" rIns="0" bIns="0" rtlCol="0" anchor="ctr"/>
          <a:lstStyle/>
          <a:p>
            <a:pPr indent="0" marL="0">
              <a:buNone/>
            </a:pPr>
            <a:r>
              <a:rPr lang="en-US" sz="850" b="1" dirty="0">
                <a:solidFill>
                  <a:srgbClr val="1A7A4A"/>
                </a:solidFill>
                <a:latin typeface="Calibri" pitchFamily="34" charset="0"/>
                <a:ea typeface="Calibri" pitchFamily="34" charset="-122"/>
                <a:cs typeface="Calibri" pitchFamily="34" charset="-120"/>
              </a:rPr>
              <a:t>PKR 10.9M</a:t>
            </a:r>
            <a:endParaRPr lang="en-US" sz="850" dirty="0"/>
          </a:p>
        </p:txBody>
      </p:sp>
      <p:sp>
        <p:nvSpPr>
          <p:cNvPr id="84" name="Shape 82"/>
          <p:cNvSpPr/>
          <p:nvPr/>
        </p:nvSpPr>
        <p:spPr>
          <a:xfrm>
            <a:off x="5669280" y="4279392"/>
            <a:ext cx="3291840" cy="347472"/>
          </a:xfrm>
          <a:prstGeom prst="rect">
            <a:avLst/>
          </a:prstGeom>
          <a:solidFill>
            <a:srgbClr val="FFFFFF"/>
          </a:solidFill>
          <a:ln w="12700">
            <a:solidFill>
              <a:srgbClr val="FFFFFF"/>
            </a:solidFill>
            <a:prstDash val="solid"/>
          </a:ln>
        </p:spPr>
      </p:sp>
      <p:sp>
        <p:nvSpPr>
          <p:cNvPr id="85" name="Text 83"/>
          <p:cNvSpPr/>
          <p:nvPr/>
        </p:nvSpPr>
        <p:spPr>
          <a:xfrm>
            <a:off x="5742432" y="4334256"/>
            <a:ext cx="1280160" cy="237744"/>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Mercedes C200 2020</a:t>
            </a:r>
            <a:endParaRPr lang="en-US" sz="850" dirty="0"/>
          </a:p>
        </p:txBody>
      </p:sp>
      <p:sp>
        <p:nvSpPr>
          <p:cNvPr id="86" name="Text 84"/>
          <p:cNvSpPr/>
          <p:nvPr/>
        </p:nvSpPr>
        <p:spPr>
          <a:xfrm>
            <a:off x="7059168" y="4334256"/>
            <a:ext cx="877824" cy="237744"/>
          </a:xfrm>
          <a:prstGeom prst="rect">
            <a:avLst/>
          </a:prstGeom>
          <a:noFill/>
          <a:ln/>
        </p:spPr>
        <p:txBody>
          <a:bodyPr wrap="square" lIns="0" tIns="0" rIns="0" bIns="0" rtlCol="0" anchor="ctr"/>
          <a:lstStyle/>
          <a:p>
            <a:pPr indent="0" marL="0">
              <a:buNone/>
            </a:pPr>
            <a:r>
              <a:rPr lang="en-US" sz="850" b="1" dirty="0">
                <a:solidFill>
                  <a:srgbClr val="1B3A6B"/>
                </a:solidFill>
                <a:latin typeface="Calibri" pitchFamily="34" charset="0"/>
                <a:ea typeface="Calibri" pitchFamily="34" charset="-122"/>
                <a:cs typeface="Calibri" pitchFamily="34" charset="-120"/>
              </a:rPr>
              <a:t>PKR 14.5M</a:t>
            </a:r>
            <a:endParaRPr lang="en-US" sz="850" dirty="0"/>
          </a:p>
        </p:txBody>
      </p:sp>
      <p:sp>
        <p:nvSpPr>
          <p:cNvPr id="87" name="Text 85"/>
          <p:cNvSpPr/>
          <p:nvPr/>
        </p:nvSpPr>
        <p:spPr>
          <a:xfrm>
            <a:off x="7973568" y="4334256"/>
            <a:ext cx="914400" cy="237744"/>
          </a:xfrm>
          <a:prstGeom prst="rect">
            <a:avLst/>
          </a:prstGeom>
          <a:noFill/>
          <a:ln/>
        </p:spPr>
        <p:txBody>
          <a:bodyPr wrap="square" lIns="0" tIns="0" rIns="0" bIns="0" rtlCol="0" anchor="ctr"/>
          <a:lstStyle/>
          <a:p>
            <a:pPr indent="0" marL="0">
              <a:buNone/>
            </a:pPr>
            <a:r>
              <a:rPr lang="en-US" sz="850" b="1" dirty="0">
                <a:solidFill>
                  <a:srgbClr val="1A7A4A"/>
                </a:solidFill>
                <a:latin typeface="Calibri" pitchFamily="34" charset="0"/>
                <a:ea typeface="Calibri" pitchFamily="34" charset="-122"/>
                <a:cs typeface="Calibri" pitchFamily="34" charset="-120"/>
              </a:rPr>
              <a:t>PKR 14.8M</a:t>
            </a:r>
            <a:endParaRPr lang="en-US" sz="850" dirty="0"/>
          </a:p>
        </p:txBody>
      </p:sp>
      <p:sp>
        <p:nvSpPr>
          <p:cNvPr id="88" name="Shape 86"/>
          <p:cNvSpPr/>
          <p:nvPr/>
        </p:nvSpPr>
        <p:spPr>
          <a:xfrm>
            <a:off x="5669280" y="4663440"/>
            <a:ext cx="3291840" cy="237744"/>
          </a:xfrm>
          <a:prstGeom prst="rect">
            <a:avLst/>
          </a:prstGeom>
          <a:solidFill>
            <a:srgbClr val="E8F5EE"/>
          </a:solidFill>
          <a:ln w="10160">
            <a:solidFill>
              <a:srgbClr val="1A7A4A"/>
            </a:solidFill>
            <a:prstDash val="solid"/>
          </a:ln>
          <a:effectLst>
            <a:outerShdw sx="100000" sy="100000" kx="0" ky="0" algn="bl" rotWithShape="0" blurRad="101600" dist="25400" dir="8100000">
              <a:srgbClr val="000000">
                <a:alpha val="7000"/>
              </a:srgbClr>
            </a:outerShdw>
          </a:effectLst>
        </p:spPr>
      </p:sp>
      <p:sp>
        <p:nvSpPr>
          <p:cNvPr id="89" name="Text 87"/>
          <p:cNvSpPr/>
          <p:nvPr/>
        </p:nvSpPr>
        <p:spPr>
          <a:xfrm>
            <a:off x="5742432" y="4681728"/>
            <a:ext cx="3145536" cy="201168"/>
          </a:xfrm>
          <a:prstGeom prst="rect">
            <a:avLst/>
          </a:prstGeom>
          <a:noFill/>
          <a:ln/>
        </p:spPr>
        <p:txBody>
          <a:bodyPr wrap="square" lIns="0" tIns="0" rIns="0" bIns="0" rtlCol="0" anchor="ctr"/>
          <a:lstStyle/>
          <a:p>
            <a:pPr indent="0" marL="0">
              <a:buNone/>
            </a:pPr>
            <a:r>
              <a:rPr lang="en-US" sz="850" b="1" dirty="0">
                <a:solidFill>
                  <a:srgbClr val="1A7A4A"/>
                </a:solidFill>
                <a:latin typeface="Calibri" pitchFamily="34" charset="0"/>
                <a:ea typeface="Calibri" pitchFamily="34" charset="-122"/>
                <a:cs typeface="Calibri" pitchFamily="34" charset="-120"/>
              </a:rPr>
              <a:t>MAE = PKR 171,446  —  RMSE = PKR 253,178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480560" cy="5143500"/>
          </a:xfrm>
          <a:prstGeom prst="rect">
            <a:avLst/>
          </a:prstGeom>
          <a:solidFill>
            <a:srgbClr val="1B3A6B"/>
          </a:solidFill>
          <a:ln w="12700">
            <a:solidFill>
              <a:srgbClr val="1B3A6B"/>
            </a:solidFill>
            <a:prstDash val="solid"/>
          </a:ln>
        </p:spPr>
      </p:sp>
      <p:sp>
        <p:nvSpPr>
          <p:cNvPr id="3" name="Shape 1"/>
          <p:cNvSpPr/>
          <p:nvPr/>
        </p:nvSpPr>
        <p:spPr>
          <a:xfrm>
            <a:off x="0" y="0"/>
            <a:ext cx="4480560" cy="64008"/>
          </a:xfrm>
          <a:prstGeom prst="rect">
            <a:avLst/>
          </a:prstGeom>
          <a:solidFill>
            <a:srgbClr val="B8860B"/>
          </a:solidFill>
          <a:ln w="12700">
            <a:solidFill>
              <a:srgbClr val="B8860B"/>
            </a:solidFill>
            <a:prstDash val="solid"/>
          </a:ln>
        </p:spPr>
      </p:sp>
      <p:sp>
        <p:nvSpPr>
          <p:cNvPr id="4" name="Shape 2"/>
          <p:cNvSpPr/>
          <p:nvPr/>
        </p:nvSpPr>
        <p:spPr>
          <a:xfrm>
            <a:off x="0" y="5079492"/>
            <a:ext cx="4480560" cy="64008"/>
          </a:xfrm>
          <a:prstGeom prst="rect">
            <a:avLst/>
          </a:prstGeom>
          <a:solidFill>
            <a:srgbClr val="0B6E8C"/>
          </a:solidFill>
          <a:ln w="12700">
            <a:solidFill>
              <a:srgbClr val="0B6E8C"/>
            </a:solidFill>
            <a:prstDash val="solid"/>
          </a:ln>
        </p:spPr>
      </p:sp>
      <p:sp>
        <p:nvSpPr>
          <p:cNvPr id="5" name="Shape 3"/>
          <p:cNvSpPr/>
          <p:nvPr/>
        </p:nvSpPr>
        <p:spPr>
          <a:xfrm>
            <a:off x="427939" y="1163117"/>
            <a:ext cx="1609344" cy="32187"/>
          </a:xfrm>
          <a:prstGeom prst="rect">
            <a:avLst/>
          </a:prstGeom>
          <a:solidFill>
            <a:srgbClr val="0A1B35"/>
          </a:solidFill>
          <a:ln w="12700">
            <a:solidFill>
              <a:srgbClr val="0A1B35"/>
            </a:solidFill>
            <a:prstDash val="solid"/>
          </a:ln>
        </p:spPr>
      </p:sp>
      <p:sp>
        <p:nvSpPr>
          <p:cNvPr id="6" name="Shape 4"/>
          <p:cNvSpPr/>
          <p:nvPr/>
        </p:nvSpPr>
        <p:spPr>
          <a:xfrm>
            <a:off x="347472" y="615940"/>
            <a:ext cx="1770278" cy="402336"/>
          </a:xfrm>
          <a:prstGeom prst="rect">
            <a:avLst/>
          </a:prstGeom>
          <a:solidFill>
            <a:srgbClr val="2A5298"/>
          </a:solidFill>
          <a:ln w="12700">
            <a:solidFill>
              <a:srgbClr val="2A5298"/>
            </a:solidFill>
            <a:prstDash val="solid"/>
          </a:ln>
        </p:spPr>
      </p:sp>
      <p:sp>
        <p:nvSpPr>
          <p:cNvPr id="7" name="Shape 5"/>
          <p:cNvSpPr/>
          <p:nvPr/>
        </p:nvSpPr>
        <p:spPr>
          <a:xfrm>
            <a:off x="685434" y="455005"/>
            <a:ext cx="1094354" cy="289682"/>
          </a:xfrm>
          <a:prstGeom prst="rect">
            <a:avLst/>
          </a:prstGeom>
          <a:solidFill>
            <a:srgbClr val="1B3A6B"/>
          </a:solidFill>
          <a:ln w="12700">
            <a:solidFill>
              <a:srgbClr val="1B3A6B"/>
            </a:solidFill>
            <a:prstDash val="solid"/>
          </a:ln>
        </p:spPr>
      </p:sp>
      <p:sp>
        <p:nvSpPr>
          <p:cNvPr id="8" name="Shape 6"/>
          <p:cNvSpPr/>
          <p:nvPr/>
        </p:nvSpPr>
        <p:spPr>
          <a:xfrm>
            <a:off x="685434" y="583753"/>
            <a:ext cx="96561" cy="193121"/>
          </a:xfrm>
          <a:prstGeom prst="rect">
            <a:avLst/>
          </a:prstGeom>
          <a:solidFill>
            <a:srgbClr val="2A5298"/>
          </a:solidFill>
          <a:ln w="12700">
            <a:solidFill>
              <a:srgbClr val="2A5298"/>
            </a:solidFill>
            <a:prstDash val="solid"/>
          </a:ln>
        </p:spPr>
      </p:sp>
      <p:sp>
        <p:nvSpPr>
          <p:cNvPr id="9" name="Shape 7"/>
          <p:cNvSpPr/>
          <p:nvPr/>
        </p:nvSpPr>
        <p:spPr>
          <a:xfrm>
            <a:off x="1683228" y="583753"/>
            <a:ext cx="96561" cy="193121"/>
          </a:xfrm>
          <a:prstGeom prst="rect">
            <a:avLst/>
          </a:prstGeom>
          <a:solidFill>
            <a:srgbClr val="2A5298"/>
          </a:solidFill>
          <a:ln w="12700">
            <a:solidFill>
              <a:srgbClr val="2A5298"/>
            </a:solidFill>
            <a:prstDash val="solid"/>
          </a:ln>
        </p:spPr>
      </p:sp>
      <p:sp>
        <p:nvSpPr>
          <p:cNvPr id="10" name="Shape 8"/>
          <p:cNvSpPr/>
          <p:nvPr/>
        </p:nvSpPr>
        <p:spPr>
          <a:xfrm>
            <a:off x="798088" y="471099"/>
            <a:ext cx="402336" cy="241402"/>
          </a:xfrm>
          <a:prstGeom prst="rect">
            <a:avLst/>
          </a:prstGeom>
          <a:solidFill>
            <a:srgbClr val="5B8DD9"/>
          </a:solidFill>
          <a:ln w="12700">
            <a:solidFill>
              <a:srgbClr val="5B8DD9"/>
            </a:solidFill>
            <a:prstDash val="solid"/>
          </a:ln>
        </p:spPr>
      </p:sp>
      <p:sp>
        <p:nvSpPr>
          <p:cNvPr id="11" name="Shape 9"/>
          <p:cNvSpPr/>
          <p:nvPr/>
        </p:nvSpPr>
        <p:spPr>
          <a:xfrm>
            <a:off x="1216518" y="471099"/>
            <a:ext cx="354056" cy="241402"/>
          </a:xfrm>
          <a:prstGeom prst="rect">
            <a:avLst/>
          </a:prstGeom>
          <a:solidFill>
            <a:srgbClr val="4A7AC8"/>
          </a:solidFill>
          <a:ln w="12700">
            <a:solidFill>
              <a:srgbClr val="4A7AC8"/>
            </a:solidFill>
            <a:prstDash val="solid"/>
          </a:ln>
        </p:spPr>
      </p:sp>
      <p:sp>
        <p:nvSpPr>
          <p:cNvPr id="12" name="Shape 10"/>
          <p:cNvSpPr/>
          <p:nvPr/>
        </p:nvSpPr>
        <p:spPr>
          <a:xfrm>
            <a:off x="347472" y="728594"/>
            <a:ext cx="1770278" cy="44257"/>
          </a:xfrm>
          <a:prstGeom prst="rect">
            <a:avLst/>
          </a:prstGeom>
          <a:solidFill>
            <a:srgbClr val="0B6E8C"/>
          </a:solidFill>
          <a:ln w="12700">
            <a:solidFill>
              <a:srgbClr val="0B6E8C"/>
            </a:solidFill>
            <a:prstDash val="solid"/>
          </a:ln>
        </p:spPr>
      </p:sp>
      <p:sp>
        <p:nvSpPr>
          <p:cNvPr id="13" name="Shape 11"/>
          <p:cNvSpPr/>
          <p:nvPr/>
        </p:nvSpPr>
        <p:spPr>
          <a:xfrm>
            <a:off x="1908536" y="648127"/>
            <a:ext cx="177028" cy="80467"/>
          </a:xfrm>
          <a:prstGeom prst="rect">
            <a:avLst/>
          </a:prstGeom>
          <a:solidFill>
            <a:srgbClr val="00D4E8"/>
          </a:solidFill>
          <a:ln w="12700">
            <a:solidFill>
              <a:srgbClr val="00D4E8"/>
            </a:solidFill>
            <a:prstDash val="solid"/>
          </a:ln>
        </p:spPr>
      </p:sp>
      <p:sp>
        <p:nvSpPr>
          <p:cNvPr id="14" name="Shape 12"/>
          <p:cNvSpPr/>
          <p:nvPr/>
        </p:nvSpPr>
        <p:spPr>
          <a:xfrm>
            <a:off x="1908536" y="744687"/>
            <a:ext cx="177028" cy="32187"/>
          </a:xfrm>
          <a:prstGeom prst="rect">
            <a:avLst/>
          </a:prstGeom>
          <a:solidFill>
            <a:srgbClr val="00A8C0"/>
          </a:solidFill>
          <a:ln w="12700">
            <a:solidFill>
              <a:srgbClr val="00A8C0"/>
            </a:solidFill>
            <a:prstDash val="solid"/>
          </a:ln>
        </p:spPr>
      </p:sp>
      <p:sp>
        <p:nvSpPr>
          <p:cNvPr id="15" name="Shape 13"/>
          <p:cNvSpPr/>
          <p:nvPr/>
        </p:nvSpPr>
        <p:spPr>
          <a:xfrm>
            <a:off x="363565" y="648127"/>
            <a:ext cx="112654" cy="80467"/>
          </a:xfrm>
          <a:prstGeom prst="rect">
            <a:avLst/>
          </a:prstGeom>
          <a:solidFill>
            <a:srgbClr val="B5281C"/>
          </a:solidFill>
          <a:ln w="12700">
            <a:solidFill>
              <a:srgbClr val="B5281C"/>
            </a:solidFill>
            <a:prstDash val="solid"/>
          </a:ln>
        </p:spPr>
      </p:sp>
      <p:sp>
        <p:nvSpPr>
          <p:cNvPr id="16" name="Shape 14"/>
          <p:cNvSpPr/>
          <p:nvPr/>
        </p:nvSpPr>
        <p:spPr>
          <a:xfrm>
            <a:off x="1795882" y="905622"/>
            <a:ext cx="305775" cy="48280"/>
          </a:xfrm>
          <a:prstGeom prst="rect">
            <a:avLst/>
          </a:prstGeom>
          <a:solidFill>
            <a:srgbClr val="1A2E55"/>
          </a:solidFill>
          <a:ln w="12700">
            <a:solidFill>
              <a:srgbClr val="1A2E55"/>
            </a:solidFill>
            <a:prstDash val="solid"/>
          </a:ln>
        </p:spPr>
      </p:sp>
      <p:sp>
        <p:nvSpPr>
          <p:cNvPr id="17" name="Shape 15"/>
          <p:cNvSpPr/>
          <p:nvPr/>
        </p:nvSpPr>
        <p:spPr>
          <a:xfrm>
            <a:off x="363565" y="905622"/>
            <a:ext cx="241402" cy="48280"/>
          </a:xfrm>
          <a:prstGeom prst="rect">
            <a:avLst/>
          </a:prstGeom>
          <a:solidFill>
            <a:srgbClr val="1A2E55"/>
          </a:solidFill>
          <a:ln w="12700">
            <a:solidFill>
              <a:srgbClr val="1A2E55"/>
            </a:solidFill>
            <a:prstDash val="solid"/>
          </a:ln>
        </p:spPr>
      </p:sp>
      <p:sp>
        <p:nvSpPr>
          <p:cNvPr id="18" name="Shape 16"/>
          <p:cNvSpPr/>
          <p:nvPr/>
        </p:nvSpPr>
        <p:spPr>
          <a:xfrm>
            <a:off x="540593" y="937809"/>
            <a:ext cx="241402" cy="241402"/>
          </a:xfrm>
          <a:prstGeom prst="ellipse">
            <a:avLst/>
          </a:prstGeom>
          <a:solidFill>
            <a:srgbClr val="111122"/>
          </a:solidFill>
          <a:ln w="12700">
            <a:solidFill>
              <a:srgbClr val="111122"/>
            </a:solidFill>
            <a:prstDash val="solid"/>
          </a:ln>
        </p:spPr>
      </p:sp>
      <p:sp>
        <p:nvSpPr>
          <p:cNvPr id="19" name="Shape 17"/>
          <p:cNvSpPr/>
          <p:nvPr/>
        </p:nvSpPr>
        <p:spPr>
          <a:xfrm>
            <a:off x="580827" y="978042"/>
            <a:ext cx="160934" cy="160934"/>
          </a:xfrm>
          <a:prstGeom prst="ellipse">
            <a:avLst/>
          </a:prstGeom>
          <a:solidFill>
            <a:srgbClr val="2E3A5C"/>
          </a:solidFill>
          <a:ln w="12700">
            <a:solidFill>
              <a:srgbClr val="2E3A5C"/>
            </a:solidFill>
            <a:prstDash val="solid"/>
          </a:ln>
        </p:spPr>
      </p:sp>
      <p:sp>
        <p:nvSpPr>
          <p:cNvPr id="20" name="Shape 18"/>
          <p:cNvSpPr/>
          <p:nvPr/>
        </p:nvSpPr>
        <p:spPr>
          <a:xfrm>
            <a:off x="617037" y="1014252"/>
            <a:ext cx="80467" cy="80467"/>
          </a:xfrm>
          <a:prstGeom prst="ellipse">
            <a:avLst/>
          </a:prstGeom>
          <a:solidFill>
            <a:srgbClr val="4A6090"/>
          </a:solidFill>
          <a:ln w="12700">
            <a:solidFill>
              <a:srgbClr val="4A6090"/>
            </a:solidFill>
            <a:prstDash val="solid"/>
          </a:ln>
        </p:spPr>
      </p:sp>
      <p:sp>
        <p:nvSpPr>
          <p:cNvPr id="21" name="Shape 19"/>
          <p:cNvSpPr/>
          <p:nvPr/>
        </p:nvSpPr>
        <p:spPr>
          <a:xfrm>
            <a:off x="1651041" y="937809"/>
            <a:ext cx="241402" cy="241402"/>
          </a:xfrm>
          <a:prstGeom prst="ellipse">
            <a:avLst/>
          </a:prstGeom>
          <a:solidFill>
            <a:srgbClr val="111122"/>
          </a:solidFill>
          <a:ln w="12700">
            <a:solidFill>
              <a:srgbClr val="111122"/>
            </a:solidFill>
            <a:prstDash val="solid"/>
          </a:ln>
        </p:spPr>
      </p:sp>
      <p:sp>
        <p:nvSpPr>
          <p:cNvPr id="22" name="Shape 20"/>
          <p:cNvSpPr/>
          <p:nvPr/>
        </p:nvSpPr>
        <p:spPr>
          <a:xfrm>
            <a:off x="1691274" y="978042"/>
            <a:ext cx="160934" cy="160934"/>
          </a:xfrm>
          <a:prstGeom prst="ellipse">
            <a:avLst/>
          </a:prstGeom>
          <a:solidFill>
            <a:srgbClr val="2E3A5C"/>
          </a:solidFill>
          <a:ln w="12700">
            <a:solidFill>
              <a:srgbClr val="2E3A5C"/>
            </a:solidFill>
            <a:prstDash val="solid"/>
          </a:ln>
        </p:spPr>
      </p:sp>
      <p:sp>
        <p:nvSpPr>
          <p:cNvPr id="23" name="Shape 21"/>
          <p:cNvSpPr/>
          <p:nvPr/>
        </p:nvSpPr>
        <p:spPr>
          <a:xfrm>
            <a:off x="1735531" y="1014252"/>
            <a:ext cx="80467" cy="80467"/>
          </a:xfrm>
          <a:prstGeom prst="ellipse">
            <a:avLst/>
          </a:prstGeom>
          <a:solidFill>
            <a:srgbClr val="4A6090"/>
          </a:solidFill>
          <a:ln w="12700">
            <a:solidFill>
              <a:srgbClr val="4A6090"/>
            </a:solidFill>
            <a:prstDash val="solid"/>
          </a:ln>
        </p:spPr>
      </p:sp>
      <p:sp>
        <p:nvSpPr>
          <p:cNvPr id="24" name="Shape 22"/>
          <p:cNvSpPr/>
          <p:nvPr/>
        </p:nvSpPr>
        <p:spPr>
          <a:xfrm>
            <a:off x="-95098" y="680314"/>
            <a:ext cx="362102" cy="32187"/>
          </a:xfrm>
          <a:prstGeom prst="rect">
            <a:avLst/>
          </a:prstGeom>
          <a:solidFill>
            <a:srgbClr val="0B6E8C"/>
          </a:solidFill>
          <a:ln w="12700">
            <a:solidFill>
              <a:srgbClr val="0B6E8C"/>
            </a:solidFill>
            <a:prstDash val="solid"/>
          </a:ln>
        </p:spPr>
      </p:sp>
      <p:sp>
        <p:nvSpPr>
          <p:cNvPr id="25" name="Shape 23"/>
          <p:cNvSpPr/>
          <p:nvPr/>
        </p:nvSpPr>
        <p:spPr>
          <a:xfrm>
            <a:off x="-14630" y="776874"/>
            <a:ext cx="257495" cy="24140"/>
          </a:xfrm>
          <a:prstGeom prst="rect">
            <a:avLst/>
          </a:prstGeom>
          <a:solidFill>
            <a:srgbClr val="5B8DD9"/>
          </a:solidFill>
          <a:ln w="12700">
            <a:solidFill>
              <a:srgbClr val="5B8DD9"/>
            </a:solidFill>
            <a:prstDash val="solid"/>
          </a:ln>
        </p:spPr>
      </p:sp>
      <p:sp>
        <p:nvSpPr>
          <p:cNvPr id="26" name="Shape 24"/>
          <p:cNvSpPr/>
          <p:nvPr/>
        </p:nvSpPr>
        <p:spPr>
          <a:xfrm>
            <a:off x="41697" y="857341"/>
            <a:ext cx="177028" cy="16093"/>
          </a:xfrm>
          <a:prstGeom prst="rect">
            <a:avLst/>
          </a:prstGeom>
          <a:solidFill>
            <a:srgbClr val="2A5298"/>
          </a:solidFill>
          <a:ln w="12700">
            <a:solidFill>
              <a:srgbClr val="2A5298"/>
            </a:solidFill>
            <a:prstDash val="solid"/>
          </a:ln>
        </p:spPr>
      </p:sp>
      <p:sp>
        <p:nvSpPr>
          <p:cNvPr id="27" name="Text 25"/>
          <p:cNvSpPr/>
          <p:nvPr/>
        </p:nvSpPr>
        <p:spPr>
          <a:xfrm>
            <a:off x="384048" y="1481328"/>
            <a:ext cx="3200400" cy="5943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AutoVal</a:t>
            </a:r>
            <a:endParaRPr lang="en-US" sz="3800" dirty="0"/>
          </a:p>
        </p:txBody>
      </p:sp>
      <p:sp>
        <p:nvSpPr>
          <p:cNvPr id="28" name="Text 26"/>
          <p:cNvSpPr/>
          <p:nvPr/>
        </p:nvSpPr>
        <p:spPr>
          <a:xfrm>
            <a:off x="2029968" y="1481328"/>
            <a:ext cx="1097280" cy="594360"/>
          </a:xfrm>
          <a:prstGeom prst="rect">
            <a:avLst/>
          </a:prstGeom>
          <a:noFill/>
          <a:ln/>
        </p:spPr>
        <p:txBody>
          <a:bodyPr wrap="square" lIns="0" tIns="0" rIns="0" bIns="0" rtlCol="0" anchor="ctr"/>
          <a:lstStyle/>
          <a:p>
            <a:pPr indent="0" marL="0">
              <a:buNone/>
            </a:pPr>
            <a:r>
              <a:rPr lang="en-US" sz="3800" b="1" dirty="0">
                <a:solidFill>
                  <a:srgbClr val="0B6E8C"/>
                </a:solidFill>
                <a:latin typeface="Cambria" pitchFamily="34" charset="0"/>
                <a:ea typeface="Cambria" pitchFamily="34" charset="-122"/>
                <a:cs typeface="Cambria" pitchFamily="34" charset="-120"/>
              </a:rPr>
              <a:t>AI</a:t>
            </a:r>
            <a:endParaRPr lang="en-US" sz="3800" dirty="0"/>
          </a:p>
        </p:txBody>
      </p:sp>
      <p:sp>
        <p:nvSpPr>
          <p:cNvPr id="29" name="Shape 27"/>
          <p:cNvSpPr/>
          <p:nvPr/>
        </p:nvSpPr>
        <p:spPr>
          <a:xfrm>
            <a:off x="384048" y="2157984"/>
            <a:ext cx="822960" cy="50292"/>
          </a:xfrm>
          <a:prstGeom prst="rect">
            <a:avLst/>
          </a:prstGeom>
          <a:solidFill>
            <a:srgbClr val="B8860B"/>
          </a:solidFill>
          <a:ln w="12700">
            <a:solidFill>
              <a:srgbClr val="B8860B"/>
            </a:solidFill>
            <a:prstDash val="solid"/>
          </a:ln>
        </p:spPr>
      </p:sp>
      <p:sp>
        <p:nvSpPr>
          <p:cNvPr id="30" name="Text 28"/>
          <p:cNvSpPr/>
          <p:nvPr/>
        </p:nvSpPr>
        <p:spPr>
          <a:xfrm>
            <a:off x="384048" y="2267712"/>
            <a:ext cx="3840480" cy="658368"/>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AI-Powered Car Price</a:t>
            </a:r>
            <a:endParaRPr lang="en-US" sz="1400" dirty="0"/>
          </a:p>
          <a:p>
            <a:pPr indent="0" marL="0">
              <a:buNone/>
            </a:pPr>
            <a:r>
              <a:rPr lang="en-US" sz="1400" dirty="0">
                <a:solidFill>
                  <a:srgbClr val="CADCFC"/>
                </a:solidFill>
                <a:latin typeface="Calibri" pitchFamily="34" charset="0"/>
                <a:ea typeface="Calibri" pitchFamily="34" charset="-122"/>
                <a:cs typeface="Calibri" pitchFamily="34" charset="-120"/>
              </a:rPr>
              <a:t>Prediction for Pakistan</a:t>
            </a:r>
            <a:endParaRPr lang="en-US" sz="1400" dirty="0"/>
          </a:p>
        </p:txBody>
      </p:sp>
      <p:sp>
        <p:nvSpPr>
          <p:cNvPr id="31" name="Text 29"/>
          <p:cNvSpPr/>
          <p:nvPr/>
        </p:nvSpPr>
        <p:spPr>
          <a:xfrm>
            <a:off x="384048" y="3035808"/>
            <a:ext cx="3840480" cy="237744"/>
          </a:xfrm>
          <a:prstGeom prst="rect">
            <a:avLst/>
          </a:prstGeom>
          <a:noFill/>
          <a:ln/>
        </p:spPr>
        <p:txBody>
          <a:bodyPr wrap="square" lIns="0" tIns="0" rIns="0" bIns="0" rtlCol="0" anchor="ctr"/>
          <a:lstStyle/>
          <a:p>
            <a:pPr indent="0" marL="0">
              <a:buNone/>
            </a:pPr>
            <a:r>
              <a:rPr lang="en-US" sz="950" dirty="0">
                <a:solidFill>
                  <a:srgbClr val="8BAED4"/>
                </a:solidFill>
                <a:latin typeface="Calibri" pitchFamily="34" charset="0"/>
                <a:ea typeface="Calibri" pitchFamily="34" charset="-122"/>
                <a:cs typeface="Calibri" pitchFamily="34" charset="-120"/>
              </a:rPr>
              <a:t>University of Essex  —  CE101</a:t>
            </a:r>
            <a:endParaRPr lang="en-US" sz="950" dirty="0"/>
          </a:p>
        </p:txBody>
      </p:sp>
      <p:sp>
        <p:nvSpPr>
          <p:cNvPr id="32" name="Text 30"/>
          <p:cNvSpPr/>
          <p:nvPr/>
        </p:nvSpPr>
        <p:spPr>
          <a:xfrm>
            <a:off x="384048" y="3273552"/>
            <a:ext cx="3840480" cy="219456"/>
          </a:xfrm>
          <a:prstGeom prst="rect">
            <a:avLst/>
          </a:prstGeom>
          <a:noFill/>
          <a:ln/>
        </p:spPr>
        <p:txBody>
          <a:bodyPr wrap="square" lIns="0" tIns="0" rIns="0" bIns="0" rtlCol="0" anchor="ctr"/>
          <a:lstStyle/>
          <a:p>
            <a:pPr indent="0" marL="0">
              <a:buNone/>
            </a:pPr>
            <a:r>
              <a:rPr lang="en-US" sz="900" dirty="0">
                <a:solidFill>
                  <a:srgbClr val="6B8FC0"/>
                </a:solidFill>
                <a:latin typeface="Calibri" pitchFamily="34" charset="0"/>
                <a:ea typeface="Calibri" pitchFamily="34" charset="-122"/>
                <a:cs typeface="Calibri" pitchFamily="34" charset="-120"/>
              </a:rPr>
              <a:t>Supervisor: Sir Sajid Ali  —  Team A02</a:t>
            </a:r>
            <a:endParaRPr lang="en-US" sz="900" dirty="0"/>
          </a:p>
        </p:txBody>
      </p:sp>
      <p:sp>
        <p:nvSpPr>
          <p:cNvPr id="33" name="Text 31"/>
          <p:cNvSpPr/>
          <p:nvPr/>
        </p:nvSpPr>
        <p:spPr>
          <a:xfrm>
            <a:off x="384048" y="3493008"/>
            <a:ext cx="3840480" cy="219456"/>
          </a:xfrm>
          <a:prstGeom prst="rect">
            <a:avLst/>
          </a:prstGeom>
          <a:noFill/>
          <a:ln/>
        </p:spPr>
        <p:txBody>
          <a:bodyPr wrap="square" lIns="0" tIns="0" rIns="0" bIns="0" rtlCol="0" anchor="ctr"/>
          <a:lstStyle/>
          <a:p>
            <a:pPr indent="0" marL="0">
              <a:buNone/>
            </a:pPr>
            <a:r>
              <a:rPr lang="en-US" sz="900" dirty="0">
                <a:solidFill>
                  <a:srgbClr val="5A80A8"/>
                </a:solidFill>
                <a:latin typeface="Calibri" pitchFamily="34" charset="0"/>
                <a:ea typeface="Calibri" pitchFamily="34" charset="-122"/>
                <a:cs typeface="Calibri" pitchFamily="34" charset="-120"/>
              </a:rPr>
              <a:t>Sep 2025 – Apr 2026</a:t>
            </a:r>
            <a:endParaRPr lang="en-US" sz="900" dirty="0"/>
          </a:p>
        </p:txBody>
      </p:sp>
      <p:sp>
        <p:nvSpPr>
          <p:cNvPr id="34" name="Shape 32"/>
          <p:cNvSpPr/>
          <p:nvPr/>
        </p:nvSpPr>
        <p:spPr>
          <a:xfrm>
            <a:off x="384048" y="4480560"/>
            <a:ext cx="3822192" cy="20117"/>
          </a:xfrm>
          <a:prstGeom prst="rect">
            <a:avLst/>
          </a:prstGeom>
          <a:solidFill>
            <a:srgbClr val="2E5A8E"/>
          </a:solidFill>
          <a:ln w="12700">
            <a:solidFill>
              <a:srgbClr val="2E5A8E"/>
            </a:solidFill>
            <a:prstDash val="solid"/>
          </a:ln>
        </p:spPr>
      </p:sp>
      <p:sp>
        <p:nvSpPr>
          <p:cNvPr id="35" name="Text 33"/>
          <p:cNvSpPr/>
          <p:nvPr/>
        </p:nvSpPr>
        <p:spPr>
          <a:xfrm>
            <a:off x="384048" y="4553712"/>
            <a:ext cx="3840480" cy="402336"/>
          </a:xfrm>
          <a:prstGeom prst="rect">
            <a:avLst/>
          </a:prstGeom>
          <a:noFill/>
          <a:ln/>
        </p:spPr>
        <p:txBody>
          <a:bodyPr wrap="square" lIns="0" tIns="0" rIns="0" bIns="0" rtlCol="0" anchor="ctr"/>
          <a:lstStyle/>
          <a:p>
            <a:pPr indent="0" marL="0">
              <a:buNone/>
            </a:pPr>
            <a:r>
              <a:rPr lang="en-US" sz="900" dirty="0">
                <a:solidFill>
                  <a:srgbClr val="4A6E9A"/>
                </a:solidFill>
                <a:latin typeface="Calibri" pitchFamily="34" charset="0"/>
                <a:ea typeface="Calibri" pitchFamily="34" charset="-122"/>
                <a:cs typeface="Calibri" pitchFamily="34" charset="-120"/>
              </a:rPr>
              <a:t>Areesha Aqeel  —  Hasan Ali Khan</a:t>
            </a:r>
            <a:endParaRPr lang="en-US" sz="900" dirty="0"/>
          </a:p>
          <a:p>
            <a:pPr indent="0" marL="0">
              <a:buNone/>
            </a:pPr>
            <a:r>
              <a:rPr lang="en-US" sz="900" dirty="0">
                <a:solidFill>
                  <a:srgbClr val="4A6E9A"/>
                </a:solidFill>
                <a:latin typeface="Calibri" pitchFamily="34" charset="0"/>
                <a:ea typeface="Calibri" pitchFamily="34" charset="-122"/>
                <a:cs typeface="Calibri" pitchFamily="34" charset="-120"/>
              </a:rPr>
              <a:t>Arham Salman  —  Jabber Arif Khan</a:t>
            </a:r>
            <a:endParaRPr lang="en-US" sz="900" dirty="0"/>
          </a:p>
        </p:txBody>
      </p:sp>
      <p:sp>
        <p:nvSpPr>
          <p:cNvPr id="36" name="Text 34"/>
          <p:cNvSpPr/>
          <p:nvPr/>
        </p:nvSpPr>
        <p:spPr>
          <a:xfrm>
            <a:off x="4663440" y="475488"/>
            <a:ext cx="4206240" cy="566928"/>
          </a:xfrm>
          <a:prstGeom prst="rect">
            <a:avLst/>
          </a:prstGeom>
          <a:noFill/>
          <a:ln/>
        </p:spPr>
        <p:txBody>
          <a:bodyPr wrap="square" lIns="0" tIns="0" rIns="0" bIns="0" rtlCol="0" anchor="ctr"/>
          <a:lstStyle/>
          <a:p>
            <a:pPr indent="0" marL="0">
              <a:buNone/>
            </a:pPr>
            <a:r>
              <a:rPr lang="en-US" sz="2800" b="1" dirty="0">
                <a:solidFill>
                  <a:srgbClr val="1B3A6B"/>
                </a:solidFill>
                <a:latin typeface="Cambria" pitchFamily="34" charset="0"/>
                <a:ea typeface="Cambria" pitchFamily="34" charset="-122"/>
                <a:cs typeface="Cambria" pitchFamily="34" charset="-120"/>
              </a:rPr>
              <a:t>Project Complete.</a:t>
            </a:r>
            <a:endParaRPr lang="en-US" sz="2800" dirty="0"/>
          </a:p>
        </p:txBody>
      </p:sp>
      <p:sp>
        <p:nvSpPr>
          <p:cNvPr id="37" name="Shape 35"/>
          <p:cNvSpPr/>
          <p:nvPr/>
        </p:nvSpPr>
        <p:spPr>
          <a:xfrm>
            <a:off x="4663440" y="1133856"/>
            <a:ext cx="4206240" cy="20117"/>
          </a:xfrm>
          <a:prstGeom prst="rect">
            <a:avLst/>
          </a:prstGeom>
          <a:solidFill>
            <a:srgbClr val="E8EDF4"/>
          </a:solidFill>
          <a:ln w="12700">
            <a:solidFill>
              <a:srgbClr val="E8EDF4"/>
            </a:solidFill>
            <a:prstDash val="solid"/>
          </a:ln>
        </p:spPr>
      </p:sp>
      <p:sp>
        <p:nvSpPr>
          <p:cNvPr id="38" name="Text 36"/>
          <p:cNvSpPr/>
          <p:nvPr/>
        </p:nvSpPr>
        <p:spPr>
          <a:xfrm>
            <a:off x="4663440" y="1243584"/>
            <a:ext cx="4206240" cy="402336"/>
          </a:xfrm>
          <a:prstGeom prst="rect">
            <a:avLst/>
          </a:prstGeom>
          <a:noFill/>
          <a:ln/>
        </p:spPr>
        <p:txBody>
          <a:bodyPr wrap="square" lIns="0" tIns="0" rIns="0" bIns="0" rtlCol="0" anchor="ctr"/>
          <a:lstStyle/>
          <a:p>
            <a:pPr indent="0" marL="0">
              <a:buNone/>
            </a:pPr>
            <a:r>
              <a:rPr lang="en-US" sz="1050" b="1" dirty="0">
                <a:solidFill>
                  <a:srgbClr val="1A7A4A"/>
                </a:solidFill>
                <a:latin typeface="Calibri" pitchFamily="34" charset="0"/>
                <a:ea typeface="Calibri" pitchFamily="34" charset="-122"/>
                <a:cs typeface="Calibri" pitchFamily="34" charset="-120"/>
              </a:rPr>
              <a:t>1.  R squared of 0.9504 — 95 percent accuracy on 49,448 real Pakistani car listings</a:t>
            </a:r>
            <a:endParaRPr lang="en-US" sz="1050" dirty="0"/>
          </a:p>
        </p:txBody>
      </p:sp>
      <p:sp>
        <p:nvSpPr>
          <p:cNvPr id="39" name="Text 37"/>
          <p:cNvSpPr/>
          <p:nvPr/>
        </p:nvSpPr>
        <p:spPr>
          <a:xfrm>
            <a:off x="4663440" y="1700784"/>
            <a:ext cx="4206240" cy="402336"/>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2.  MAE of PKR 171,446 — typically within 170,000 rupees of actual market price</a:t>
            </a:r>
            <a:endParaRPr lang="en-US" sz="950" dirty="0"/>
          </a:p>
        </p:txBody>
      </p:sp>
      <p:sp>
        <p:nvSpPr>
          <p:cNvPr id="40" name="Text 38"/>
          <p:cNvSpPr/>
          <p:nvPr/>
        </p:nvSpPr>
        <p:spPr>
          <a:xfrm>
            <a:off x="4663440" y="2157984"/>
            <a:ext cx="4206240" cy="402336"/>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3.  Full system delivered — Flask API backend, responsive HTML and JavaScript frontend</a:t>
            </a:r>
            <a:endParaRPr lang="en-US" sz="950" dirty="0"/>
          </a:p>
        </p:txBody>
      </p:sp>
      <p:sp>
        <p:nvSpPr>
          <p:cNvPr id="41" name="Text 39"/>
          <p:cNvSpPr/>
          <p:nvPr/>
        </p:nvSpPr>
        <p:spPr>
          <a:xfrm>
            <a:off x="4663440" y="2615184"/>
            <a:ext cx="4206240" cy="402336"/>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4.  54 Jira tasks completed — 173 story points across 8 sprints Sep 2025 to Apr 2026</a:t>
            </a:r>
            <a:endParaRPr lang="en-US" sz="950" dirty="0"/>
          </a:p>
        </p:txBody>
      </p:sp>
      <p:sp>
        <p:nvSpPr>
          <p:cNvPr id="42" name="Text 40"/>
          <p:cNvSpPr/>
          <p:nvPr/>
        </p:nvSpPr>
        <p:spPr>
          <a:xfrm>
            <a:off x="4663440" y="3072384"/>
            <a:ext cx="4206240" cy="402336"/>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5.  All five Tuckman stages experienced — Performing stage reached by Sprint 4</a:t>
            </a:r>
            <a:endParaRPr lang="en-US" sz="950" dirty="0"/>
          </a:p>
        </p:txBody>
      </p:sp>
      <p:sp>
        <p:nvSpPr>
          <p:cNvPr id="43" name="Text 41"/>
          <p:cNvSpPr/>
          <p:nvPr/>
        </p:nvSpPr>
        <p:spPr>
          <a:xfrm>
            <a:off x="4663440" y="3529584"/>
            <a:ext cx="4206240" cy="402336"/>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6.  Belbin roles defined — Coordinator, Specialist, Implementer, Team Worker</a:t>
            </a:r>
            <a:endParaRPr lang="en-US" sz="950" dirty="0"/>
          </a:p>
        </p:txBody>
      </p:sp>
      <p:sp>
        <p:nvSpPr>
          <p:cNvPr id="44" name="Text 42"/>
          <p:cNvSpPr/>
          <p:nvPr/>
        </p:nvSpPr>
        <p:spPr>
          <a:xfrm>
            <a:off x="4663440" y="3986784"/>
            <a:ext cx="4206240" cy="402336"/>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7.  GDPR, BCS Code of Conduct and EU AI Ethics guidelines applied throughout</a:t>
            </a:r>
            <a:endParaRPr lang="en-US" sz="950" dirty="0"/>
          </a:p>
        </p:txBody>
      </p:sp>
      <p:sp>
        <p:nvSpPr>
          <p:cNvPr id="45" name="Text 43"/>
          <p:cNvSpPr/>
          <p:nvPr/>
        </p:nvSpPr>
        <p:spPr>
          <a:xfrm>
            <a:off x="4663440" y="4443984"/>
            <a:ext cx="4206240" cy="402336"/>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8.  Four lessons learned — roles, Jira consistency, data quality, integration testing</a:t>
            </a:r>
            <a:endParaRPr lang="en-US" sz="950" dirty="0"/>
          </a:p>
        </p:txBody>
      </p:sp>
      <p:sp>
        <p:nvSpPr>
          <p:cNvPr id="46" name="Shape 44"/>
          <p:cNvSpPr/>
          <p:nvPr/>
        </p:nvSpPr>
        <p:spPr>
          <a:xfrm>
            <a:off x="4663440" y="4590288"/>
            <a:ext cx="4206240" cy="20117"/>
          </a:xfrm>
          <a:prstGeom prst="rect">
            <a:avLst/>
          </a:prstGeom>
          <a:solidFill>
            <a:srgbClr val="E8EDF4"/>
          </a:solidFill>
          <a:ln w="12700">
            <a:solidFill>
              <a:srgbClr val="E8EDF4"/>
            </a:solidFill>
            <a:prstDash val="solid"/>
          </a:ln>
        </p:spPr>
      </p:sp>
      <p:sp>
        <p:nvSpPr>
          <p:cNvPr id="47" name="Text 45"/>
          <p:cNvSpPr/>
          <p:nvPr/>
        </p:nvSpPr>
        <p:spPr>
          <a:xfrm>
            <a:off x="4663440" y="4626864"/>
            <a:ext cx="4206240" cy="329184"/>
          </a:xfrm>
          <a:prstGeom prst="rect">
            <a:avLst/>
          </a:prstGeom>
          <a:noFill/>
          <a:ln/>
        </p:spPr>
        <p:txBody>
          <a:bodyPr wrap="square" lIns="0" tIns="0" rIns="0" bIns="0" rtlCol="0" anchor="ctr"/>
          <a:lstStyle/>
          <a:p>
            <a:pPr indent="0" marL="0">
              <a:buNone/>
            </a:pPr>
            <a:r>
              <a:rPr lang="en-US" sz="700" dirty="0">
                <a:solidFill>
                  <a:srgbClr val="6B7C8F"/>
                </a:solidFill>
                <a:latin typeface="Calibri" pitchFamily="34" charset="0"/>
                <a:ea typeface="Calibri" pitchFamily="34" charset="-122"/>
                <a:cs typeface="Calibri" pitchFamily="34" charset="-120"/>
              </a:rPr>
              <a:t>Key References:  Beck et al. (2001) Agile Manifesto  —  Tuckman (1965)  —  Friedman (2001) Gradient Boosting  —  Norman (2013) UCD  —  Belbin (1981)  —  Ulrich &amp; Eppinger (2015)  —  EU AI Ethics (2019)  —  BCS (2022)</a:t>
            </a:r>
            <a:endParaRPr lang="en-US" sz="700" dirty="0"/>
          </a:p>
        </p:txBody>
      </p:sp>
      <p:sp>
        <p:nvSpPr>
          <p:cNvPr id="48" name="Text 46"/>
          <p:cNvSpPr/>
          <p:nvPr/>
        </p:nvSpPr>
        <p:spPr>
          <a:xfrm>
            <a:off x="4663440" y="4828032"/>
            <a:ext cx="4206240" cy="237744"/>
          </a:xfrm>
          <a:prstGeom prst="rect">
            <a:avLst/>
          </a:prstGeom>
          <a:noFill/>
          <a:ln/>
        </p:spPr>
        <p:txBody>
          <a:bodyPr wrap="square" lIns="0" tIns="0" rIns="0" bIns="0" rtlCol="0" anchor="ctr"/>
          <a:lstStyle/>
          <a:p>
            <a:pPr indent="0" marL="0">
              <a:buNone/>
            </a:pPr>
            <a:r>
              <a:rPr lang="en-US" sz="1100" dirty="0">
                <a:solidFill>
                  <a:srgbClr val="6B7C8F"/>
                </a:solidFill>
                <a:latin typeface="Calibri" pitchFamily="34" charset="0"/>
                <a:ea typeface="Calibri" pitchFamily="34" charset="-122"/>
                <a:cs typeface="Calibri" pitchFamily="34" charset="-120"/>
              </a:rPr>
              <a:t>Thank you.   Questions welcome.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2026-05-10T15:33:29Z</dcterms:created>
  <dcterms:modified xsi:type="dcterms:W3CDTF">2026-05-10T15:33:29Z</dcterms:modified>
</cp:coreProperties>
</file>